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12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 w="889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Review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76656" y="22402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Data-led performance story from Excel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62432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49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performance, KPI drivers, individual impact and next-review commitments.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43800" y="987552"/>
            <a:ext cx="3703320" cy="3493008"/>
          </a:xfrm>
          <a:prstGeom prst="roundRect">
            <a:avLst>
              <a:gd name="adj" fmla="val 2618"/>
            </a:avLst>
          </a:prstGeom>
          <a:solidFill>
            <a:srgbClr val="12314D"/>
          </a:solidFill>
          <a:ln w="9525">
            <a:solidFill>
              <a:srgbClr val="315C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0" y="1353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Lens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09560" y="17556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55280" y="234086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main score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909560" y="2706624"/>
            <a:ext cx="91440" cy="91440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92440" y="2651760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E6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+0.5%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909560" y="3099816"/>
            <a:ext cx="91440" cy="9144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92440" y="3044952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E6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employees below 70%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909560" y="3493008"/>
            <a:ext cx="91440" cy="91440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92440" y="3438144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E6F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driver: Response Time 57.0% loss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676656" y="627278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93A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 Overview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month performance with baseline, MoM and action signals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02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3337560" cy="1645920"/>
          </a:xfrm>
          <a:prstGeom prst="roundRect">
            <a:avLst>
              <a:gd name="adj" fmla="val 4444"/>
            </a:avLst>
          </a:prstGeom>
          <a:solidFill>
            <a:srgbClr val="FFF5D9"/>
          </a:solidFill>
          <a:ln w="12700">
            <a:solidFill>
              <a:srgbClr val="E2A100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078992"/>
            <a:ext cx="3337560" cy="6400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1307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Main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17190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80.3%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20848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performance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2194560" y="16916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80.4%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2194560" y="197510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MoM: +0.5%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40080" y="2267712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" y="2336292"/>
            <a:ext cx="1307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68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94560" y="233172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023360" y="1078992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CE8EA"/>
          </a:solidFill>
          <a:ln w="11430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0" y="1078992"/>
            <a:ext cx="73152" cy="164592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87952" y="1234440"/>
            <a:ext cx="16093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BELOW 70%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4187952" y="149047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4187952" y="192024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employee(s) require attention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172200" y="1078992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E8F6EF"/>
          </a:solidFill>
          <a:ln w="11430">
            <a:solidFill>
              <a:srgbClr val="22A66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1078992"/>
            <a:ext cx="73152" cy="1645920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6792" y="1234440"/>
            <a:ext cx="16093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SCORE</a:t>
            </a:r>
            <a:endParaRPr lang="en-US" sz="690" dirty="0"/>
          </a:p>
        </p:txBody>
      </p:sp>
      <p:sp>
        <p:nvSpPr>
          <p:cNvPr id="28" name="Text 26"/>
          <p:cNvSpPr/>
          <p:nvPr/>
        </p:nvSpPr>
        <p:spPr>
          <a:xfrm>
            <a:off x="6336792" y="149047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6336792" y="192024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8321040" y="1078992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CE8EA"/>
          </a:solidFill>
          <a:ln w="11430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21040" y="1078992"/>
            <a:ext cx="73152" cy="164592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85632" y="1234440"/>
            <a:ext cx="16093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DECLINE</a:t>
            </a: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8485632" y="149047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-17.3%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8485632" y="192024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10469880" y="1078992"/>
            <a:ext cx="1280160" cy="1645920"/>
          </a:xfrm>
          <a:prstGeom prst="roundRect">
            <a:avLst>
              <a:gd name="adj" fmla="val 5714"/>
            </a:avLst>
          </a:prstGeom>
          <a:solidFill>
            <a:srgbClr val="FFF5D9"/>
          </a:solidFill>
          <a:ln w="11430">
            <a:solidFill>
              <a:srgbClr val="E2A100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469880" y="1078992"/>
            <a:ext cx="73152" cy="1645920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634472" y="1234440"/>
            <a:ext cx="9692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690" dirty="0"/>
          </a:p>
        </p:txBody>
      </p:sp>
      <p:sp>
        <p:nvSpPr>
          <p:cNvPr id="38" name="Text 36"/>
          <p:cNvSpPr/>
          <p:nvPr/>
        </p:nvSpPr>
        <p:spPr>
          <a:xfrm>
            <a:off x="10634472" y="149047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19.7%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0634472" y="192024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target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457200" y="2971800"/>
            <a:ext cx="11292840" cy="429768"/>
          </a:xfrm>
          <a:prstGeom prst="roundRect">
            <a:avLst>
              <a:gd name="adj" fmla="val 12766"/>
            </a:avLst>
          </a:prstGeom>
          <a:solidFill>
            <a:srgbClr val="FFF7E7"/>
          </a:solidFill>
          <a:ln w="9525">
            <a:solidFill>
              <a:srgbClr val="F0C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8368" y="3136392"/>
            <a:ext cx="10881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takeaway: Overall performance is 80.3% with +0.5% MoM; 5 employees and Response Time are the primary management focus.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502920" y="37033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Department-Level Action View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02920" y="4014216"/>
            <a:ext cx="11201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2920" y="4160520"/>
            <a:ext cx="2464308" cy="27432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9496" y="4215384"/>
            <a:ext cx="239115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2967228" y="4160520"/>
            <a:ext cx="1344168" cy="27432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003804" y="4215384"/>
            <a:ext cx="127101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4311396" y="4160520"/>
            <a:ext cx="1344168" cy="27432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47972" y="4215384"/>
            <a:ext cx="127101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5655564" y="4160520"/>
            <a:ext cx="1120140" cy="27432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92140" y="4215384"/>
            <a:ext cx="104698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6775704" y="4160520"/>
            <a:ext cx="1568196" cy="27432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12280" y="4215384"/>
            <a:ext cx="149504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8343900" y="4160520"/>
            <a:ext cx="3360420" cy="274320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380476" y="4215384"/>
            <a:ext cx="328726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502920" y="4434840"/>
            <a:ext cx="2464308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39496" y="4489704"/>
            <a:ext cx="23911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90" dirty="0"/>
          </a:p>
        </p:txBody>
      </p:sp>
      <p:sp>
        <p:nvSpPr>
          <p:cNvPr id="58" name="Shape 56"/>
          <p:cNvSpPr/>
          <p:nvPr/>
        </p:nvSpPr>
        <p:spPr>
          <a:xfrm>
            <a:off x="2967228" y="4434840"/>
            <a:ext cx="1344168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003804" y="448970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50.8%</a:t>
            </a:r>
            <a:endParaRPr lang="en-US" sz="690" dirty="0"/>
          </a:p>
        </p:txBody>
      </p:sp>
      <p:sp>
        <p:nvSpPr>
          <p:cNvPr id="60" name="Shape 58"/>
          <p:cNvSpPr/>
          <p:nvPr/>
        </p:nvSpPr>
        <p:spPr>
          <a:xfrm>
            <a:off x="4311396" y="4434840"/>
            <a:ext cx="1344168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47972" y="448970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61.1%</a:t>
            </a:r>
            <a:endParaRPr lang="en-US" sz="690" dirty="0"/>
          </a:p>
        </p:txBody>
      </p:sp>
      <p:sp>
        <p:nvSpPr>
          <p:cNvPr id="62" name="Shape 60"/>
          <p:cNvSpPr/>
          <p:nvPr/>
        </p:nvSpPr>
        <p:spPr>
          <a:xfrm>
            <a:off x="5655564" y="4434840"/>
            <a:ext cx="1120140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692140" y="4489704"/>
            <a:ext cx="104698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-10.3%</a:t>
            </a:r>
            <a:endParaRPr lang="en-US" sz="690" dirty="0"/>
          </a:p>
        </p:txBody>
      </p:sp>
      <p:sp>
        <p:nvSpPr>
          <p:cNvPr id="64" name="Shape 62"/>
          <p:cNvSpPr/>
          <p:nvPr/>
        </p:nvSpPr>
        <p:spPr>
          <a:xfrm>
            <a:off x="6775704" y="4434840"/>
            <a:ext cx="1568196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812280" y="4489704"/>
            <a:ext cx="14950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690" dirty="0"/>
          </a:p>
        </p:txBody>
      </p:sp>
      <p:sp>
        <p:nvSpPr>
          <p:cNvPr id="66" name="Shape 64"/>
          <p:cNvSpPr/>
          <p:nvPr/>
        </p:nvSpPr>
        <p:spPr>
          <a:xfrm>
            <a:off x="8343900" y="4434840"/>
            <a:ext cx="3360420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380476" y="4489704"/>
            <a:ext cx="32872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corrective action</a:t>
            </a:r>
            <a:endParaRPr lang="en-US" sz="690" dirty="0"/>
          </a:p>
        </p:txBody>
      </p:sp>
      <p:sp>
        <p:nvSpPr>
          <p:cNvPr id="68" name="Shape 66"/>
          <p:cNvSpPr/>
          <p:nvPr/>
        </p:nvSpPr>
        <p:spPr>
          <a:xfrm>
            <a:off x="502920" y="4754880"/>
            <a:ext cx="2464308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39496" y="4809744"/>
            <a:ext cx="23911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690" dirty="0"/>
          </a:p>
        </p:txBody>
      </p:sp>
      <p:sp>
        <p:nvSpPr>
          <p:cNvPr id="70" name="Shape 68"/>
          <p:cNvSpPr/>
          <p:nvPr/>
        </p:nvSpPr>
        <p:spPr>
          <a:xfrm>
            <a:off x="2967228" y="4754880"/>
            <a:ext cx="1344168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003804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690" dirty="0"/>
          </a:p>
        </p:txBody>
      </p:sp>
      <p:sp>
        <p:nvSpPr>
          <p:cNvPr id="72" name="Shape 70"/>
          <p:cNvSpPr/>
          <p:nvPr/>
        </p:nvSpPr>
        <p:spPr>
          <a:xfrm>
            <a:off x="4311396" y="4754880"/>
            <a:ext cx="1344168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347972" y="480974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61.1%</a:t>
            </a:r>
            <a:endParaRPr lang="en-US" sz="690" dirty="0"/>
          </a:p>
        </p:txBody>
      </p:sp>
      <p:sp>
        <p:nvSpPr>
          <p:cNvPr id="74" name="Shape 72"/>
          <p:cNvSpPr/>
          <p:nvPr/>
        </p:nvSpPr>
        <p:spPr>
          <a:xfrm>
            <a:off x="5655564" y="4754880"/>
            <a:ext cx="1120140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692140" y="4809744"/>
            <a:ext cx="104698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690" dirty="0"/>
          </a:p>
        </p:txBody>
      </p:sp>
      <p:sp>
        <p:nvSpPr>
          <p:cNvPr id="76" name="Shape 74"/>
          <p:cNvSpPr/>
          <p:nvPr/>
        </p:nvSpPr>
        <p:spPr>
          <a:xfrm>
            <a:off x="6775704" y="4754880"/>
            <a:ext cx="1568196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812280" y="4809744"/>
            <a:ext cx="14950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690" dirty="0"/>
          </a:p>
        </p:txBody>
      </p:sp>
      <p:sp>
        <p:nvSpPr>
          <p:cNvPr id="78" name="Shape 76"/>
          <p:cNvSpPr/>
          <p:nvPr/>
        </p:nvSpPr>
        <p:spPr>
          <a:xfrm>
            <a:off x="8343900" y="4754880"/>
            <a:ext cx="3360420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380476" y="4809744"/>
            <a:ext cx="32872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corrective action</a:t>
            </a:r>
            <a:endParaRPr lang="en-US" sz="690" dirty="0"/>
          </a:p>
        </p:txBody>
      </p:sp>
      <p:sp>
        <p:nvSpPr>
          <p:cNvPr id="80" name="Shape 78"/>
          <p:cNvSpPr/>
          <p:nvPr/>
        </p:nvSpPr>
        <p:spPr>
          <a:xfrm>
            <a:off x="502920" y="5074920"/>
            <a:ext cx="2464308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39496" y="5129784"/>
            <a:ext cx="23911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90" dirty="0"/>
          </a:p>
        </p:txBody>
      </p:sp>
      <p:sp>
        <p:nvSpPr>
          <p:cNvPr id="82" name="Shape 80"/>
          <p:cNvSpPr/>
          <p:nvPr/>
        </p:nvSpPr>
        <p:spPr>
          <a:xfrm>
            <a:off x="2967228" y="5074920"/>
            <a:ext cx="1344168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003804" y="512978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690" dirty="0"/>
          </a:p>
        </p:txBody>
      </p:sp>
      <p:sp>
        <p:nvSpPr>
          <p:cNvPr id="84" name="Shape 82"/>
          <p:cNvSpPr/>
          <p:nvPr/>
        </p:nvSpPr>
        <p:spPr>
          <a:xfrm>
            <a:off x="4311396" y="5074920"/>
            <a:ext cx="1344168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347972" y="512978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78.8%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5655564" y="5074920"/>
            <a:ext cx="1120140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692140" y="5129784"/>
            <a:ext cx="104698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690" dirty="0"/>
          </a:p>
        </p:txBody>
      </p:sp>
      <p:sp>
        <p:nvSpPr>
          <p:cNvPr id="88" name="Shape 86"/>
          <p:cNvSpPr/>
          <p:nvPr/>
        </p:nvSpPr>
        <p:spPr>
          <a:xfrm>
            <a:off x="6775704" y="5074920"/>
            <a:ext cx="1568196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812280" y="5129784"/>
            <a:ext cx="14950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690" dirty="0"/>
          </a:p>
        </p:txBody>
      </p:sp>
      <p:sp>
        <p:nvSpPr>
          <p:cNvPr id="90" name="Shape 88"/>
          <p:cNvSpPr/>
          <p:nvPr/>
        </p:nvSpPr>
        <p:spPr>
          <a:xfrm>
            <a:off x="8343900" y="5074920"/>
            <a:ext cx="3360420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8380476" y="5129784"/>
            <a:ext cx="32872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corrective action</a:t>
            </a:r>
            <a:endParaRPr lang="en-US" sz="690" dirty="0"/>
          </a:p>
        </p:txBody>
      </p:sp>
      <p:sp>
        <p:nvSpPr>
          <p:cNvPr id="92" name="Shape 90"/>
          <p:cNvSpPr/>
          <p:nvPr/>
        </p:nvSpPr>
        <p:spPr>
          <a:xfrm>
            <a:off x="502920" y="5394960"/>
            <a:ext cx="2464308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39496" y="5449824"/>
            <a:ext cx="23911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690" dirty="0"/>
          </a:p>
        </p:txBody>
      </p:sp>
      <p:sp>
        <p:nvSpPr>
          <p:cNvPr id="94" name="Shape 92"/>
          <p:cNvSpPr/>
          <p:nvPr/>
        </p:nvSpPr>
        <p:spPr>
          <a:xfrm>
            <a:off x="2967228" y="5394960"/>
            <a:ext cx="1344168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003804" y="544982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4311396" y="5394960"/>
            <a:ext cx="1344168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347972" y="544982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77.5%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5655564" y="5394960"/>
            <a:ext cx="1120140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692140" y="5449824"/>
            <a:ext cx="104698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+6.8%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6775704" y="5394960"/>
            <a:ext cx="1568196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812280" y="5449824"/>
            <a:ext cx="14950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8343900" y="5394960"/>
            <a:ext cx="3360420" cy="320040"/>
          </a:xfrm>
          <a:prstGeom prst="rect">
            <a:avLst/>
          </a:prstGeom>
          <a:solidFill>
            <a:srgbClr val="F7FAF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8380476" y="5449824"/>
            <a:ext cx="32872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key gap</a:t>
            </a:r>
            <a:endParaRPr lang="en-US" sz="690" dirty="0"/>
          </a:p>
        </p:txBody>
      </p:sp>
      <p:sp>
        <p:nvSpPr>
          <p:cNvPr id="104" name="Shape 102"/>
          <p:cNvSpPr/>
          <p:nvPr/>
        </p:nvSpPr>
        <p:spPr>
          <a:xfrm>
            <a:off x="502920" y="5715000"/>
            <a:ext cx="2464308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539496" y="5769864"/>
            <a:ext cx="23911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 &amp; SEO Manager</a:t>
            </a:r>
            <a:endParaRPr lang="en-US" sz="690" dirty="0"/>
          </a:p>
        </p:txBody>
      </p:sp>
      <p:sp>
        <p:nvSpPr>
          <p:cNvPr id="106" name="Shape 104"/>
          <p:cNvSpPr/>
          <p:nvPr/>
        </p:nvSpPr>
        <p:spPr>
          <a:xfrm>
            <a:off x="2967228" y="5715000"/>
            <a:ext cx="1344168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3003804" y="576986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4311396" y="5715000"/>
            <a:ext cx="1344168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347972" y="5769864"/>
            <a:ext cx="127101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90.3%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5655564" y="5715000"/>
            <a:ext cx="1120140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5692140" y="5769864"/>
            <a:ext cx="104698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+0.5%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6775704" y="5715000"/>
            <a:ext cx="1568196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6812280" y="5769864"/>
            <a:ext cx="14950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8343900" y="5715000"/>
            <a:ext cx="3360420" cy="320040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8380476" y="5769864"/>
            <a:ext cx="32872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performance</a:t>
            </a:r>
            <a:endParaRPr lang="en-US" sz="6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by Role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performance, baseline and MoM by function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03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502920" y="1078992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Performance — Main Score &amp; MoM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1389888"/>
            <a:ext cx="672084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572768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3063240" y="1600200"/>
            <a:ext cx="2366144" cy="100584"/>
          </a:xfrm>
          <a:prstGeom prst="roundRect">
            <a:avLst>
              <a:gd name="adj" fmla="val 36364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29384" y="1600200"/>
            <a:ext cx="57016" cy="100584"/>
          </a:xfrm>
          <a:prstGeom prst="roundRect">
            <a:avLst>
              <a:gd name="adj" fmla="val 6415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23560" y="157276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+3.1%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4360" y="195681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3063240" y="1984248"/>
            <a:ext cx="2361817" cy="100584"/>
          </a:xfrm>
          <a:prstGeom prst="roundRect">
            <a:avLst>
              <a:gd name="adj" fmla="val 36364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25057" y="1984248"/>
            <a:ext cx="61343" cy="100584"/>
          </a:xfrm>
          <a:prstGeom prst="roundRect">
            <a:avLst>
              <a:gd name="adj" fmla="val 59625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23560" y="195681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217920" y="195681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4360" y="234086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3063240" y="2368296"/>
            <a:ext cx="2356523" cy="100584"/>
          </a:xfrm>
          <a:prstGeom prst="roundRect">
            <a:avLst>
              <a:gd name="adj" fmla="val 36364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19763" y="2368296"/>
            <a:ext cx="66637" cy="100584"/>
          </a:xfrm>
          <a:prstGeom prst="roundRect">
            <a:avLst>
              <a:gd name="adj" fmla="val 54888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23560" y="234086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6217920" y="234086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+2.7%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94360" y="272491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3063240" y="2752344"/>
            <a:ext cx="2332292" cy="100584"/>
          </a:xfrm>
          <a:prstGeom prst="roundRect">
            <a:avLst>
              <a:gd name="adj" fmla="val 36364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95532" y="2752344"/>
            <a:ext cx="90868" cy="100584"/>
          </a:xfrm>
          <a:prstGeom prst="roundRect">
            <a:avLst>
              <a:gd name="adj" fmla="val 40252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23560" y="272491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96.3%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6217920" y="272491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+3.9%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94360" y="310896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 &amp; SEO Manager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3063240" y="3136392"/>
            <a:ext cx="2198123" cy="100584"/>
          </a:xfrm>
          <a:prstGeom prst="roundRect">
            <a:avLst>
              <a:gd name="adj" fmla="val 36364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261363" y="3136392"/>
            <a:ext cx="225037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23560" y="310896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6217920" y="310896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+0.5%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94360" y="3493008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3063240" y="3520440"/>
            <a:ext cx="2042724" cy="100584"/>
          </a:xfrm>
          <a:prstGeom prst="roundRect">
            <a:avLst>
              <a:gd name="adj" fmla="val 36364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05964" y="3520440"/>
            <a:ext cx="380436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23560" y="349300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6217920" y="349300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+6.8%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94360" y="387705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3063240" y="3904488"/>
            <a:ext cx="1667134" cy="100584"/>
          </a:xfrm>
          <a:prstGeom prst="roundRect">
            <a:avLst>
              <a:gd name="adj" fmla="val 36364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30374" y="3904488"/>
            <a:ext cx="756026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23560" y="387705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217920" y="387705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94360" y="426110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3063240" y="4288536"/>
            <a:ext cx="1614794" cy="100584"/>
          </a:xfrm>
          <a:prstGeom prst="roundRect">
            <a:avLst>
              <a:gd name="adj" fmla="val 36364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78034" y="4288536"/>
            <a:ext cx="808366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623560" y="426110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6217920" y="426110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94360" y="464515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3063240" y="4672584"/>
            <a:ext cx="1231076" cy="100584"/>
          </a:xfrm>
          <a:prstGeom prst="roundRect">
            <a:avLst>
              <a:gd name="adj" fmla="val 36364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294316" y="4672584"/>
            <a:ext cx="1192084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623560" y="46451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50.8%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6217920" y="464515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-10.3%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589520" y="10789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Order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7589520" y="1389888"/>
            <a:ext cx="4069080" cy="3657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589520" y="1572768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790688" y="171907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Media Buyer</a:t>
            </a:r>
            <a:endParaRPr lang="en-US" sz="940" dirty="0"/>
          </a:p>
        </p:txBody>
      </p:sp>
      <p:sp>
        <p:nvSpPr>
          <p:cNvPr id="61" name="Text 59"/>
          <p:cNvSpPr/>
          <p:nvPr/>
        </p:nvSpPr>
        <p:spPr>
          <a:xfrm>
            <a:off x="10287000" y="16916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50.8%</a:t>
            </a:r>
            <a:endParaRPr lang="en-US" sz="1280" dirty="0"/>
          </a:p>
        </p:txBody>
      </p:sp>
      <p:sp>
        <p:nvSpPr>
          <p:cNvPr id="62" name="Text 60"/>
          <p:cNvSpPr/>
          <p:nvPr/>
        </p:nvSpPr>
        <p:spPr>
          <a:xfrm>
            <a:off x="7790688" y="2011680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-10.3%  |  2 employees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589520" y="2560320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790688" y="270662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Social Media Specialist</a:t>
            </a:r>
            <a:endParaRPr lang="en-US" sz="940" dirty="0"/>
          </a:p>
        </p:txBody>
      </p:sp>
      <p:sp>
        <p:nvSpPr>
          <p:cNvPr id="65" name="Text 63"/>
          <p:cNvSpPr/>
          <p:nvPr/>
        </p:nvSpPr>
        <p:spPr>
          <a:xfrm>
            <a:off x="10287000" y="267919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1280" dirty="0"/>
          </a:p>
        </p:txBody>
      </p:sp>
      <p:sp>
        <p:nvSpPr>
          <p:cNvPr id="66" name="Text 64"/>
          <p:cNvSpPr/>
          <p:nvPr/>
        </p:nvSpPr>
        <p:spPr>
          <a:xfrm>
            <a:off x="7790688" y="2999232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+5.6%  |  2 employees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589520" y="3547872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790688" y="369417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Web Developer</a:t>
            </a:r>
            <a:endParaRPr lang="en-US" sz="940" dirty="0"/>
          </a:p>
        </p:txBody>
      </p:sp>
      <p:sp>
        <p:nvSpPr>
          <p:cNvPr id="69" name="Text 67"/>
          <p:cNvSpPr/>
          <p:nvPr/>
        </p:nvSpPr>
        <p:spPr>
          <a:xfrm>
            <a:off x="10287000" y="366674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1280" dirty="0"/>
          </a:p>
        </p:txBody>
      </p:sp>
      <p:sp>
        <p:nvSpPr>
          <p:cNvPr id="70" name="Text 68"/>
          <p:cNvSpPr/>
          <p:nvPr/>
        </p:nvSpPr>
        <p:spPr>
          <a:xfrm>
            <a:off x="7790688" y="3986784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-10.0%  |  1 employee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589520" y="47091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02941"/>
          </a:solidFill>
          <a:ln w="9525">
            <a:solidFill>
              <a:srgbClr val="1029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818120" y="493776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signal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818120" y="521208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D6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roles are masking low scores in Media Buyer, Social Media Specialist and Web Developer.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3-Month Performance Trend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direction before drilling into drivers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04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115568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2D6CD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115568"/>
            <a:ext cx="50292" cy="804672"/>
          </a:xfrm>
          <a:prstGeom prst="rect">
            <a:avLst/>
          </a:prstGeom>
          <a:solidFill>
            <a:srgbClr val="2D6CDF"/>
          </a:solidFill>
          <a:ln w="889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24358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COVERAGE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640080" y="1453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PERIODS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1700784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measured rows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>
            <a:off x="2880360" y="1115568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22A66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80360" y="1115568"/>
            <a:ext cx="50292" cy="804672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17520" y="124358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PERIOD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3017520" y="1453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81.0%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1700784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5257800" y="1115568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57800" y="1115568"/>
            <a:ext cx="50292" cy="80467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94960" y="124358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PERIOD</a:t>
            </a:r>
            <a:endParaRPr lang="en-US" sz="580" dirty="0"/>
          </a:p>
        </p:txBody>
      </p:sp>
      <p:sp>
        <p:nvSpPr>
          <p:cNvPr id="23" name="Text 21"/>
          <p:cNvSpPr/>
          <p:nvPr/>
        </p:nvSpPr>
        <p:spPr>
          <a:xfrm>
            <a:off x="5394960" y="1453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77.3%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700784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580" dirty="0"/>
          </a:p>
        </p:txBody>
      </p:sp>
      <p:sp>
        <p:nvSpPr>
          <p:cNvPr id="25" name="Shape 23"/>
          <p:cNvSpPr/>
          <p:nvPr/>
        </p:nvSpPr>
        <p:spPr>
          <a:xfrm>
            <a:off x="7635240" y="1115568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22A66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35240" y="1115568"/>
            <a:ext cx="50292" cy="804672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0" y="124358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MOVEMENT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7772400" y="1453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0" y="1700784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to latest</a:t>
            </a:r>
            <a:endParaRPr lang="en-US" sz="580" dirty="0"/>
          </a:p>
        </p:txBody>
      </p:sp>
      <p:sp>
        <p:nvSpPr>
          <p:cNvPr id="30" name="Shape 28"/>
          <p:cNvSpPr/>
          <p:nvPr/>
        </p:nvSpPr>
        <p:spPr>
          <a:xfrm>
            <a:off x="10012680" y="1115568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E2A100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012680" y="1115568"/>
            <a:ext cx="50292" cy="80467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49840" y="124358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GAP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10149840" y="1453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19.7%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149840" y="1700784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vs 100%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685800" y="278892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history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85800" y="3099816"/>
            <a:ext cx="516636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8680" y="33741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1325880" y="3401568"/>
            <a:ext cx="3321805" cy="118872"/>
          </a:xfrm>
          <a:prstGeom prst="roundRect">
            <a:avLst>
              <a:gd name="adj" fmla="val 30769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47685" y="3401568"/>
            <a:ext cx="975875" cy="118872"/>
          </a:xfrm>
          <a:prstGeom prst="roundRect">
            <a:avLst>
              <a:gd name="adj" fmla="val 30769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06440" y="337413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77.3%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868680" y="37947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1325880" y="3822192"/>
            <a:ext cx="3479171" cy="118872"/>
          </a:xfrm>
          <a:prstGeom prst="roundRect">
            <a:avLst>
              <a:gd name="adj" fmla="val 30769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5051" y="3822192"/>
            <a:ext cx="818509" cy="118872"/>
          </a:xfrm>
          <a:prstGeom prst="roundRect">
            <a:avLst>
              <a:gd name="adj" fmla="val 30769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06440" y="379476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81.0%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868680" y="42153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</a:t>
            </a:r>
            <a:endParaRPr lang="en-US" sz="670" dirty="0"/>
          </a:p>
        </p:txBody>
      </p:sp>
      <p:sp>
        <p:nvSpPr>
          <p:cNvPr id="46" name="Shape 44"/>
          <p:cNvSpPr/>
          <p:nvPr/>
        </p:nvSpPr>
        <p:spPr>
          <a:xfrm>
            <a:off x="1325880" y="4242816"/>
            <a:ext cx="3450922" cy="118872"/>
          </a:xfrm>
          <a:prstGeom prst="roundRect">
            <a:avLst>
              <a:gd name="adj" fmla="val 30769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76802" y="4242816"/>
            <a:ext cx="846758" cy="118872"/>
          </a:xfrm>
          <a:prstGeom prst="roundRect">
            <a:avLst>
              <a:gd name="adj" fmla="val 30769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806440" y="42153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80.3%</a:t>
            </a:r>
            <a:endParaRPr lang="en-US" sz="670" dirty="0"/>
          </a:p>
        </p:txBody>
      </p:sp>
      <p:sp>
        <p:nvSpPr>
          <p:cNvPr id="49" name="Text 47"/>
          <p:cNvSpPr/>
          <p:nvPr/>
        </p:nvSpPr>
        <p:spPr>
          <a:xfrm>
            <a:off x="6492240" y="2788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summary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6492240" y="3099816"/>
            <a:ext cx="4754880" cy="3657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92240" y="333756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748272" y="3639312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remains below target by 19.7% even though the 3-month direction is positive (+3.0% net movement).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48272" y="422452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driver loss to identify exactly what is preventing performance from moving closer to 100%.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Health Overview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grammar for every KPI: current, target, achievement and loss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05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502920" y="1033272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KPI health signals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1344168"/>
            <a:ext cx="11201400" cy="3657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581912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1581912"/>
            <a:ext cx="73152" cy="1115568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" y="1746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667512" y="20665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57.0%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673352" y="2148840"/>
            <a:ext cx="914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loss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67512" y="242316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3 &lt;70%</a:t>
            </a:r>
            <a:endParaRPr lang="en-US" sz="670" dirty="0"/>
          </a:p>
        </p:txBody>
      </p:sp>
      <p:sp>
        <p:nvSpPr>
          <p:cNvPr id="18" name="Text 16"/>
          <p:cNvSpPr/>
          <p:nvPr/>
        </p:nvSpPr>
        <p:spPr>
          <a:xfrm>
            <a:off x="2651760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employee(s)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4325112" y="1581912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25112" y="1581912"/>
            <a:ext cx="73152" cy="1115568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9704" y="1746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4489704" y="20665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41.7%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495544" y="2148840"/>
            <a:ext cx="914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loss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89704" y="242316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gap(s) / 2 &lt;70%</a:t>
            </a:r>
            <a:endParaRPr lang="en-US" sz="670" dirty="0"/>
          </a:p>
        </p:txBody>
      </p:sp>
      <p:sp>
        <p:nvSpPr>
          <p:cNvPr id="25" name="Text 23"/>
          <p:cNvSpPr/>
          <p:nvPr/>
        </p:nvSpPr>
        <p:spPr>
          <a:xfrm>
            <a:off x="6473952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employee(s)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147304" y="1581912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CE8EA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47304" y="1581912"/>
            <a:ext cx="73152" cy="1115568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11896" y="1746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8311896" y="20665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24.7%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9317736" y="2148840"/>
            <a:ext cx="914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loss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8311896" y="242316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1 &lt;70%</a:t>
            </a:r>
            <a:endParaRPr lang="en-US" sz="670" dirty="0"/>
          </a:p>
        </p:txBody>
      </p:sp>
      <p:sp>
        <p:nvSpPr>
          <p:cNvPr id="32" name="Text 30"/>
          <p:cNvSpPr/>
          <p:nvPr/>
        </p:nvSpPr>
        <p:spPr>
          <a:xfrm>
            <a:off x="10296144" y="24231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employee(s)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502920" y="3099816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5D9"/>
          </a:solidFill>
          <a:ln w="9525">
            <a:solidFill>
              <a:srgbClr val="E2A100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2920" y="3099816"/>
            <a:ext cx="73152" cy="111556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" y="32644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667512" y="35844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15.3%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1673352" y="3666744"/>
            <a:ext cx="914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loss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67512" y="394106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gap(s) / 2 &lt;70%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2651760" y="394106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employee(s)</a:t>
            </a:r>
            <a:endParaRPr lang="en-US" sz="670" dirty="0"/>
          </a:p>
        </p:txBody>
      </p:sp>
      <p:sp>
        <p:nvSpPr>
          <p:cNvPr id="40" name="Shape 38"/>
          <p:cNvSpPr/>
          <p:nvPr/>
        </p:nvSpPr>
        <p:spPr>
          <a:xfrm>
            <a:off x="4325112" y="3099816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5D9"/>
          </a:solidFill>
          <a:ln w="9525">
            <a:solidFill>
              <a:srgbClr val="E2A100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325112" y="3099816"/>
            <a:ext cx="73152" cy="111556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89704" y="32644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1070" dirty="0"/>
          </a:p>
        </p:txBody>
      </p:sp>
      <p:sp>
        <p:nvSpPr>
          <p:cNvPr id="43" name="Text 41"/>
          <p:cNvSpPr/>
          <p:nvPr/>
        </p:nvSpPr>
        <p:spPr>
          <a:xfrm>
            <a:off x="4489704" y="35844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15.0%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5495544" y="3666744"/>
            <a:ext cx="914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loss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489704" y="394106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0 &lt;70%</a:t>
            </a:r>
            <a:endParaRPr lang="en-US" sz="670" dirty="0"/>
          </a:p>
        </p:txBody>
      </p:sp>
      <p:sp>
        <p:nvSpPr>
          <p:cNvPr id="46" name="Text 44"/>
          <p:cNvSpPr/>
          <p:nvPr/>
        </p:nvSpPr>
        <p:spPr>
          <a:xfrm>
            <a:off x="6473952" y="394106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employee(s)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8147304" y="3099816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5D9"/>
          </a:solidFill>
          <a:ln w="9525">
            <a:solidFill>
              <a:srgbClr val="E2A100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147304" y="3099816"/>
            <a:ext cx="73152" cy="1115568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311896" y="32644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070" dirty="0"/>
          </a:p>
        </p:txBody>
      </p:sp>
      <p:sp>
        <p:nvSpPr>
          <p:cNvPr id="50" name="Text 48"/>
          <p:cNvSpPr/>
          <p:nvPr/>
        </p:nvSpPr>
        <p:spPr>
          <a:xfrm>
            <a:off x="8311896" y="35844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13.9%</a:t>
            </a:r>
            <a:endParaRPr lang="en-US" sz="1750" dirty="0"/>
          </a:p>
        </p:txBody>
      </p:sp>
      <p:sp>
        <p:nvSpPr>
          <p:cNvPr id="51" name="Text 49"/>
          <p:cNvSpPr/>
          <p:nvPr/>
        </p:nvSpPr>
        <p:spPr>
          <a:xfrm>
            <a:off x="9317736" y="3666744"/>
            <a:ext cx="9144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loss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8311896" y="394106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gap(s) / 2 &lt;70%</a:t>
            </a: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10296144" y="394106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employee(s)</a:t>
            </a:r>
            <a:endParaRPr lang="en-US" sz="670" dirty="0"/>
          </a:p>
        </p:txBody>
      </p:sp>
      <p:sp>
        <p:nvSpPr>
          <p:cNvPr id="54" name="Text 52"/>
          <p:cNvSpPr/>
          <p:nvPr/>
        </p:nvSpPr>
        <p:spPr>
          <a:xfrm>
            <a:off x="502920" y="4773168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evidence behind the highest driver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502920" y="5084064"/>
            <a:ext cx="11201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02920" y="5285232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102941"/>
          </a:solidFill>
          <a:ln w="9525">
            <a:solidFill>
              <a:srgbClr val="1029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77240" y="5522976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Time: total weighted loss 57.0% across Hossam El-naggar, Mina Nabil, Samya Ismail.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Driver Impact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score loss ranks the action order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06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502920" y="1024128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score loss by KPI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1335024"/>
            <a:ext cx="11201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57276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2743200" y="1600200"/>
            <a:ext cx="5715000" cy="100584"/>
          </a:xfrm>
          <a:prstGeom prst="roundRect">
            <a:avLst>
              <a:gd name="adj" fmla="val 36364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41080" y="157276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9509760" y="157276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3 &lt;70%</a:t>
            </a:r>
            <a:endParaRPr lang="en-US" sz="640" dirty="0"/>
          </a:p>
        </p:txBody>
      </p:sp>
      <p:sp>
        <p:nvSpPr>
          <p:cNvPr id="16" name="Text 14"/>
          <p:cNvSpPr/>
          <p:nvPr/>
        </p:nvSpPr>
        <p:spPr>
          <a:xfrm>
            <a:off x="731520" y="198424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2743200" y="2011680"/>
            <a:ext cx="4181603" cy="100584"/>
          </a:xfrm>
          <a:prstGeom prst="roundRect">
            <a:avLst>
              <a:gd name="adj" fmla="val 36364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24803" y="2011680"/>
            <a:ext cx="1533397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41080" y="198424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41.7%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9509760" y="198424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gap(s) / 2 &lt;70%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731520" y="239572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2743200" y="2423160"/>
            <a:ext cx="2474466" cy="100584"/>
          </a:xfrm>
          <a:prstGeom prst="roundRect">
            <a:avLst>
              <a:gd name="adj" fmla="val 36364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7666" y="2423160"/>
            <a:ext cx="3240534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41080" y="239572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24.7%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9509760" y="239572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1 &lt;70%</a:t>
            </a:r>
            <a:endParaRPr lang="en-US" sz="640" dirty="0"/>
          </a:p>
        </p:txBody>
      </p:sp>
      <p:sp>
        <p:nvSpPr>
          <p:cNvPr id="26" name="Text 24"/>
          <p:cNvSpPr/>
          <p:nvPr/>
        </p:nvSpPr>
        <p:spPr>
          <a:xfrm>
            <a:off x="731520" y="280720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2743200" y="2834640"/>
            <a:ext cx="1531489" cy="100584"/>
          </a:xfrm>
          <a:prstGeom prst="roundRect">
            <a:avLst>
              <a:gd name="adj" fmla="val 36364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74689" y="2834640"/>
            <a:ext cx="4183511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41080" y="280720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15.3%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9509760" y="280720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gap(s) / 2 &lt;70%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731520" y="321868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790" dirty="0"/>
          </a:p>
        </p:txBody>
      </p:sp>
      <p:sp>
        <p:nvSpPr>
          <p:cNvPr id="32" name="Shape 30"/>
          <p:cNvSpPr/>
          <p:nvPr/>
        </p:nvSpPr>
        <p:spPr>
          <a:xfrm>
            <a:off x="2743200" y="3246120"/>
            <a:ext cx="1503947" cy="100584"/>
          </a:xfrm>
          <a:prstGeom prst="roundRect">
            <a:avLst>
              <a:gd name="adj" fmla="val 36364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247147" y="3246120"/>
            <a:ext cx="4211053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41080" y="321868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15.0%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9509760" y="321868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0 &lt;70%</a:t>
            </a:r>
            <a:endParaRPr lang="en-US" sz="640" dirty="0"/>
          </a:p>
        </p:txBody>
      </p:sp>
      <p:sp>
        <p:nvSpPr>
          <p:cNvPr id="36" name="Text 34"/>
          <p:cNvSpPr/>
          <p:nvPr/>
        </p:nvSpPr>
        <p:spPr>
          <a:xfrm>
            <a:off x="731520" y="363016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2743200" y="3657600"/>
            <a:ext cx="1389431" cy="100584"/>
          </a:xfrm>
          <a:prstGeom prst="roundRect">
            <a:avLst>
              <a:gd name="adj" fmla="val 36364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132631" y="3657600"/>
            <a:ext cx="4325569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641080" y="363016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13.9%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9509760" y="363016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gap(s) / 2 &lt;70%</a:t>
            </a:r>
            <a:endParaRPr lang="en-US" sz="640" dirty="0"/>
          </a:p>
        </p:txBody>
      </p:sp>
      <p:sp>
        <p:nvSpPr>
          <p:cNvPr id="41" name="Text 39"/>
          <p:cNvSpPr/>
          <p:nvPr/>
        </p:nvSpPr>
        <p:spPr>
          <a:xfrm>
            <a:off x="731520" y="404164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2743200" y="4069080"/>
            <a:ext cx="1253289" cy="100584"/>
          </a:xfrm>
          <a:prstGeom prst="roundRect">
            <a:avLst>
              <a:gd name="adj" fmla="val 36364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996489" y="4069080"/>
            <a:ext cx="4461711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41080" y="404164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12.5%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9509760" y="404164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gap(s) / 1 &lt;70%</a:t>
            </a:r>
            <a:endParaRPr lang="en-US" sz="640" dirty="0"/>
          </a:p>
        </p:txBody>
      </p:sp>
      <p:sp>
        <p:nvSpPr>
          <p:cNvPr id="46" name="Text 44"/>
          <p:cNvSpPr/>
          <p:nvPr/>
        </p:nvSpPr>
        <p:spPr>
          <a:xfrm>
            <a:off x="731520" y="445312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790" dirty="0"/>
          </a:p>
        </p:txBody>
      </p:sp>
      <p:sp>
        <p:nvSpPr>
          <p:cNvPr id="47" name="Shape 45"/>
          <p:cNvSpPr/>
          <p:nvPr/>
        </p:nvSpPr>
        <p:spPr>
          <a:xfrm>
            <a:off x="2743200" y="4480560"/>
            <a:ext cx="1253289" cy="100584"/>
          </a:xfrm>
          <a:prstGeom prst="roundRect">
            <a:avLst>
              <a:gd name="adj" fmla="val 36364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996489" y="4480560"/>
            <a:ext cx="4461711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641080" y="445312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12.5%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9509760" y="445312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gap(s) / 1 &lt;70%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731520" y="486460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</a:t>
            </a:r>
            <a:endParaRPr lang="en-US" sz="790" dirty="0"/>
          </a:p>
        </p:txBody>
      </p:sp>
      <p:sp>
        <p:nvSpPr>
          <p:cNvPr id="52" name="Shape 50"/>
          <p:cNvSpPr/>
          <p:nvPr/>
        </p:nvSpPr>
        <p:spPr>
          <a:xfrm>
            <a:off x="2743200" y="4892040"/>
            <a:ext cx="884321" cy="100584"/>
          </a:xfrm>
          <a:prstGeom prst="roundRect">
            <a:avLst>
              <a:gd name="adj" fmla="val 36364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627521" y="4892040"/>
            <a:ext cx="4830679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641080" y="486460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8.8%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9509760" y="486460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gap(s) / 0 &lt;70%</a:t>
            </a:r>
            <a:endParaRPr lang="en-US" sz="640" dirty="0"/>
          </a:p>
        </p:txBody>
      </p:sp>
      <p:sp>
        <p:nvSpPr>
          <p:cNvPr id="56" name="Text 54"/>
          <p:cNvSpPr/>
          <p:nvPr/>
        </p:nvSpPr>
        <p:spPr>
          <a:xfrm>
            <a:off x="731520" y="5276088"/>
            <a:ext cx="1965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CPL</a:t>
            </a:r>
            <a:endParaRPr lang="en-US" sz="790" dirty="0"/>
          </a:p>
        </p:txBody>
      </p:sp>
      <p:sp>
        <p:nvSpPr>
          <p:cNvPr id="57" name="Shape 55"/>
          <p:cNvSpPr/>
          <p:nvPr/>
        </p:nvSpPr>
        <p:spPr>
          <a:xfrm>
            <a:off x="2743200" y="5303520"/>
            <a:ext cx="488229" cy="100584"/>
          </a:xfrm>
          <a:prstGeom prst="roundRect">
            <a:avLst>
              <a:gd name="adj" fmla="val 36364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231429" y="5303520"/>
            <a:ext cx="5226771" cy="100584"/>
          </a:xfrm>
          <a:prstGeom prst="roundRect">
            <a:avLst>
              <a:gd name="adj" fmla="val 36364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641080" y="527608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4.9%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9509760" y="527608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gap(s) / 1 &lt;70%</a:t>
            </a:r>
            <a:endParaRPr lang="en-US" sz="640" dirty="0"/>
          </a:p>
        </p:txBody>
      </p:sp>
      <p:sp>
        <p:nvSpPr>
          <p:cNvPr id="61" name="Shape 59"/>
          <p:cNvSpPr/>
          <p:nvPr/>
        </p:nvSpPr>
        <p:spPr>
          <a:xfrm>
            <a:off x="502920" y="5833872"/>
            <a:ext cx="11201400" cy="429768"/>
          </a:xfrm>
          <a:prstGeom prst="roundRect">
            <a:avLst>
              <a:gd name="adj" fmla="val 12766"/>
            </a:avLst>
          </a:prstGeom>
          <a:solidFill>
            <a:srgbClr val="FFF9E8"/>
          </a:solidFill>
          <a:ln w="9525">
            <a:solidFill>
              <a:srgbClr val="F0C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13232" y="5998464"/>
            <a:ext cx="10771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rule: do not treat every KPI gap equally; solve the highest weighted-loss drivers first.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→ Role → Employee Map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overall KPI loss to affected people and functions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07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driver map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1362456"/>
            <a:ext cx="11201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572768"/>
            <a:ext cx="2128266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" y="1627632"/>
            <a:ext cx="205511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31186" y="1572768"/>
            <a:ext cx="2016252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762" y="1627632"/>
            <a:ext cx="19431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Function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47438" y="1572768"/>
            <a:ext cx="3360420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4014" y="1627632"/>
            <a:ext cx="328726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Affected employee(s)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07858" y="1572768"/>
            <a:ext cx="3696462" cy="384048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4434" y="1627632"/>
            <a:ext cx="362331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management action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1956816"/>
            <a:ext cx="2128266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9496" y="2011680"/>
            <a:ext cx="2055114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880" dirty="0"/>
          </a:p>
          <a:p>
            <a:pPr marL="0" indent="0" algn="l">
              <a:buNone/>
            </a:pPr>
            <a:r>
              <a:rPr lang="en-US" sz="8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57.0% loss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631186" y="1956816"/>
            <a:ext cx="2016252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67762" y="2011680"/>
            <a:ext cx="19431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47438" y="1956816"/>
            <a:ext cx="3360420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84014" y="2011680"/>
            <a:ext cx="3287268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Nabil, Samya Ismail, Hossam El-Naggar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007858" y="1956816"/>
            <a:ext cx="3696462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4434" y="2011680"/>
            <a:ext cx="362331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response time toward 30 min target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2633472"/>
            <a:ext cx="2128266" cy="676656"/>
          </a:xfrm>
          <a:prstGeom prst="rect">
            <a:avLst/>
          </a:prstGeom>
          <a:solidFill>
            <a:srgbClr val="F4F8FC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9496" y="2688336"/>
            <a:ext cx="2055114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880" dirty="0"/>
          </a:p>
          <a:p>
            <a:pPr marL="0" indent="0" algn="l">
              <a:buNone/>
            </a:pPr>
            <a:r>
              <a:rPr lang="en-US" sz="8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41.7% loss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631186" y="2633472"/>
            <a:ext cx="2016252" cy="676656"/>
          </a:xfrm>
          <a:prstGeom prst="rect">
            <a:avLst/>
          </a:prstGeom>
          <a:solidFill>
            <a:srgbClr val="F4F8FC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67762" y="2688336"/>
            <a:ext cx="19431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47438" y="2633472"/>
            <a:ext cx="3360420" cy="676656"/>
          </a:xfrm>
          <a:prstGeom prst="rect">
            <a:avLst/>
          </a:prstGeom>
          <a:solidFill>
            <a:srgbClr val="F4F8FC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84014" y="2688336"/>
            <a:ext cx="3287268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Amer, Ziad Sayed Hassan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07858" y="2633472"/>
            <a:ext cx="3696462" cy="676656"/>
          </a:xfrm>
          <a:prstGeom prst="rect">
            <a:avLst/>
          </a:prstGeom>
          <a:solidFill>
            <a:srgbClr val="F4F8FC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44434" y="2688336"/>
            <a:ext cx="362331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CR workflow, targeting, landing page and handoff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3310128"/>
            <a:ext cx="2128266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9496" y="3364992"/>
            <a:ext cx="2055114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880" dirty="0"/>
          </a:p>
          <a:p>
            <a:pPr marL="0" indent="0" algn="l">
              <a:buNone/>
            </a:pPr>
            <a:r>
              <a:rPr lang="en-US" sz="8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24.7% loss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2631186" y="3310128"/>
            <a:ext cx="2016252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67762" y="3364992"/>
            <a:ext cx="19431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47438" y="3310128"/>
            <a:ext cx="3360420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84014" y="3364992"/>
            <a:ext cx="3287268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Amer, Ziad Sayed Hassan, Ahmed Mohamed Shehata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07858" y="3310128"/>
            <a:ext cx="3696462" cy="676656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044434" y="3364992"/>
            <a:ext cx="362331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lead volume drivers and coaching scope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3986784"/>
            <a:ext cx="2128266" cy="676656"/>
          </a:xfrm>
          <a:prstGeom prst="rect">
            <a:avLst/>
          </a:prstGeom>
          <a:solidFill>
            <a:srgbClr val="F4F8FC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9496" y="4041648"/>
            <a:ext cx="2055114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Performance</a:t>
            </a:r>
            <a:endParaRPr lang="en-US" sz="880" dirty="0"/>
          </a:p>
          <a:p>
            <a:pPr marL="0" indent="0" algn="l">
              <a:buNone/>
            </a:pPr>
            <a:r>
              <a:rPr lang="en-US" sz="8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25.0% loss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631186" y="3986784"/>
            <a:ext cx="2016252" cy="676656"/>
          </a:xfrm>
          <a:prstGeom prst="rect">
            <a:avLst/>
          </a:prstGeom>
          <a:solidFill>
            <a:srgbClr val="F4F8FC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67762" y="4041648"/>
            <a:ext cx="19431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47438" y="3986784"/>
            <a:ext cx="3360420" cy="676656"/>
          </a:xfrm>
          <a:prstGeom prst="rect">
            <a:avLst/>
          </a:prstGeom>
          <a:solidFill>
            <a:srgbClr val="F4F8FC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84014" y="4041648"/>
            <a:ext cx="3287268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007858" y="3986784"/>
            <a:ext cx="3696462" cy="676656"/>
          </a:xfrm>
          <a:prstGeom prst="rect">
            <a:avLst/>
          </a:prstGeom>
          <a:solidFill>
            <a:srgbClr val="F4F8FC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044434" y="4041648"/>
            <a:ext cx="362331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uptime and page-load speed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" y="5376672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102941"/>
          </a:solidFill>
          <a:ln w="9525">
            <a:solidFill>
              <a:srgbClr val="1029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77240" y="5577840"/>
            <a:ext cx="10652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interpretation: overall score is not the story; the story is which driver touches which role, then which employees require intervention.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Performance Priority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 first; on-track people stay visible but secondary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08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078992"/>
            <a:ext cx="3474720" cy="7315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" y="132588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1664208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employee(s)  |  Score below 70%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1520" y="205740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2478024" y="20574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081528" y="2057400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-17.3%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731520" y="247802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478024" y="24780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081528" y="247802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731520" y="28986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2478024" y="289864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081528" y="289864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670" dirty="0"/>
          </a:p>
        </p:txBody>
      </p:sp>
      <p:sp>
        <p:nvSpPr>
          <p:cNvPr id="23" name="Text 21"/>
          <p:cNvSpPr/>
          <p:nvPr/>
        </p:nvSpPr>
        <p:spPr>
          <a:xfrm>
            <a:off x="731520" y="331927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2478024" y="331927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081528" y="331927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670" dirty="0"/>
          </a:p>
        </p:txBody>
      </p:sp>
      <p:sp>
        <p:nvSpPr>
          <p:cNvPr id="26" name="Text 24"/>
          <p:cNvSpPr/>
          <p:nvPr/>
        </p:nvSpPr>
        <p:spPr>
          <a:xfrm>
            <a:off x="731520" y="373989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2478024" y="373989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081528" y="373989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4389120" y="1078992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2A100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89120" y="1078992"/>
            <a:ext cx="3474720" cy="7315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90288" y="132588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90288" y="1664208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employee(s)  |  70–89%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17720" y="205740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6364224" y="20574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6967728" y="2057400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+6.8%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8275320" y="1078992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22A66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275320" y="1078992"/>
            <a:ext cx="3474720" cy="73152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476488" y="132588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76488" y="1664208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employee(s)  |  90%+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503920" y="205740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Mohamed Shehata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10250424" y="205740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0853928" y="2057400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+0.5%</a:t>
            </a:r>
            <a:endParaRPr lang="en-US" sz="670" dirty="0"/>
          </a:p>
        </p:txBody>
      </p:sp>
      <p:sp>
        <p:nvSpPr>
          <p:cNvPr id="43" name="Text 41"/>
          <p:cNvSpPr/>
          <p:nvPr/>
        </p:nvSpPr>
        <p:spPr>
          <a:xfrm>
            <a:off x="8503920" y="247802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 Mohamed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10250424" y="24780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10853928" y="247802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+0.0%</a:t>
            </a:r>
            <a:endParaRPr lang="en-US" sz="670" dirty="0"/>
          </a:p>
        </p:txBody>
      </p:sp>
      <p:sp>
        <p:nvSpPr>
          <p:cNvPr id="46" name="Text 44"/>
          <p:cNvSpPr/>
          <p:nvPr/>
        </p:nvSpPr>
        <p:spPr>
          <a:xfrm>
            <a:off x="8503920" y="28986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Abdelmegid Diab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10250424" y="289864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10853928" y="289864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+2.7%</a:t>
            </a:r>
            <a:endParaRPr lang="en-US" sz="670" dirty="0"/>
          </a:p>
        </p:txBody>
      </p:sp>
      <p:sp>
        <p:nvSpPr>
          <p:cNvPr id="49" name="Text 47"/>
          <p:cNvSpPr/>
          <p:nvPr/>
        </p:nvSpPr>
        <p:spPr>
          <a:xfrm>
            <a:off x="8503920" y="331927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Nourshan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10250424" y="331927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10853928" y="331927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670" dirty="0"/>
          </a:p>
        </p:txBody>
      </p:sp>
      <p:sp>
        <p:nvSpPr>
          <p:cNvPr id="52" name="Text 50"/>
          <p:cNvSpPr/>
          <p:nvPr/>
        </p:nvSpPr>
        <p:spPr>
          <a:xfrm>
            <a:off x="8503920" y="373989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 Samir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0250424" y="373989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10853928" y="373989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+3.1%</a:t>
            </a:r>
            <a:endParaRPr lang="en-US" sz="670" dirty="0"/>
          </a:p>
        </p:txBody>
      </p:sp>
      <p:sp>
        <p:nvSpPr>
          <p:cNvPr id="55" name="Text 53"/>
          <p:cNvSpPr/>
          <p:nvPr/>
        </p:nvSpPr>
        <p:spPr>
          <a:xfrm>
            <a:off x="8503920" y="416052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10250424" y="41605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10853928" y="4160520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+7.8%</a:t>
            </a:r>
            <a:endParaRPr lang="en-US" sz="670" dirty="0"/>
          </a:p>
        </p:txBody>
      </p:sp>
      <p:sp>
        <p:nvSpPr>
          <p:cNvPr id="58" name="Shape 56"/>
          <p:cNvSpPr/>
          <p:nvPr/>
        </p:nvSpPr>
        <p:spPr>
          <a:xfrm>
            <a:off x="502920" y="5650992"/>
            <a:ext cx="11201400" cy="493776"/>
          </a:xfrm>
          <a:prstGeom prst="roundRect">
            <a:avLst>
              <a:gd name="adj" fmla="val 11111"/>
            </a:avLst>
          </a:prstGeom>
          <a:solidFill>
            <a:srgbClr val="FFF7E7"/>
          </a:solidFill>
          <a:ln w="9525">
            <a:solidFill>
              <a:srgbClr val="F0C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1520" y="5852160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focus: 5 employees below 70% — Bahy Hamed Amer, Ziad Sayed Hassan, Samya Ismail, Mina Nabil, Abdelrahman Yousry.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6A. Employee Detail — Bahy Hamed Amer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Target is shown for every KPI so the employee number is clear and auditable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09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115568"/>
            <a:ext cx="2971800" cy="4736592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115568"/>
            <a:ext cx="59436" cy="47365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31720" y="1316736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86584" y="138531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68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4088" y="148132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04088" y="1773936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04088" y="228600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</a:t>
            </a:r>
            <a:endParaRPr lang="en-US" sz="570" dirty="0"/>
          </a:p>
        </p:txBody>
      </p:sp>
      <p:sp>
        <p:nvSpPr>
          <p:cNvPr id="17" name="Text 15"/>
          <p:cNvSpPr/>
          <p:nvPr/>
        </p:nvSpPr>
        <p:spPr>
          <a:xfrm>
            <a:off x="704088" y="25237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75688" y="228600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2075688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61.1%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75688" y="28529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2075688" y="3063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-17.3%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04088" y="4892040"/>
            <a:ext cx="2569464" cy="640080"/>
          </a:xfrm>
          <a:prstGeom prst="roundRect">
            <a:avLst>
              <a:gd name="adj" fmla="val 8571"/>
            </a:avLst>
          </a:prstGeom>
          <a:solidFill>
            <a:srgbClr val="FFF9EB"/>
          </a:solidFill>
          <a:ln w="9525">
            <a:solidFill>
              <a:srgbClr val="F4E0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056632"/>
            <a:ext cx="2331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822960" y="523951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gap review and corrective action tracking.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94760" y="1097280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Drivers — Actual / Target / Achievement / Weighted Loss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794760" y="1408176"/>
            <a:ext cx="772668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94760" y="1664208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794760" y="1664208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41064" y="1773936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941064" y="2057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35.5%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3959352" y="235915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502920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64.5%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19.4%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3941064" y="2587752"/>
            <a:ext cx="677593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18657" y="2587752"/>
            <a:ext cx="1233503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41064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2,302</a:t>
            </a:r>
            <a:endParaRPr lang="en-US" sz="540" dirty="0"/>
          </a:p>
        </p:txBody>
      </p:sp>
      <p:sp>
        <p:nvSpPr>
          <p:cNvPr id="36" name="Text 34"/>
          <p:cNvSpPr/>
          <p:nvPr/>
        </p:nvSpPr>
        <p:spPr>
          <a:xfrm>
            <a:off x="4933188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6,493</a:t>
            </a:r>
            <a:endParaRPr lang="en-US" sz="540" dirty="0"/>
          </a:p>
        </p:txBody>
      </p:sp>
      <p:sp>
        <p:nvSpPr>
          <p:cNvPr id="37" name="Text 35"/>
          <p:cNvSpPr/>
          <p:nvPr/>
        </p:nvSpPr>
        <p:spPr>
          <a:xfrm>
            <a:off x="3941064" y="2843784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6355080" y="1664208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55080" y="1664208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01384" y="1773936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6501384" y="2057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41.5%</a:t>
            </a:r>
            <a:endParaRPr lang="en-US" sz="1850" dirty="0"/>
          </a:p>
        </p:txBody>
      </p:sp>
      <p:sp>
        <p:nvSpPr>
          <p:cNvPr id="42" name="Text 40"/>
          <p:cNvSpPr/>
          <p:nvPr/>
        </p:nvSpPr>
        <p:spPr>
          <a:xfrm>
            <a:off x="6519672" y="235915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758952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58.5%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17.6%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6501384" y="2587752"/>
            <a:ext cx="792524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293908" y="2587752"/>
            <a:ext cx="1118572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01384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33.4%</a:t>
            </a:r>
            <a:endParaRPr lang="en-US" sz="540" dirty="0"/>
          </a:p>
        </p:txBody>
      </p:sp>
      <p:sp>
        <p:nvSpPr>
          <p:cNvPr id="47" name="Text 45"/>
          <p:cNvSpPr/>
          <p:nvPr/>
        </p:nvSpPr>
        <p:spPr>
          <a:xfrm>
            <a:off x="7493508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80.5%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6501384" y="2843784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8915400" y="1664208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915400" y="1664208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061704" y="1773936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9061704" y="2057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21.3%</a:t>
            </a:r>
            <a:endParaRPr lang="en-US" sz="1850" dirty="0"/>
          </a:p>
        </p:txBody>
      </p:sp>
      <p:sp>
        <p:nvSpPr>
          <p:cNvPr id="53" name="Text 51"/>
          <p:cNvSpPr/>
          <p:nvPr/>
        </p:nvSpPr>
        <p:spPr>
          <a:xfrm>
            <a:off x="9079992" y="235915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1014984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78.7%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7.9%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9061704" y="2587752"/>
            <a:ext cx="406642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468346" y="2587752"/>
            <a:ext cx="1504454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061704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460 AED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10053828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98 AED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9061704" y="2843784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794760" y="3328416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794760" y="3328416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941064" y="3438144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3941064" y="372160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34.3%</a:t>
            </a:r>
            <a:endParaRPr lang="en-US" sz="1850" dirty="0"/>
          </a:p>
        </p:txBody>
      </p:sp>
      <p:sp>
        <p:nvSpPr>
          <p:cNvPr id="64" name="Text 62"/>
          <p:cNvSpPr/>
          <p:nvPr/>
        </p:nvSpPr>
        <p:spPr>
          <a:xfrm>
            <a:off x="3959352" y="402336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65" name="Text 63"/>
          <p:cNvSpPr/>
          <p:nvPr/>
        </p:nvSpPr>
        <p:spPr>
          <a:xfrm>
            <a:off x="5029200" y="37307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65.7%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6.6%</a:t>
            </a:r>
            <a:endParaRPr lang="en-US" sz="580" dirty="0"/>
          </a:p>
        </p:txBody>
      </p:sp>
      <p:sp>
        <p:nvSpPr>
          <p:cNvPr id="66" name="Shape 64"/>
          <p:cNvSpPr/>
          <p:nvPr/>
        </p:nvSpPr>
        <p:spPr>
          <a:xfrm>
            <a:off x="3941064" y="4251960"/>
            <a:ext cx="654722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595786" y="4251960"/>
            <a:ext cx="1256374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941064" y="4416552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1,557,613 AED</a:t>
            </a:r>
            <a:endParaRPr lang="en-US" sz="540" dirty="0"/>
          </a:p>
        </p:txBody>
      </p:sp>
      <p:sp>
        <p:nvSpPr>
          <p:cNvPr id="69" name="Text 67"/>
          <p:cNvSpPr/>
          <p:nvPr/>
        </p:nvSpPr>
        <p:spPr>
          <a:xfrm>
            <a:off x="4933188" y="4416552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4,546,582 AED</a:t>
            </a:r>
            <a:endParaRPr lang="en-US" sz="540" dirty="0"/>
          </a:p>
        </p:txBody>
      </p:sp>
      <p:sp>
        <p:nvSpPr>
          <p:cNvPr id="70" name="Text 68"/>
          <p:cNvSpPr/>
          <p:nvPr/>
        </p:nvSpPr>
        <p:spPr>
          <a:xfrm>
            <a:off x="3941064" y="4507992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6355080" y="3328416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355080" y="3328416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501384" y="3438144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CPL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6501384" y="372160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51.3%</a:t>
            </a:r>
            <a:endParaRPr lang="en-US" sz="1850" dirty="0"/>
          </a:p>
        </p:txBody>
      </p:sp>
      <p:sp>
        <p:nvSpPr>
          <p:cNvPr id="75" name="Text 73"/>
          <p:cNvSpPr/>
          <p:nvPr/>
        </p:nvSpPr>
        <p:spPr>
          <a:xfrm>
            <a:off x="6519672" y="402336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76" name="Text 74"/>
          <p:cNvSpPr/>
          <p:nvPr/>
        </p:nvSpPr>
        <p:spPr>
          <a:xfrm>
            <a:off x="7589520" y="37307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48.7%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4.9%</a:t>
            </a:r>
            <a:endParaRPr lang="en-US" sz="580" dirty="0"/>
          </a:p>
        </p:txBody>
      </p:sp>
      <p:sp>
        <p:nvSpPr>
          <p:cNvPr id="77" name="Shape 75"/>
          <p:cNvSpPr/>
          <p:nvPr/>
        </p:nvSpPr>
        <p:spPr>
          <a:xfrm>
            <a:off x="6501384" y="4251960"/>
            <a:ext cx="980493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481877" y="4251960"/>
            <a:ext cx="930603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501384" y="4416552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154 AED</a:t>
            </a:r>
            <a:endParaRPr lang="en-US" sz="540" dirty="0"/>
          </a:p>
        </p:txBody>
      </p:sp>
      <p:sp>
        <p:nvSpPr>
          <p:cNvPr id="80" name="Text 78"/>
          <p:cNvSpPr/>
          <p:nvPr/>
        </p:nvSpPr>
        <p:spPr>
          <a:xfrm>
            <a:off x="7493508" y="4416552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79 AED</a:t>
            </a:r>
            <a:endParaRPr lang="en-US" sz="540" dirty="0"/>
          </a:p>
        </p:txBody>
      </p:sp>
      <p:sp>
        <p:nvSpPr>
          <p:cNvPr id="81" name="Text 79"/>
          <p:cNvSpPr/>
          <p:nvPr/>
        </p:nvSpPr>
        <p:spPr>
          <a:xfrm>
            <a:off x="6501384" y="4507992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3794760" y="5669280"/>
            <a:ext cx="7726680" cy="457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7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041648" y="5852160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rule: prioritize the highest weighted-loss KPI first; use Actual / Target to validate the gap before assigning corrective action.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6B. Employee Detail — Ziad Sayed Hassan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Target is shown for every KPI so the employee number is clear and auditable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10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115568"/>
            <a:ext cx="2971800" cy="4736592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115568"/>
            <a:ext cx="59436" cy="47365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31720" y="1316736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86584" y="138531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68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4088" y="148132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04088" y="1773936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04088" y="228600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</a:t>
            </a:r>
            <a:endParaRPr lang="en-US" sz="570" dirty="0"/>
          </a:p>
        </p:txBody>
      </p:sp>
      <p:sp>
        <p:nvSpPr>
          <p:cNvPr id="17" name="Text 15"/>
          <p:cNvSpPr/>
          <p:nvPr/>
        </p:nvSpPr>
        <p:spPr>
          <a:xfrm>
            <a:off x="704088" y="25237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75688" y="228600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2075688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75688" y="28529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2075688" y="3063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04088" y="4892040"/>
            <a:ext cx="2569464" cy="640080"/>
          </a:xfrm>
          <a:prstGeom prst="roundRect">
            <a:avLst>
              <a:gd name="adj" fmla="val 8571"/>
            </a:avLst>
          </a:prstGeom>
          <a:solidFill>
            <a:srgbClr val="FFF9EB"/>
          </a:solidFill>
          <a:ln w="9525">
            <a:solidFill>
              <a:srgbClr val="F4E0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056632"/>
            <a:ext cx="2331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822960" y="523951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gap review and corrective action tracking.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94760" y="1097280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Drivers — Actual / Target / Achievement / Weighted Loss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794760" y="1408176"/>
            <a:ext cx="772668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94760" y="1664208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794760" y="1664208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41064" y="1773936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941064" y="2057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19.5%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3959352" y="235915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502920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80.5%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24.1%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3941064" y="2587752"/>
            <a:ext cx="372845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13909" y="2587752"/>
            <a:ext cx="1538251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41064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9.0%</a:t>
            </a:r>
            <a:endParaRPr lang="en-US" sz="540" dirty="0"/>
          </a:p>
        </p:txBody>
      </p:sp>
      <p:sp>
        <p:nvSpPr>
          <p:cNvPr id="36" name="Text 34"/>
          <p:cNvSpPr/>
          <p:nvPr/>
        </p:nvSpPr>
        <p:spPr>
          <a:xfrm>
            <a:off x="4933188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46.0%</a:t>
            </a:r>
            <a:endParaRPr lang="en-US" sz="540" dirty="0"/>
          </a:p>
        </p:txBody>
      </p:sp>
      <p:sp>
        <p:nvSpPr>
          <p:cNvPr id="37" name="Text 35"/>
          <p:cNvSpPr/>
          <p:nvPr/>
        </p:nvSpPr>
        <p:spPr>
          <a:xfrm>
            <a:off x="3941064" y="2843784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6355080" y="1664208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55080" y="1664208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01384" y="1773936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6501384" y="2057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26.0%</a:t>
            </a:r>
            <a:endParaRPr lang="en-US" sz="1850" dirty="0"/>
          </a:p>
        </p:txBody>
      </p:sp>
      <p:sp>
        <p:nvSpPr>
          <p:cNvPr id="42" name="Text 40"/>
          <p:cNvSpPr/>
          <p:nvPr/>
        </p:nvSpPr>
        <p:spPr>
          <a:xfrm>
            <a:off x="6519672" y="235915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758952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74.0%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7.4%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6501384" y="2587752"/>
            <a:ext cx="496409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997793" y="2587752"/>
            <a:ext cx="1414687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01384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822 AED</a:t>
            </a:r>
            <a:endParaRPr lang="en-US" sz="540" dirty="0"/>
          </a:p>
        </p:txBody>
      </p:sp>
      <p:sp>
        <p:nvSpPr>
          <p:cNvPr id="47" name="Text 45"/>
          <p:cNvSpPr/>
          <p:nvPr/>
        </p:nvSpPr>
        <p:spPr>
          <a:xfrm>
            <a:off x="7493508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214 AED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6501384" y="2843784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8915400" y="1664208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915400" y="1664208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061704" y="1773936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9061704" y="2057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27.2%</a:t>
            </a:r>
            <a:endParaRPr lang="en-US" sz="1850" dirty="0"/>
          </a:p>
        </p:txBody>
      </p:sp>
      <p:sp>
        <p:nvSpPr>
          <p:cNvPr id="53" name="Text 51"/>
          <p:cNvSpPr/>
          <p:nvPr/>
        </p:nvSpPr>
        <p:spPr>
          <a:xfrm>
            <a:off x="9079992" y="235915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1014984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72.8%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7.3%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9061704" y="2587752"/>
            <a:ext cx="519104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580808" y="2587752"/>
            <a:ext cx="1391992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061704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38,042 AED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10053828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140,053 AED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9061704" y="2843784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794760" y="3328416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794760" y="3328416"/>
            <a:ext cx="54864" cy="1316736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941064" y="3438144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3941064" y="372160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88.9%</a:t>
            </a:r>
            <a:endParaRPr lang="en-US" sz="1850" dirty="0"/>
          </a:p>
        </p:txBody>
      </p:sp>
      <p:sp>
        <p:nvSpPr>
          <p:cNvPr id="64" name="Text 62"/>
          <p:cNvSpPr/>
          <p:nvPr/>
        </p:nvSpPr>
        <p:spPr>
          <a:xfrm>
            <a:off x="3959352" y="402336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65" name="Text 63"/>
          <p:cNvSpPr/>
          <p:nvPr/>
        </p:nvSpPr>
        <p:spPr>
          <a:xfrm>
            <a:off x="5029200" y="37307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11.1%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3.3%</a:t>
            </a:r>
            <a:endParaRPr lang="en-US" sz="580" dirty="0"/>
          </a:p>
        </p:txBody>
      </p:sp>
      <p:sp>
        <p:nvSpPr>
          <p:cNvPr id="66" name="Shape 64"/>
          <p:cNvSpPr/>
          <p:nvPr/>
        </p:nvSpPr>
        <p:spPr>
          <a:xfrm>
            <a:off x="3941064" y="4251960"/>
            <a:ext cx="1699648" cy="73152"/>
          </a:xfrm>
          <a:prstGeom prst="roundRect">
            <a:avLst>
              <a:gd name="adj" fmla="val 5000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640712" y="4251960"/>
            <a:ext cx="211448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941064" y="4416552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624</a:t>
            </a:r>
            <a:endParaRPr lang="en-US" sz="540" dirty="0"/>
          </a:p>
        </p:txBody>
      </p:sp>
      <p:sp>
        <p:nvSpPr>
          <p:cNvPr id="69" name="Text 67"/>
          <p:cNvSpPr/>
          <p:nvPr/>
        </p:nvSpPr>
        <p:spPr>
          <a:xfrm>
            <a:off x="4933188" y="4416552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701.6</a:t>
            </a:r>
            <a:endParaRPr lang="en-US" sz="540" dirty="0"/>
          </a:p>
        </p:txBody>
      </p:sp>
      <p:sp>
        <p:nvSpPr>
          <p:cNvPr id="70" name="Text 68"/>
          <p:cNvSpPr/>
          <p:nvPr/>
        </p:nvSpPr>
        <p:spPr>
          <a:xfrm>
            <a:off x="3941064" y="4507992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3794760" y="5669280"/>
            <a:ext cx="7726680" cy="457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7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041648" y="5852160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rule: prioritize the highest weighted-loss KPI first; use Actual / Target to validate the gap before assigning corrective action.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6C. Employee Detail — Social Media Specialists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employees share the same leading response-time and growth gaps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11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060704"/>
            <a:ext cx="11201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289304"/>
            <a:ext cx="248716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1289304"/>
            <a:ext cx="50292" cy="16276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1453896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" y="1700784"/>
            <a:ext cx="2139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850392" y="2075688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490" dirty="0"/>
          </a:p>
        </p:txBody>
      </p:sp>
      <p:sp>
        <p:nvSpPr>
          <p:cNvPr id="16" name="Text 14"/>
          <p:cNvSpPr/>
          <p:nvPr/>
        </p:nvSpPr>
        <p:spPr>
          <a:xfrm>
            <a:off x="850392" y="22494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764792" y="2075688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490" dirty="0"/>
          </a:p>
        </p:txBody>
      </p:sp>
      <p:sp>
        <p:nvSpPr>
          <p:cNvPr id="18" name="Text 16"/>
          <p:cNvSpPr/>
          <p:nvPr/>
        </p:nvSpPr>
        <p:spPr>
          <a:xfrm>
            <a:off x="1764792" y="227685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" y="2606040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Response Time gap review.</a:t>
            </a:r>
            <a:endParaRPr lang="en-US" sz="570" dirty="0"/>
          </a:p>
        </p:txBody>
      </p:sp>
      <p:sp>
        <p:nvSpPr>
          <p:cNvPr id="20" name="Shape 18"/>
          <p:cNvSpPr/>
          <p:nvPr/>
        </p:nvSpPr>
        <p:spPr>
          <a:xfrm>
            <a:off x="3429000" y="1380744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29000" y="1380744"/>
            <a:ext cx="54864" cy="141732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75304" y="1490472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3575304" y="17739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3593592" y="207568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4754880" y="17830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60.0%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24.0%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575304" y="2304288"/>
            <a:ext cx="801014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76318" y="2304288"/>
            <a:ext cx="1201522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75304" y="2468880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75 min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4613148" y="2468880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30 min</a:t>
            </a:r>
            <a:endParaRPr lang="en-US" sz="540" dirty="0"/>
          </a:p>
        </p:txBody>
      </p:sp>
      <p:sp>
        <p:nvSpPr>
          <p:cNvPr id="30" name="Text 28"/>
          <p:cNvSpPr/>
          <p:nvPr/>
        </p:nvSpPr>
        <p:spPr>
          <a:xfrm>
            <a:off x="3575304" y="2660904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6080760" y="1380744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0760" y="1380744"/>
            <a:ext cx="54864" cy="1417320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27064" y="1490472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227064" y="17739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70.0%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6245352" y="207568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36" name="Text 34"/>
          <p:cNvSpPr/>
          <p:nvPr/>
        </p:nvSpPr>
        <p:spPr>
          <a:xfrm>
            <a:off x="7406640" y="17830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30.0%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6.0%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6227064" y="2304288"/>
            <a:ext cx="1401775" cy="73152"/>
          </a:xfrm>
          <a:prstGeom prst="roundRect">
            <a:avLst>
              <a:gd name="adj" fmla="val 5000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28839" y="2304288"/>
            <a:ext cx="600761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27064" y="2468880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7.0%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7264908" y="2468880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10.0%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6227064" y="2660904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42" name="Shape 40"/>
          <p:cNvSpPr/>
          <p:nvPr/>
        </p:nvSpPr>
        <p:spPr>
          <a:xfrm>
            <a:off x="8732520" y="1380744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732520" y="1380744"/>
            <a:ext cx="54864" cy="1417320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878824" y="1490472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8878824" y="17739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91.6%</a:t>
            </a:r>
            <a:endParaRPr lang="en-US" sz="1850" dirty="0"/>
          </a:p>
        </p:txBody>
      </p:sp>
      <p:sp>
        <p:nvSpPr>
          <p:cNvPr id="46" name="Text 44"/>
          <p:cNvSpPr/>
          <p:nvPr/>
        </p:nvSpPr>
        <p:spPr>
          <a:xfrm>
            <a:off x="8897112" y="207568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>
            <a:off x="10058400" y="17830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8.4%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3.4%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8878824" y="2304288"/>
            <a:ext cx="1834323" cy="73152"/>
          </a:xfrm>
          <a:prstGeom prst="roundRect">
            <a:avLst>
              <a:gd name="adj" fmla="val 50000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713147" y="2304288"/>
            <a:ext cx="168213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878824" y="2468880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91.6%</a:t>
            </a:r>
            <a:endParaRPr lang="en-US" sz="540" dirty="0"/>
          </a:p>
        </p:txBody>
      </p:sp>
      <p:sp>
        <p:nvSpPr>
          <p:cNvPr id="51" name="Text 49"/>
          <p:cNvSpPr/>
          <p:nvPr/>
        </p:nvSpPr>
        <p:spPr>
          <a:xfrm>
            <a:off x="9916668" y="2468880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8878824" y="2660904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502920" y="3557016"/>
            <a:ext cx="11201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85800" y="3785616"/>
            <a:ext cx="248716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85800" y="3785616"/>
            <a:ext cx="50292" cy="162763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50392" y="395020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0392" y="4197096"/>
            <a:ext cx="2139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80" dirty="0"/>
          </a:p>
        </p:txBody>
      </p:sp>
      <p:sp>
        <p:nvSpPr>
          <p:cNvPr id="58" name="Text 56"/>
          <p:cNvSpPr/>
          <p:nvPr/>
        </p:nvSpPr>
        <p:spPr>
          <a:xfrm>
            <a:off x="850392" y="4572000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490" dirty="0"/>
          </a:p>
        </p:txBody>
      </p:sp>
      <p:sp>
        <p:nvSpPr>
          <p:cNvPr id="59" name="Text 57"/>
          <p:cNvSpPr/>
          <p:nvPr/>
        </p:nvSpPr>
        <p:spPr>
          <a:xfrm>
            <a:off x="850392" y="47457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1764792" y="4572000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490" dirty="0"/>
          </a:p>
        </p:txBody>
      </p:sp>
      <p:sp>
        <p:nvSpPr>
          <p:cNvPr id="61" name="Text 59"/>
          <p:cNvSpPr/>
          <p:nvPr/>
        </p:nvSpPr>
        <p:spPr>
          <a:xfrm>
            <a:off x="1764792" y="477316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50392" y="5102352"/>
            <a:ext cx="2167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Response Time gap review.</a:t>
            </a:r>
            <a:endParaRPr lang="en-US" sz="570" dirty="0"/>
          </a:p>
        </p:txBody>
      </p:sp>
      <p:sp>
        <p:nvSpPr>
          <p:cNvPr id="63" name="Shape 61"/>
          <p:cNvSpPr/>
          <p:nvPr/>
        </p:nvSpPr>
        <p:spPr>
          <a:xfrm>
            <a:off x="3429000" y="3877056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429000" y="3877056"/>
            <a:ext cx="54864" cy="1417320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575304" y="3986784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3575304" y="4270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1850" dirty="0"/>
          </a:p>
        </p:txBody>
      </p:sp>
      <p:sp>
        <p:nvSpPr>
          <p:cNvPr id="67" name="Text 65"/>
          <p:cNvSpPr/>
          <p:nvPr/>
        </p:nvSpPr>
        <p:spPr>
          <a:xfrm>
            <a:off x="3593592" y="457200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68" name="Text 66"/>
          <p:cNvSpPr/>
          <p:nvPr/>
        </p:nvSpPr>
        <p:spPr>
          <a:xfrm>
            <a:off x="4754880" y="427939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60.0%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24.0%</a:t>
            </a:r>
            <a:endParaRPr lang="en-US" sz="580" dirty="0"/>
          </a:p>
        </p:txBody>
      </p:sp>
      <p:sp>
        <p:nvSpPr>
          <p:cNvPr id="69" name="Shape 67"/>
          <p:cNvSpPr/>
          <p:nvPr/>
        </p:nvSpPr>
        <p:spPr>
          <a:xfrm>
            <a:off x="3575304" y="4800600"/>
            <a:ext cx="801014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376318" y="4800600"/>
            <a:ext cx="1201522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575304" y="4965192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75 min</a:t>
            </a:r>
            <a:endParaRPr lang="en-US" sz="540" dirty="0"/>
          </a:p>
        </p:txBody>
      </p:sp>
      <p:sp>
        <p:nvSpPr>
          <p:cNvPr id="72" name="Text 70"/>
          <p:cNvSpPr/>
          <p:nvPr/>
        </p:nvSpPr>
        <p:spPr>
          <a:xfrm>
            <a:off x="4613148" y="4965192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30 min</a:t>
            </a:r>
            <a:endParaRPr lang="en-US" sz="540" dirty="0"/>
          </a:p>
        </p:txBody>
      </p:sp>
      <p:sp>
        <p:nvSpPr>
          <p:cNvPr id="73" name="Text 71"/>
          <p:cNvSpPr/>
          <p:nvPr/>
        </p:nvSpPr>
        <p:spPr>
          <a:xfrm>
            <a:off x="3575304" y="5157216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6080760" y="3877056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080760" y="3877056"/>
            <a:ext cx="54864" cy="1417320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227064" y="3986784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980" dirty="0"/>
          </a:p>
        </p:txBody>
      </p:sp>
      <p:sp>
        <p:nvSpPr>
          <p:cNvPr id="77" name="Text 75"/>
          <p:cNvSpPr/>
          <p:nvPr/>
        </p:nvSpPr>
        <p:spPr>
          <a:xfrm>
            <a:off x="6227064" y="4270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70.0%</a:t>
            </a:r>
            <a:endParaRPr lang="en-US" sz="1850" dirty="0"/>
          </a:p>
        </p:txBody>
      </p:sp>
      <p:sp>
        <p:nvSpPr>
          <p:cNvPr id="78" name="Text 76"/>
          <p:cNvSpPr/>
          <p:nvPr/>
        </p:nvSpPr>
        <p:spPr>
          <a:xfrm>
            <a:off x="6245352" y="457200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79" name="Text 77"/>
          <p:cNvSpPr/>
          <p:nvPr/>
        </p:nvSpPr>
        <p:spPr>
          <a:xfrm>
            <a:off x="7406640" y="427939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30.0%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6.0%</a:t>
            </a:r>
            <a:endParaRPr lang="en-US" sz="580" dirty="0"/>
          </a:p>
        </p:txBody>
      </p:sp>
      <p:sp>
        <p:nvSpPr>
          <p:cNvPr id="80" name="Shape 78"/>
          <p:cNvSpPr/>
          <p:nvPr/>
        </p:nvSpPr>
        <p:spPr>
          <a:xfrm>
            <a:off x="6227064" y="4800600"/>
            <a:ext cx="1401775" cy="73152"/>
          </a:xfrm>
          <a:prstGeom prst="roundRect">
            <a:avLst>
              <a:gd name="adj" fmla="val 5000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628839" y="4800600"/>
            <a:ext cx="600761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227064" y="4965192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7.0%</a:t>
            </a:r>
            <a:endParaRPr lang="en-US" sz="540" dirty="0"/>
          </a:p>
        </p:txBody>
      </p:sp>
      <p:sp>
        <p:nvSpPr>
          <p:cNvPr id="83" name="Text 81"/>
          <p:cNvSpPr/>
          <p:nvPr/>
        </p:nvSpPr>
        <p:spPr>
          <a:xfrm>
            <a:off x="7264908" y="4965192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10.0%</a:t>
            </a:r>
            <a:endParaRPr lang="en-US" sz="540" dirty="0"/>
          </a:p>
        </p:txBody>
      </p:sp>
      <p:sp>
        <p:nvSpPr>
          <p:cNvPr id="84" name="Text 82"/>
          <p:cNvSpPr/>
          <p:nvPr/>
        </p:nvSpPr>
        <p:spPr>
          <a:xfrm>
            <a:off x="6227064" y="5157216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8732520" y="3877056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732520" y="3877056"/>
            <a:ext cx="54864" cy="1417320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878824" y="3986784"/>
            <a:ext cx="2075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</a:t>
            </a:r>
            <a:endParaRPr lang="en-US" sz="980" dirty="0"/>
          </a:p>
        </p:txBody>
      </p:sp>
      <p:sp>
        <p:nvSpPr>
          <p:cNvPr id="88" name="Text 86"/>
          <p:cNvSpPr/>
          <p:nvPr/>
        </p:nvSpPr>
        <p:spPr>
          <a:xfrm>
            <a:off x="8878824" y="4270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91.6%</a:t>
            </a:r>
            <a:endParaRPr lang="en-US" sz="1850" dirty="0"/>
          </a:p>
        </p:txBody>
      </p:sp>
      <p:sp>
        <p:nvSpPr>
          <p:cNvPr id="89" name="Text 87"/>
          <p:cNvSpPr/>
          <p:nvPr/>
        </p:nvSpPr>
        <p:spPr>
          <a:xfrm>
            <a:off x="8897112" y="457200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90" name="Text 88"/>
          <p:cNvSpPr/>
          <p:nvPr/>
        </p:nvSpPr>
        <p:spPr>
          <a:xfrm>
            <a:off x="10058400" y="427939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8.4%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3.4%</a:t>
            </a:r>
            <a:endParaRPr lang="en-US" sz="580" dirty="0"/>
          </a:p>
        </p:txBody>
      </p:sp>
      <p:sp>
        <p:nvSpPr>
          <p:cNvPr id="91" name="Shape 89"/>
          <p:cNvSpPr/>
          <p:nvPr/>
        </p:nvSpPr>
        <p:spPr>
          <a:xfrm>
            <a:off x="8878824" y="4800600"/>
            <a:ext cx="1834323" cy="73152"/>
          </a:xfrm>
          <a:prstGeom prst="roundRect">
            <a:avLst>
              <a:gd name="adj" fmla="val 50000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0713147" y="4800600"/>
            <a:ext cx="168213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8878824" y="4965192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91.6%</a:t>
            </a:r>
            <a:endParaRPr lang="en-US" sz="540" dirty="0"/>
          </a:p>
        </p:txBody>
      </p:sp>
      <p:sp>
        <p:nvSpPr>
          <p:cNvPr id="94" name="Text 92"/>
          <p:cNvSpPr/>
          <p:nvPr/>
        </p:nvSpPr>
        <p:spPr>
          <a:xfrm>
            <a:off x="9916668" y="4965192"/>
            <a:ext cx="982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40" dirty="0"/>
          </a:p>
        </p:txBody>
      </p:sp>
      <p:sp>
        <p:nvSpPr>
          <p:cNvPr id="95" name="Text 93"/>
          <p:cNvSpPr/>
          <p:nvPr/>
        </p:nvSpPr>
        <p:spPr>
          <a:xfrm>
            <a:off x="8878824" y="5157216"/>
            <a:ext cx="2002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6D. Employee Detail — Abdelrahman Yousry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performance gap is concentrated in uptime and page load speed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12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115568"/>
            <a:ext cx="2971800" cy="4736592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115568"/>
            <a:ext cx="59436" cy="47365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31720" y="1316736"/>
            <a:ext cx="932688" cy="256032"/>
          </a:xfrm>
          <a:prstGeom prst="roundRect">
            <a:avLst>
              <a:gd name="adj" fmla="val 21429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86584" y="138531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68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4088" y="148132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04088" y="1773936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04088" y="228600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</a:t>
            </a:r>
            <a:endParaRPr lang="en-US" sz="570" dirty="0"/>
          </a:p>
        </p:txBody>
      </p:sp>
      <p:sp>
        <p:nvSpPr>
          <p:cNvPr id="17" name="Text 15"/>
          <p:cNvSpPr/>
          <p:nvPr/>
        </p:nvSpPr>
        <p:spPr>
          <a:xfrm>
            <a:off x="704088" y="25237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75688" y="228600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2075688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75688" y="28529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2075688" y="3063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04088" y="4892040"/>
            <a:ext cx="2569464" cy="640080"/>
          </a:xfrm>
          <a:prstGeom prst="roundRect">
            <a:avLst>
              <a:gd name="adj" fmla="val 8571"/>
            </a:avLst>
          </a:prstGeom>
          <a:solidFill>
            <a:srgbClr val="FFF9EB"/>
          </a:solidFill>
          <a:ln w="9525">
            <a:solidFill>
              <a:srgbClr val="F4E0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056632"/>
            <a:ext cx="23317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640" dirty="0"/>
          </a:p>
        </p:txBody>
      </p:sp>
      <p:sp>
        <p:nvSpPr>
          <p:cNvPr id="24" name="Text 22"/>
          <p:cNvSpPr/>
          <p:nvPr/>
        </p:nvSpPr>
        <p:spPr>
          <a:xfrm>
            <a:off x="822960" y="523951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 gap review and corrective action tracking.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94760" y="1097280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Drivers — Actual / Target / Achievement / Weighted Loss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794760" y="1408176"/>
            <a:ext cx="772668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94760" y="1664208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794760" y="1664208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41064" y="1773936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941064" y="2057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3959352" y="235915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502920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50.0%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12.5%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3941064" y="2587752"/>
            <a:ext cx="955548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96612" y="2587752"/>
            <a:ext cx="955548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41064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50.0%</a:t>
            </a:r>
            <a:endParaRPr lang="en-US" sz="540" dirty="0"/>
          </a:p>
        </p:txBody>
      </p:sp>
      <p:sp>
        <p:nvSpPr>
          <p:cNvPr id="36" name="Text 34"/>
          <p:cNvSpPr/>
          <p:nvPr/>
        </p:nvSpPr>
        <p:spPr>
          <a:xfrm>
            <a:off x="4933188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40" dirty="0"/>
          </a:p>
        </p:txBody>
      </p:sp>
      <p:sp>
        <p:nvSpPr>
          <p:cNvPr id="37" name="Text 35"/>
          <p:cNvSpPr/>
          <p:nvPr/>
        </p:nvSpPr>
        <p:spPr>
          <a:xfrm>
            <a:off x="3941064" y="2843784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6355080" y="1664208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55080" y="1664208"/>
            <a:ext cx="54864" cy="1316736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01384" y="1773936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6501384" y="2057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1850" dirty="0"/>
          </a:p>
        </p:txBody>
      </p:sp>
      <p:sp>
        <p:nvSpPr>
          <p:cNvPr id="42" name="Text 40"/>
          <p:cNvSpPr/>
          <p:nvPr/>
        </p:nvSpPr>
        <p:spPr>
          <a:xfrm>
            <a:off x="6519672" y="235915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758952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50.0%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12.5%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6501384" y="2587752"/>
            <a:ext cx="955548" cy="73152"/>
          </a:xfrm>
          <a:prstGeom prst="roundRect">
            <a:avLst>
              <a:gd name="adj" fmla="val 50000"/>
            </a:avLst>
          </a:prstGeom>
          <a:solidFill>
            <a:srgbClr val="D53F49"/>
          </a:solidFill>
          <a:ln w="9525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456932" y="2587752"/>
            <a:ext cx="955548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01384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6 sec</a:t>
            </a:r>
            <a:endParaRPr lang="en-US" sz="540" dirty="0"/>
          </a:p>
        </p:txBody>
      </p:sp>
      <p:sp>
        <p:nvSpPr>
          <p:cNvPr id="47" name="Text 45"/>
          <p:cNvSpPr/>
          <p:nvPr/>
        </p:nvSpPr>
        <p:spPr>
          <a:xfrm>
            <a:off x="7493508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3 sec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6501384" y="2843784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8915400" y="1664208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915400" y="1664208"/>
            <a:ext cx="54864" cy="1316736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061704" y="1773936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/ bug resolution ra…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9061704" y="2057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85.0%</a:t>
            </a:r>
            <a:endParaRPr lang="en-US" sz="1850" dirty="0"/>
          </a:p>
        </p:txBody>
      </p:sp>
      <p:sp>
        <p:nvSpPr>
          <p:cNvPr id="53" name="Text 51"/>
          <p:cNvSpPr/>
          <p:nvPr/>
        </p:nvSpPr>
        <p:spPr>
          <a:xfrm>
            <a:off x="9079992" y="235915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10149840" y="206654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15.0%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3.8%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9061704" y="2587752"/>
            <a:ext cx="1624432" cy="73152"/>
          </a:xfrm>
          <a:prstGeom prst="roundRect">
            <a:avLst>
              <a:gd name="adj" fmla="val 50000"/>
            </a:avLst>
          </a:prstGeom>
          <a:solidFill>
            <a:srgbClr val="E2A100"/>
          </a:solidFill>
          <a:ln w="9525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686136" y="2587752"/>
            <a:ext cx="286664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061704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85.0%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10053828" y="2752344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9061704" y="2843784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794760" y="3328416"/>
            <a:ext cx="224028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6E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794760" y="3328416"/>
            <a:ext cx="54864" cy="1316736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941064" y="3438144"/>
            <a:ext cx="1984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delivery timeline…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3941064" y="372160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90.0%</a:t>
            </a:r>
            <a:endParaRPr lang="en-US" sz="1850" dirty="0"/>
          </a:p>
        </p:txBody>
      </p:sp>
      <p:sp>
        <p:nvSpPr>
          <p:cNvPr id="64" name="Text 62"/>
          <p:cNvSpPr/>
          <p:nvPr/>
        </p:nvSpPr>
        <p:spPr>
          <a:xfrm>
            <a:off x="3959352" y="402336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580" dirty="0"/>
          </a:p>
        </p:txBody>
      </p:sp>
      <p:sp>
        <p:nvSpPr>
          <p:cNvPr id="65" name="Text 63"/>
          <p:cNvSpPr/>
          <p:nvPr/>
        </p:nvSpPr>
        <p:spPr>
          <a:xfrm>
            <a:off x="5029200" y="37307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10.0%</a:t>
            </a:r>
            <a:endParaRPr lang="en-US" sz="580" dirty="0"/>
          </a:p>
          <a:p>
            <a:pPr marL="0" indent="0" algn="r">
              <a:buNone/>
            </a:pPr>
            <a:r>
              <a:rPr lang="en-US" sz="58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2.5%</a:t>
            </a:r>
            <a:endParaRPr lang="en-US" sz="580" dirty="0"/>
          </a:p>
        </p:txBody>
      </p:sp>
      <p:sp>
        <p:nvSpPr>
          <p:cNvPr id="66" name="Shape 64"/>
          <p:cNvSpPr/>
          <p:nvPr/>
        </p:nvSpPr>
        <p:spPr>
          <a:xfrm>
            <a:off x="3941064" y="4251960"/>
            <a:ext cx="1719986" cy="73152"/>
          </a:xfrm>
          <a:prstGeom prst="roundRect">
            <a:avLst>
              <a:gd name="adj" fmla="val 50000"/>
            </a:avLst>
          </a:prstGeom>
          <a:solidFill>
            <a:srgbClr val="22A66F"/>
          </a:solidFill>
          <a:ln w="9525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661050" y="4251960"/>
            <a:ext cx="191110" cy="73152"/>
          </a:xfrm>
          <a:prstGeom prst="roundRect">
            <a:avLst>
              <a:gd name="adj" fmla="val 50000"/>
            </a:avLst>
          </a:prstGeom>
          <a:solidFill>
            <a:srgbClr val="E3EAF2"/>
          </a:solidFill>
          <a:ln w="9525">
            <a:solidFill>
              <a:srgbClr val="E3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941064" y="4416552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Actual: 90.0%</a:t>
            </a:r>
            <a:endParaRPr lang="en-US" sz="540" dirty="0"/>
          </a:p>
        </p:txBody>
      </p:sp>
      <p:sp>
        <p:nvSpPr>
          <p:cNvPr id="69" name="Text 67"/>
          <p:cNvSpPr/>
          <p:nvPr/>
        </p:nvSpPr>
        <p:spPr>
          <a:xfrm>
            <a:off x="4933188" y="4416552"/>
            <a:ext cx="937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4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100.0%</a:t>
            </a:r>
            <a:endParaRPr lang="en-US" sz="540" dirty="0"/>
          </a:p>
        </p:txBody>
      </p:sp>
      <p:sp>
        <p:nvSpPr>
          <p:cNvPr id="70" name="Text 68"/>
          <p:cNvSpPr/>
          <p:nvPr/>
        </p:nvSpPr>
        <p:spPr>
          <a:xfrm>
            <a:off x="3941064" y="4507992"/>
            <a:ext cx="19110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3794760" y="5669280"/>
            <a:ext cx="7726680" cy="457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9525">
            <a:solidFill>
              <a:srgbClr val="D7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041648" y="5852160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rule: prioritize the highest weighted-loss KPI first; use Actual / Target to validate the gap before assigning corrective action.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Evidence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first: result, target, achievement, weighted loss and validation need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13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1069848"/>
            <a:ext cx="1593799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" y="1124712"/>
            <a:ext cx="152064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005279" y="1069848"/>
            <a:ext cx="1366114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41855" y="1124712"/>
            <a:ext cx="129296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3371393" y="1069848"/>
            <a:ext cx="1479956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07969" y="1124712"/>
            <a:ext cx="14068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4851349" y="1069848"/>
            <a:ext cx="1024585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87925" y="1124712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5875934" y="1069848"/>
            <a:ext cx="1024585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12510" y="1124712"/>
            <a:ext cx="95143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6900520" y="1069848"/>
            <a:ext cx="910742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37096" y="1124712"/>
            <a:ext cx="83759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Ach.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811262" y="1069848"/>
            <a:ext cx="796900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47838" y="1124712"/>
            <a:ext cx="723748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8608162" y="1069848"/>
            <a:ext cx="3187598" cy="39319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44738" y="1124712"/>
            <a:ext cx="311444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/ operating issue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11480" y="1463040"/>
            <a:ext cx="1593799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8056" y="1517904"/>
            <a:ext cx="152064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005279" y="1463040"/>
            <a:ext cx="1366114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41855" y="1517904"/>
            <a:ext cx="129296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371393" y="1463040"/>
            <a:ext cx="1479956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07969" y="1517904"/>
            <a:ext cx="140680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851349" y="1463040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87925" y="1517904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9.0%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875934" y="1463040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12510" y="1517904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46.0%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900520" y="1463040"/>
            <a:ext cx="91074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37096" y="1517904"/>
            <a:ext cx="83759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19.5%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811262" y="1463040"/>
            <a:ext cx="7969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847838" y="1517904"/>
            <a:ext cx="7237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24.1%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8608162" y="1463040"/>
            <a:ext cx="3187598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44738" y="1517904"/>
            <a:ext cx="311444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11480" y="1883664"/>
            <a:ext cx="1593799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8056" y="1938528"/>
            <a:ext cx="152064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005279" y="1883664"/>
            <a:ext cx="1366114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041855" y="1938528"/>
            <a:ext cx="129296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371393" y="1883664"/>
            <a:ext cx="1479956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07969" y="1938528"/>
            <a:ext cx="140680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851349" y="1883664"/>
            <a:ext cx="1024585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87925" y="1938528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875934" y="1883664"/>
            <a:ext cx="1024585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12510" y="1938528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6900520" y="1883664"/>
            <a:ext cx="910742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37096" y="1938528"/>
            <a:ext cx="83759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7811262" y="1883664"/>
            <a:ext cx="796900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847838" y="1938528"/>
            <a:ext cx="7237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24.0%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8608162" y="1883664"/>
            <a:ext cx="3187598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644738" y="1938528"/>
            <a:ext cx="311444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11480" y="2304288"/>
            <a:ext cx="1593799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48056" y="2359152"/>
            <a:ext cx="152064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2005279" y="2304288"/>
            <a:ext cx="1366114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041855" y="2359152"/>
            <a:ext cx="129296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3371393" y="2304288"/>
            <a:ext cx="1479956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407969" y="2359152"/>
            <a:ext cx="140680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851349" y="2304288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87925" y="2359152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5875934" y="2304288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12510" y="2359152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6900520" y="2304288"/>
            <a:ext cx="91074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937096" y="2359152"/>
            <a:ext cx="83759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7811262" y="2304288"/>
            <a:ext cx="7969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847838" y="2359152"/>
            <a:ext cx="7237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24.0%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8608162" y="2304288"/>
            <a:ext cx="3187598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644738" y="2359152"/>
            <a:ext cx="311444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411480" y="2724912"/>
            <a:ext cx="1593799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48056" y="2779776"/>
            <a:ext cx="152064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2005279" y="2724912"/>
            <a:ext cx="1366114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041855" y="2779776"/>
            <a:ext cx="129296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3371393" y="2724912"/>
            <a:ext cx="1479956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407969" y="2779776"/>
            <a:ext cx="140680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851349" y="2724912"/>
            <a:ext cx="1024585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887925" y="2779776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2,302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5875934" y="2724912"/>
            <a:ext cx="1024585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912510" y="2779776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6,493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6900520" y="2724912"/>
            <a:ext cx="910742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937096" y="2779776"/>
            <a:ext cx="83759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35.5%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7811262" y="2724912"/>
            <a:ext cx="796900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847838" y="2779776"/>
            <a:ext cx="7237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19.4%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8608162" y="2724912"/>
            <a:ext cx="3187598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644738" y="2779776"/>
            <a:ext cx="311444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411480" y="3145536"/>
            <a:ext cx="1593799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48056" y="3200400"/>
            <a:ext cx="152064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2005279" y="3145536"/>
            <a:ext cx="1366114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041855" y="3200400"/>
            <a:ext cx="129296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3371393" y="3145536"/>
            <a:ext cx="1479956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407969" y="3200400"/>
            <a:ext cx="140680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4851349" y="3145536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887925" y="3200400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33.4%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5875934" y="3145536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912510" y="3200400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80.5%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6900520" y="3145536"/>
            <a:ext cx="91074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937096" y="3200400"/>
            <a:ext cx="83759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41.5%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7811262" y="3145536"/>
            <a:ext cx="7969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847838" y="3200400"/>
            <a:ext cx="7237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17.6%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8608162" y="3145536"/>
            <a:ext cx="3187598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8644738" y="3200400"/>
            <a:ext cx="311444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411480" y="3566160"/>
            <a:ext cx="1593799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48056" y="3621024"/>
            <a:ext cx="152064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2005279" y="3566160"/>
            <a:ext cx="1366114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2041855" y="3621024"/>
            <a:ext cx="129296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3371393" y="3566160"/>
            <a:ext cx="1479956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3407969" y="3621024"/>
            <a:ext cx="140680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4851349" y="3566160"/>
            <a:ext cx="1024585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4887925" y="3621024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5875934" y="3566160"/>
            <a:ext cx="1024585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5912510" y="3621024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6900520" y="3566160"/>
            <a:ext cx="910742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6937096" y="3621024"/>
            <a:ext cx="83759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7811262" y="3566160"/>
            <a:ext cx="796900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7847838" y="3621024"/>
            <a:ext cx="7237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12.5%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8608162" y="3566160"/>
            <a:ext cx="3187598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8644738" y="3621024"/>
            <a:ext cx="311444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411480" y="3986784"/>
            <a:ext cx="1593799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48056" y="4041648"/>
            <a:ext cx="152064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2005279" y="3986784"/>
            <a:ext cx="1366114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2041855" y="4041648"/>
            <a:ext cx="129296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3371393" y="3986784"/>
            <a:ext cx="1479956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3407969" y="4041648"/>
            <a:ext cx="140680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4851349" y="3986784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4887925" y="4041648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sec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5875934" y="3986784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5912510" y="4041648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sec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6900520" y="3986784"/>
            <a:ext cx="91074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6937096" y="4041648"/>
            <a:ext cx="83759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7811262" y="3986784"/>
            <a:ext cx="7969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7847838" y="4041648"/>
            <a:ext cx="7237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12.5%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8608162" y="3986784"/>
            <a:ext cx="3187598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8644738" y="4041648"/>
            <a:ext cx="311444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411480" y="4407408"/>
            <a:ext cx="1593799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448056" y="4462272"/>
            <a:ext cx="152064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2005279" y="4407408"/>
            <a:ext cx="1366114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2041855" y="4462272"/>
            <a:ext cx="129296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3371393" y="4407408"/>
            <a:ext cx="1479956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3407969" y="4462272"/>
            <a:ext cx="140680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4851349" y="4407408"/>
            <a:ext cx="1024585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4887925" y="4462272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822 AED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5875934" y="4407408"/>
            <a:ext cx="1024585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5912510" y="4462272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214 AED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6900520" y="4407408"/>
            <a:ext cx="910742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6937096" y="4462272"/>
            <a:ext cx="83759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26.0%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7811262" y="4407408"/>
            <a:ext cx="796900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7847838" y="4462272"/>
            <a:ext cx="7237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7.4%</a:t>
            </a:r>
            <a:endParaRPr lang="en-US" sz="650" dirty="0"/>
          </a:p>
        </p:txBody>
      </p:sp>
      <p:sp>
        <p:nvSpPr>
          <p:cNvPr id="152" name="Shape 150"/>
          <p:cNvSpPr/>
          <p:nvPr/>
        </p:nvSpPr>
        <p:spPr>
          <a:xfrm>
            <a:off x="8608162" y="4407408"/>
            <a:ext cx="3187598" cy="42062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8644738" y="4462272"/>
            <a:ext cx="311444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411480" y="4828032"/>
            <a:ext cx="1593799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448056" y="4882896"/>
            <a:ext cx="1520647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2005279" y="4828032"/>
            <a:ext cx="1366114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2041855" y="4882896"/>
            <a:ext cx="129296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650" dirty="0"/>
          </a:p>
        </p:txBody>
      </p:sp>
      <p:sp>
        <p:nvSpPr>
          <p:cNvPr id="158" name="Shape 156"/>
          <p:cNvSpPr/>
          <p:nvPr/>
        </p:nvSpPr>
        <p:spPr>
          <a:xfrm>
            <a:off x="3371393" y="4828032"/>
            <a:ext cx="1479956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3407969" y="4882896"/>
            <a:ext cx="140680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4851349" y="4828032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4887925" y="4882896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650" dirty="0"/>
          </a:p>
        </p:txBody>
      </p:sp>
      <p:sp>
        <p:nvSpPr>
          <p:cNvPr id="162" name="Shape 160"/>
          <p:cNvSpPr/>
          <p:nvPr/>
        </p:nvSpPr>
        <p:spPr>
          <a:xfrm>
            <a:off x="5875934" y="4828032"/>
            <a:ext cx="1024585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5912510" y="4882896"/>
            <a:ext cx="951433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10.0%</a:t>
            </a:r>
            <a:endParaRPr lang="en-US" sz="650" dirty="0"/>
          </a:p>
        </p:txBody>
      </p:sp>
      <p:sp>
        <p:nvSpPr>
          <p:cNvPr id="164" name="Shape 162"/>
          <p:cNvSpPr/>
          <p:nvPr/>
        </p:nvSpPr>
        <p:spPr>
          <a:xfrm>
            <a:off x="6900520" y="4828032"/>
            <a:ext cx="910742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6937096" y="4882896"/>
            <a:ext cx="83759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70.0%</a:t>
            </a:r>
            <a:endParaRPr lang="en-US" sz="650" dirty="0"/>
          </a:p>
        </p:txBody>
      </p:sp>
      <p:sp>
        <p:nvSpPr>
          <p:cNvPr id="166" name="Shape 164"/>
          <p:cNvSpPr/>
          <p:nvPr/>
        </p:nvSpPr>
        <p:spPr>
          <a:xfrm>
            <a:off x="7811262" y="4828032"/>
            <a:ext cx="796900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7847838" y="4882896"/>
            <a:ext cx="7237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6.0%</a:t>
            </a:r>
            <a:endParaRPr lang="en-US" sz="650" dirty="0"/>
          </a:p>
        </p:txBody>
      </p:sp>
      <p:sp>
        <p:nvSpPr>
          <p:cNvPr id="168" name="Shape 166"/>
          <p:cNvSpPr/>
          <p:nvPr/>
        </p:nvSpPr>
        <p:spPr>
          <a:xfrm>
            <a:off x="8608162" y="4828032"/>
            <a:ext cx="3187598" cy="42062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8644738" y="4882896"/>
            <a:ext cx="3114446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signal — operational cause must be validated before final CAP assignment.</a:t>
            </a:r>
            <a:endParaRPr lang="en-US" sz="650" dirty="0"/>
          </a:p>
        </p:txBody>
      </p:sp>
      <p:sp>
        <p:nvSpPr>
          <p:cNvPr id="170" name="Shape 168"/>
          <p:cNvSpPr/>
          <p:nvPr/>
        </p:nvSpPr>
        <p:spPr>
          <a:xfrm>
            <a:off x="502920" y="5815584"/>
            <a:ext cx="11201400" cy="384048"/>
          </a:xfrm>
          <a:prstGeom prst="roundRect">
            <a:avLst>
              <a:gd name="adj" fmla="val 14286"/>
            </a:avLst>
          </a:prstGeom>
          <a:solidFill>
            <a:srgbClr val="FFF9E8"/>
          </a:solidFill>
          <a:ln w="9525">
            <a:solidFill>
              <a:srgbClr val="F0C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749808" y="5952744"/>
            <a:ext cx="10744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this slide separates evidence from assumption. The KPI identifies where to investigate; it does not invent an operational root cause.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Corrective Action Tracker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Data-driven workstreams created from the highest weighted-loss gaps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14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411480" y="1188720"/>
            <a:ext cx="1024585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" y="1243584"/>
            <a:ext cx="951433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436065" y="1188720"/>
            <a:ext cx="1707642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72641" y="1243584"/>
            <a:ext cx="163449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143707" y="1188720"/>
            <a:ext cx="1366114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80283" y="1243584"/>
            <a:ext cx="129296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09821" y="1188720"/>
            <a:ext cx="2049170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46397" y="1243584"/>
            <a:ext cx="197601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558991" y="1188720"/>
            <a:ext cx="3301441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95567" y="1243584"/>
            <a:ext cx="3228289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9860432" y="1188720"/>
            <a:ext cx="1935328" cy="438912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97008" y="1243584"/>
            <a:ext cx="186217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11480" y="1627632"/>
            <a:ext cx="1024585" cy="804672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" y="1682496"/>
            <a:ext cx="951433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436065" y="1627632"/>
            <a:ext cx="1707642" cy="804672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72641" y="1682496"/>
            <a:ext cx="163449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3143707" y="1627632"/>
            <a:ext cx="1366114" cy="804672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80283" y="1682496"/>
            <a:ext cx="1292962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509821" y="1627632"/>
            <a:ext cx="2049170" cy="804672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46397" y="1682496"/>
            <a:ext cx="1976018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Mina, Samya, Hossam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6558991" y="1627632"/>
            <a:ext cx="3301441" cy="804672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95567" y="1682496"/>
            <a:ext cx="3228289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workflow / staffing / handoff. Reduce response time and monitor affected employees weekly.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9860432" y="1627632"/>
            <a:ext cx="1935328" cy="804672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897008" y="1682496"/>
            <a:ext cx="186217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moves toward 30 min target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11480" y="2432304"/>
            <a:ext cx="1024585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8056" y="2487168"/>
            <a:ext cx="951433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1436065" y="2432304"/>
            <a:ext cx="1707642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72641" y="2487168"/>
            <a:ext cx="163449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3143707" y="2432304"/>
            <a:ext cx="1366114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80283" y="2487168"/>
            <a:ext cx="1292962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4509821" y="2432304"/>
            <a:ext cx="2049170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46397" y="2487168"/>
            <a:ext cx="1976018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Bahy, Ziad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6558991" y="2432304"/>
            <a:ext cx="3301441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95567" y="2487168"/>
            <a:ext cx="3228289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CR workflow, targeting, offer, landing page and sales handoff.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9860432" y="2432304"/>
            <a:ext cx="1935328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897008" y="2487168"/>
            <a:ext cx="186217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gap decreases in next review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411480" y="3236976"/>
            <a:ext cx="1024585" cy="80467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8056" y="3291840"/>
            <a:ext cx="951433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1436065" y="3236976"/>
            <a:ext cx="1707642" cy="80467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472641" y="3291840"/>
            <a:ext cx="163449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3143707" y="3236976"/>
            <a:ext cx="1366114" cy="80467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180283" y="3291840"/>
            <a:ext cx="1292962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4509821" y="3236976"/>
            <a:ext cx="2049170" cy="80467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546397" y="3291840"/>
            <a:ext cx="1976018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Bahy, Ziad, Ahmed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6558991" y="3236976"/>
            <a:ext cx="3301441" cy="80467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595567" y="3291840"/>
            <a:ext cx="3228289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lead-volume drivers and focused coaching for affected employees.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9860432" y="3236976"/>
            <a:ext cx="1935328" cy="804672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897008" y="3291840"/>
            <a:ext cx="186217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achievement moves toward target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411480" y="4041648"/>
            <a:ext cx="1024585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48056" y="4096512"/>
            <a:ext cx="951433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1436065" y="4041648"/>
            <a:ext cx="1707642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472641" y="4096512"/>
            <a:ext cx="163449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Performance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3143707" y="4041648"/>
            <a:ext cx="1366114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180283" y="4096512"/>
            <a:ext cx="1292962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needed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4509821" y="4041648"/>
            <a:ext cx="2049170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546397" y="4096512"/>
            <a:ext cx="1976018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6558991" y="4041648"/>
            <a:ext cx="3301441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95567" y="4096512"/>
            <a:ext cx="3228289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uptime process and page-load speed ownership.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9860432" y="4041648"/>
            <a:ext cx="1935328" cy="804672"/>
          </a:xfrm>
          <a:prstGeom prst="rect">
            <a:avLst/>
          </a:prstGeom>
          <a:solidFill>
            <a:srgbClr val="FFF7E7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897008" y="4096512"/>
            <a:ext cx="186217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 approaches 100%; load speed approaches 3 sec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502920" y="5788152"/>
            <a:ext cx="11201400" cy="438912"/>
          </a:xfrm>
          <a:prstGeom prst="roundRect">
            <a:avLst>
              <a:gd name="adj" fmla="val 12500"/>
            </a:avLst>
          </a:prstGeom>
          <a:solidFill>
            <a:srgbClr val="102941"/>
          </a:solidFill>
          <a:ln w="9525">
            <a:solidFill>
              <a:srgbClr val="1029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49808" y="5961888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needed before next review: confirm owner, due date and success evidence for every proposed workstream.</a:t>
            </a:r>
            <a:endParaRPr lang="en-US" sz="8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Review Commitments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review is successful only when targets, owners and evidence are explicit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15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502920" y="1207008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2D6CD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207008"/>
            <a:ext cx="64008" cy="1078992"/>
          </a:xfrm>
          <a:prstGeom prst="rect">
            <a:avLst/>
          </a:prstGeom>
          <a:solidFill>
            <a:srgbClr val="2D6CDF"/>
          </a:solidFill>
          <a:ln w="889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" y="1353312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PERFORMANCE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67512" y="1600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80.3% → closer to 100%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67512" y="192024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score improves and gap reduces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297680" y="1207008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97680" y="1207008"/>
            <a:ext cx="64008" cy="10789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62272" y="1353312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462272" y="1600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 → 30 min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462272" y="192024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KPI loss reduced from 57.0%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092440" y="1207008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92440" y="1207008"/>
            <a:ext cx="64008" cy="10789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57032" y="1353312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257032" y="1600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 CR gap reduces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257032" y="192024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/ Ziad move toward configured targets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02920" y="2779776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53F49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2779776"/>
            <a:ext cx="64008" cy="1078992"/>
          </a:xfrm>
          <a:prstGeom prst="rect">
            <a:avLst/>
          </a:prstGeom>
          <a:solidFill>
            <a:srgbClr val="D53F49"/>
          </a:solidFill>
          <a:ln w="8890">
            <a:solidFill>
              <a:srgbClr val="D53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BELOW 70%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67512" y="31729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→ fewer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67512" y="349300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At-risk list decreases next month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297680" y="2779776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A100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97680" y="2779776"/>
            <a:ext cx="64008" cy="1078992"/>
          </a:xfrm>
          <a:prstGeom prst="rect">
            <a:avLst/>
          </a:prstGeom>
          <a:solidFill>
            <a:srgbClr val="E2A100"/>
          </a:solidFill>
          <a:ln w="8890">
            <a:solidFill>
              <a:srgbClr val="E2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62272" y="2926080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OWNERSHIP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462272" y="31729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missing owners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4462272" y="349300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workstream has owner, due date and evidence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8092440" y="2779776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22A66F"/>
            </a:solidFill>
            <a:prstDash val="solid"/>
          </a:ln>
          <a:effectLst>
            <a:outerShdw blurRad="12700" dist="50800" dir="2700000" algn="bl" rotWithShape="0">
              <a:srgbClr val="B4C1D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92440" y="2779776"/>
            <a:ext cx="64008" cy="1078992"/>
          </a:xfrm>
          <a:prstGeom prst="rect">
            <a:avLst/>
          </a:prstGeom>
          <a:solidFill>
            <a:srgbClr val="22A66F"/>
          </a:solidFill>
          <a:ln w="8890">
            <a:solidFill>
              <a:srgbClr val="22A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57032" y="2926080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QUALITY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257032" y="31729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target shown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8257032" y="349300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validation recorded before CAP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02920" y="48463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decision summary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02920" y="5157216"/>
            <a:ext cx="11201400" cy="36576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2920" y="5340096"/>
            <a:ext cx="11201400" cy="640080"/>
          </a:xfrm>
          <a:prstGeom prst="roundRect">
            <a:avLst>
              <a:gd name="adj" fmla="val 8571"/>
            </a:avLst>
          </a:prstGeom>
          <a:solidFill>
            <a:srgbClr val="FFF7E7"/>
          </a:solidFill>
          <a:ln w="9525">
            <a:solidFill>
              <a:srgbClr val="F0C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9808" y="5577840"/>
            <a:ext cx="10698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owners and review dates to the Response Time, CR, Leads and Web Performance workstreams before the next reporting period.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B5D"/>
          </a:solidFill>
          <a:ln w="8890">
            <a:solidFill>
              <a:srgbClr val="173B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12191695" cy="64008"/>
          </a:xfrm>
          <a:prstGeom prst="rect">
            <a:avLst/>
          </a:prstGeom>
          <a:solidFill>
            <a:srgbClr val="04958F"/>
          </a:solidFill>
          <a:ln w="8890">
            <a:solidFill>
              <a:srgbClr val="0495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28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Detail Appendix — Full Scorecard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16" y="512064"/>
            <a:ext cx="6766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BBD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One-page reference: score, MoM, status, top KPI, weighted loss and actual / target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9997135" y="22860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C6D7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  |  16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5"/>
          </a:solidFill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66934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| Jul 2026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11688775" y="6693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80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320040" y="1042416"/>
            <a:ext cx="1966417" cy="310896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" y="1097280"/>
            <a:ext cx="1893265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2286457" y="1042416"/>
            <a:ext cx="1735074" cy="310896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23033" y="1097280"/>
            <a:ext cx="166192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4021531" y="1042416"/>
            <a:ext cx="925373" cy="310896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58107" y="1097280"/>
            <a:ext cx="852221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4946904" y="1042416"/>
            <a:ext cx="925373" cy="310896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097280"/>
            <a:ext cx="852221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5872277" y="1042416"/>
            <a:ext cx="1156716" cy="310896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08853" y="1097280"/>
            <a:ext cx="10835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7028993" y="1042416"/>
            <a:ext cx="2544775" cy="310896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65569" y="1097280"/>
            <a:ext cx="2471623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KPI | loss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9573768" y="1042416"/>
            <a:ext cx="925373" cy="310896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10344" y="1097280"/>
            <a:ext cx="852221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10499141" y="1042416"/>
            <a:ext cx="925373" cy="310896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35717" y="1097280"/>
            <a:ext cx="852221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11424514" y="1042416"/>
            <a:ext cx="462686" cy="310896"/>
          </a:xfrm>
          <a:prstGeom prst="rect">
            <a:avLst/>
          </a:prstGeom>
          <a:solidFill>
            <a:srgbClr val="173B5D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461090" y="1097280"/>
            <a:ext cx="38953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320040" y="1353312"/>
            <a:ext cx="1966417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6616" y="1408176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590" dirty="0"/>
          </a:p>
        </p:txBody>
      </p:sp>
      <p:sp>
        <p:nvSpPr>
          <p:cNvPr id="30" name="Shape 28"/>
          <p:cNvSpPr/>
          <p:nvPr/>
        </p:nvSpPr>
        <p:spPr>
          <a:xfrm>
            <a:off x="2286457" y="1353312"/>
            <a:ext cx="1735074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23033" y="1408176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590" dirty="0"/>
          </a:p>
        </p:txBody>
      </p:sp>
      <p:sp>
        <p:nvSpPr>
          <p:cNvPr id="32" name="Shape 30"/>
          <p:cNvSpPr/>
          <p:nvPr/>
        </p:nvSpPr>
        <p:spPr>
          <a:xfrm>
            <a:off x="4021531" y="1353312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58107" y="140817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590" dirty="0"/>
          </a:p>
        </p:txBody>
      </p:sp>
      <p:sp>
        <p:nvSpPr>
          <p:cNvPr id="34" name="Shape 32"/>
          <p:cNvSpPr/>
          <p:nvPr/>
        </p:nvSpPr>
        <p:spPr>
          <a:xfrm>
            <a:off x="4946904" y="1353312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140817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-17.3%</a:t>
            </a:r>
            <a:endParaRPr lang="en-US" sz="590" dirty="0"/>
          </a:p>
        </p:txBody>
      </p:sp>
      <p:sp>
        <p:nvSpPr>
          <p:cNvPr id="36" name="Shape 34"/>
          <p:cNvSpPr/>
          <p:nvPr/>
        </p:nvSpPr>
        <p:spPr>
          <a:xfrm>
            <a:off x="5872277" y="1353312"/>
            <a:ext cx="115671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08853" y="1408176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90" dirty="0"/>
          </a:p>
        </p:txBody>
      </p:sp>
      <p:sp>
        <p:nvSpPr>
          <p:cNvPr id="38" name="Shape 36"/>
          <p:cNvSpPr/>
          <p:nvPr/>
        </p:nvSpPr>
        <p:spPr>
          <a:xfrm>
            <a:off x="7028993" y="1353312"/>
            <a:ext cx="2544775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65569" y="1408176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| 19.4%</a:t>
            </a:r>
            <a:endParaRPr lang="en-US" sz="590" dirty="0"/>
          </a:p>
        </p:txBody>
      </p:sp>
      <p:sp>
        <p:nvSpPr>
          <p:cNvPr id="40" name="Shape 38"/>
          <p:cNvSpPr/>
          <p:nvPr/>
        </p:nvSpPr>
        <p:spPr>
          <a:xfrm>
            <a:off x="9573768" y="1353312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10344" y="140817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2,302</a:t>
            </a:r>
            <a:endParaRPr lang="en-US" sz="590" dirty="0"/>
          </a:p>
        </p:txBody>
      </p:sp>
      <p:sp>
        <p:nvSpPr>
          <p:cNvPr id="42" name="Shape 40"/>
          <p:cNvSpPr/>
          <p:nvPr/>
        </p:nvSpPr>
        <p:spPr>
          <a:xfrm>
            <a:off x="10499141" y="1353312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535717" y="140817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6,493</a:t>
            </a:r>
            <a:endParaRPr lang="en-US" sz="590" dirty="0"/>
          </a:p>
        </p:txBody>
      </p:sp>
      <p:sp>
        <p:nvSpPr>
          <p:cNvPr id="44" name="Shape 42"/>
          <p:cNvSpPr/>
          <p:nvPr/>
        </p:nvSpPr>
        <p:spPr>
          <a:xfrm>
            <a:off x="11424514" y="1353312"/>
            <a:ext cx="46268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461090" y="1408176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KPI gap</a:t>
            </a:r>
            <a:endParaRPr lang="en-US" sz="590" dirty="0"/>
          </a:p>
        </p:txBody>
      </p:sp>
      <p:sp>
        <p:nvSpPr>
          <p:cNvPr id="46" name="Shape 44"/>
          <p:cNvSpPr/>
          <p:nvPr/>
        </p:nvSpPr>
        <p:spPr>
          <a:xfrm>
            <a:off x="320040" y="1682496"/>
            <a:ext cx="1966417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56616" y="1737360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590" dirty="0"/>
          </a:p>
        </p:txBody>
      </p:sp>
      <p:sp>
        <p:nvSpPr>
          <p:cNvPr id="48" name="Shape 46"/>
          <p:cNvSpPr/>
          <p:nvPr/>
        </p:nvSpPr>
        <p:spPr>
          <a:xfrm>
            <a:off x="2286457" y="1682496"/>
            <a:ext cx="1735074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23033" y="1737360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590" dirty="0"/>
          </a:p>
        </p:txBody>
      </p:sp>
      <p:sp>
        <p:nvSpPr>
          <p:cNvPr id="50" name="Shape 48"/>
          <p:cNvSpPr/>
          <p:nvPr/>
        </p:nvSpPr>
        <p:spPr>
          <a:xfrm>
            <a:off x="4021531" y="1682496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058107" y="173736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590" dirty="0"/>
          </a:p>
        </p:txBody>
      </p:sp>
      <p:sp>
        <p:nvSpPr>
          <p:cNvPr id="52" name="Shape 50"/>
          <p:cNvSpPr/>
          <p:nvPr/>
        </p:nvSpPr>
        <p:spPr>
          <a:xfrm>
            <a:off x="4946904" y="1682496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83480" y="173736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590" dirty="0"/>
          </a:p>
        </p:txBody>
      </p:sp>
      <p:sp>
        <p:nvSpPr>
          <p:cNvPr id="54" name="Shape 52"/>
          <p:cNvSpPr/>
          <p:nvPr/>
        </p:nvSpPr>
        <p:spPr>
          <a:xfrm>
            <a:off x="5872277" y="1682496"/>
            <a:ext cx="115671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908853" y="1737360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90" dirty="0"/>
          </a:p>
        </p:txBody>
      </p:sp>
      <p:sp>
        <p:nvSpPr>
          <p:cNvPr id="56" name="Shape 54"/>
          <p:cNvSpPr/>
          <p:nvPr/>
        </p:nvSpPr>
        <p:spPr>
          <a:xfrm>
            <a:off x="7028993" y="1682496"/>
            <a:ext cx="2544775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065569" y="1737360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| 24.1%</a:t>
            </a:r>
            <a:endParaRPr lang="en-US" sz="590" dirty="0"/>
          </a:p>
        </p:txBody>
      </p:sp>
      <p:sp>
        <p:nvSpPr>
          <p:cNvPr id="58" name="Shape 56"/>
          <p:cNvSpPr/>
          <p:nvPr/>
        </p:nvSpPr>
        <p:spPr>
          <a:xfrm>
            <a:off x="9573768" y="1682496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610344" y="173736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9.0%</a:t>
            </a:r>
            <a:endParaRPr lang="en-US" sz="590" dirty="0"/>
          </a:p>
        </p:txBody>
      </p:sp>
      <p:sp>
        <p:nvSpPr>
          <p:cNvPr id="60" name="Shape 58"/>
          <p:cNvSpPr/>
          <p:nvPr/>
        </p:nvSpPr>
        <p:spPr>
          <a:xfrm>
            <a:off x="10499141" y="1682496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535717" y="173736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46.0%</a:t>
            </a:r>
            <a:endParaRPr lang="en-US" sz="590" dirty="0"/>
          </a:p>
        </p:txBody>
      </p:sp>
      <p:sp>
        <p:nvSpPr>
          <p:cNvPr id="62" name="Shape 60"/>
          <p:cNvSpPr/>
          <p:nvPr/>
        </p:nvSpPr>
        <p:spPr>
          <a:xfrm>
            <a:off x="11424514" y="1682496"/>
            <a:ext cx="46268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461090" y="1737360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KPI gap</a:t>
            </a:r>
            <a:endParaRPr lang="en-US" sz="590" dirty="0"/>
          </a:p>
        </p:txBody>
      </p:sp>
      <p:sp>
        <p:nvSpPr>
          <p:cNvPr id="64" name="Shape 62"/>
          <p:cNvSpPr/>
          <p:nvPr/>
        </p:nvSpPr>
        <p:spPr>
          <a:xfrm>
            <a:off x="320040" y="2011680"/>
            <a:ext cx="1966417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56616" y="2066544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590" dirty="0"/>
          </a:p>
        </p:txBody>
      </p:sp>
      <p:sp>
        <p:nvSpPr>
          <p:cNvPr id="66" name="Shape 64"/>
          <p:cNvSpPr/>
          <p:nvPr/>
        </p:nvSpPr>
        <p:spPr>
          <a:xfrm>
            <a:off x="2286457" y="2011680"/>
            <a:ext cx="1735074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323033" y="2066544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90" dirty="0"/>
          </a:p>
        </p:txBody>
      </p:sp>
      <p:sp>
        <p:nvSpPr>
          <p:cNvPr id="68" name="Shape 66"/>
          <p:cNvSpPr/>
          <p:nvPr/>
        </p:nvSpPr>
        <p:spPr>
          <a:xfrm>
            <a:off x="4021531" y="2011680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058107" y="2066544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590" dirty="0"/>
          </a:p>
        </p:txBody>
      </p:sp>
      <p:sp>
        <p:nvSpPr>
          <p:cNvPr id="70" name="Shape 68"/>
          <p:cNvSpPr/>
          <p:nvPr/>
        </p:nvSpPr>
        <p:spPr>
          <a:xfrm>
            <a:off x="4946904" y="2011680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983480" y="2066544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590" dirty="0"/>
          </a:p>
        </p:txBody>
      </p:sp>
      <p:sp>
        <p:nvSpPr>
          <p:cNvPr id="72" name="Shape 70"/>
          <p:cNvSpPr/>
          <p:nvPr/>
        </p:nvSpPr>
        <p:spPr>
          <a:xfrm>
            <a:off x="5872277" y="2011680"/>
            <a:ext cx="115671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908853" y="2066544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90" dirty="0"/>
          </a:p>
        </p:txBody>
      </p:sp>
      <p:sp>
        <p:nvSpPr>
          <p:cNvPr id="74" name="Shape 72"/>
          <p:cNvSpPr/>
          <p:nvPr/>
        </p:nvSpPr>
        <p:spPr>
          <a:xfrm>
            <a:off x="7028993" y="2011680"/>
            <a:ext cx="2544775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065569" y="2066544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| 24.0%</a:t>
            </a:r>
            <a:endParaRPr lang="en-US" sz="590" dirty="0"/>
          </a:p>
        </p:txBody>
      </p:sp>
      <p:sp>
        <p:nvSpPr>
          <p:cNvPr id="76" name="Shape 74"/>
          <p:cNvSpPr/>
          <p:nvPr/>
        </p:nvSpPr>
        <p:spPr>
          <a:xfrm>
            <a:off x="9573768" y="2011680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9610344" y="2066544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590" dirty="0"/>
          </a:p>
        </p:txBody>
      </p:sp>
      <p:sp>
        <p:nvSpPr>
          <p:cNvPr id="78" name="Shape 76"/>
          <p:cNvSpPr/>
          <p:nvPr/>
        </p:nvSpPr>
        <p:spPr>
          <a:xfrm>
            <a:off x="10499141" y="2011680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0535717" y="2066544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590" dirty="0"/>
          </a:p>
        </p:txBody>
      </p:sp>
      <p:sp>
        <p:nvSpPr>
          <p:cNvPr id="80" name="Shape 78"/>
          <p:cNvSpPr/>
          <p:nvPr/>
        </p:nvSpPr>
        <p:spPr>
          <a:xfrm>
            <a:off x="11424514" y="2011680"/>
            <a:ext cx="46268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1461090" y="2066544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KPI gap</a:t>
            </a:r>
            <a:endParaRPr lang="en-US" sz="590" dirty="0"/>
          </a:p>
        </p:txBody>
      </p:sp>
      <p:sp>
        <p:nvSpPr>
          <p:cNvPr id="82" name="Shape 80"/>
          <p:cNvSpPr/>
          <p:nvPr/>
        </p:nvSpPr>
        <p:spPr>
          <a:xfrm>
            <a:off x="320040" y="2340864"/>
            <a:ext cx="1966417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56616" y="2395728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590" dirty="0"/>
          </a:p>
        </p:txBody>
      </p:sp>
      <p:sp>
        <p:nvSpPr>
          <p:cNvPr id="84" name="Shape 82"/>
          <p:cNvSpPr/>
          <p:nvPr/>
        </p:nvSpPr>
        <p:spPr>
          <a:xfrm>
            <a:off x="2286457" y="2340864"/>
            <a:ext cx="1735074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323033" y="2395728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90" dirty="0"/>
          </a:p>
        </p:txBody>
      </p:sp>
      <p:sp>
        <p:nvSpPr>
          <p:cNvPr id="86" name="Shape 84"/>
          <p:cNvSpPr/>
          <p:nvPr/>
        </p:nvSpPr>
        <p:spPr>
          <a:xfrm>
            <a:off x="4021531" y="2340864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058107" y="2395728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590" dirty="0"/>
          </a:p>
        </p:txBody>
      </p:sp>
      <p:sp>
        <p:nvSpPr>
          <p:cNvPr id="88" name="Shape 86"/>
          <p:cNvSpPr/>
          <p:nvPr/>
        </p:nvSpPr>
        <p:spPr>
          <a:xfrm>
            <a:off x="4946904" y="2340864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983480" y="2395728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+5.6%</a:t>
            </a:r>
            <a:endParaRPr lang="en-US" sz="590" dirty="0"/>
          </a:p>
        </p:txBody>
      </p:sp>
      <p:sp>
        <p:nvSpPr>
          <p:cNvPr id="90" name="Shape 88"/>
          <p:cNvSpPr/>
          <p:nvPr/>
        </p:nvSpPr>
        <p:spPr>
          <a:xfrm>
            <a:off x="5872277" y="2340864"/>
            <a:ext cx="115671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5908853" y="2395728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90" dirty="0"/>
          </a:p>
        </p:txBody>
      </p:sp>
      <p:sp>
        <p:nvSpPr>
          <p:cNvPr id="92" name="Shape 90"/>
          <p:cNvSpPr/>
          <p:nvPr/>
        </p:nvSpPr>
        <p:spPr>
          <a:xfrm>
            <a:off x="7028993" y="2340864"/>
            <a:ext cx="2544775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065569" y="2395728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| 24.0%</a:t>
            </a:r>
            <a:endParaRPr lang="en-US" sz="590" dirty="0"/>
          </a:p>
        </p:txBody>
      </p:sp>
      <p:sp>
        <p:nvSpPr>
          <p:cNvPr id="94" name="Shape 92"/>
          <p:cNvSpPr/>
          <p:nvPr/>
        </p:nvSpPr>
        <p:spPr>
          <a:xfrm>
            <a:off x="9573768" y="2340864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9610344" y="2395728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590" dirty="0"/>
          </a:p>
        </p:txBody>
      </p:sp>
      <p:sp>
        <p:nvSpPr>
          <p:cNvPr id="96" name="Shape 94"/>
          <p:cNvSpPr/>
          <p:nvPr/>
        </p:nvSpPr>
        <p:spPr>
          <a:xfrm>
            <a:off x="10499141" y="2340864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10535717" y="2395728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590" dirty="0"/>
          </a:p>
        </p:txBody>
      </p:sp>
      <p:sp>
        <p:nvSpPr>
          <p:cNvPr id="98" name="Shape 96"/>
          <p:cNvSpPr/>
          <p:nvPr/>
        </p:nvSpPr>
        <p:spPr>
          <a:xfrm>
            <a:off x="11424514" y="2340864"/>
            <a:ext cx="46268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11461090" y="2395728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KPI gap</a:t>
            </a:r>
            <a:endParaRPr lang="en-US" sz="590" dirty="0"/>
          </a:p>
        </p:txBody>
      </p:sp>
      <p:sp>
        <p:nvSpPr>
          <p:cNvPr id="100" name="Shape 98"/>
          <p:cNvSpPr/>
          <p:nvPr/>
        </p:nvSpPr>
        <p:spPr>
          <a:xfrm>
            <a:off x="320040" y="2670048"/>
            <a:ext cx="1966417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356616" y="2724912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590" dirty="0"/>
          </a:p>
        </p:txBody>
      </p:sp>
      <p:sp>
        <p:nvSpPr>
          <p:cNvPr id="102" name="Shape 100"/>
          <p:cNvSpPr/>
          <p:nvPr/>
        </p:nvSpPr>
        <p:spPr>
          <a:xfrm>
            <a:off x="2286457" y="2670048"/>
            <a:ext cx="1735074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2323033" y="2724912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590" dirty="0"/>
          </a:p>
        </p:txBody>
      </p:sp>
      <p:sp>
        <p:nvSpPr>
          <p:cNvPr id="104" name="Shape 102"/>
          <p:cNvSpPr/>
          <p:nvPr/>
        </p:nvSpPr>
        <p:spPr>
          <a:xfrm>
            <a:off x="4021531" y="2670048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4058107" y="2724912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590" dirty="0"/>
          </a:p>
        </p:txBody>
      </p:sp>
      <p:sp>
        <p:nvSpPr>
          <p:cNvPr id="106" name="Shape 104"/>
          <p:cNvSpPr/>
          <p:nvPr/>
        </p:nvSpPr>
        <p:spPr>
          <a:xfrm>
            <a:off x="4946904" y="2670048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983480" y="2724912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-10.0%</a:t>
            </a:r>
            <a:endParaRPr lang="en-US" sz="590" dirty="0"/>
          </a:p>
        </p:txBody>
      </p:sp>
      <p:sp>
        <p:nvSpPr>
          <p:cNvPr id="108" name="Shape 106"/>
          <p:cNvSpPr/>
          <p:nvPr/>
        </p:nvSpPr>
        <p:spPr>
          <a:xfrm>
            <a:off x="5872277" y="2670048"/>
            <a:ext cx="115671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5908853" y="2724912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D53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ACTION</a:t>
            </a:r>
            <a:endParaRPr lang="en-US" sz="590" dirty="0"/>
          </a:p>
        </p:txBody>
      </p:sp>
      <p:sp>
        <p:nvSpPr>
          <p:cNvPr id="110" name="Shape 108"/>
          <p:cNvSpPr/>
          <p:nvPr/>
        </p:nvSpPr>
        <p:spPr>
          <a:xfrm>
            <a:off x="7028993" y="2670048"/>
            <a:ext cx="2544775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7065569" y="2724912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 | 12.5%</a:t>
            </a:r>
            <a:endParaRPr lang="en-US" sz="590" dirty="0"/>
          </a:p>
        </p:txBody>
      </p:sp>
      <p:sp>
        <p:nvSpPr>
          <p:cNvPr id="112" name="Shape 110"/>
          <p:cNvSpPr/>
          <p:nvPr/>
        </p:nvSpPr>
        <p:spPr>
          <a:xfrm>
            <a:off x="9573768" y="2670048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9610344" y="2724912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590" dirty="0"/>
          </a:p>
        </p:txBody>
      </p:sp>
      <p:sp>
        <p:nvSpPr>
          <p:cNvPr id="114" name="Shape 112"/>
          <p:cNvSpPr/>
          <p:nvPr/>
        </p:nvSpPr>
        <p:spPr>
          <a:xfrm>
            <a:off x="10499141" y="2670048"/>
            <a:ext cx="925373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0535717" y="2724912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590" dirty="0"/>
          </a:p>
        </p:txBody>
      </p:sp>
      <p:sp>
        <p:nvSpPr>
          <p:cNvPr id="116" name="Shape 114"/>
          <p:cNvSpPr/>
          <p:nvPr/>
        </p:nvSpPr>
        <p:spPr>
          <a:xfrm>
            <a:off x="11424514" y="2670048"/>
            <a:ext cx="462686" cy="329184"/>
          </a:xfrm>
          <a:prstGeom prst="rect">
            <a:avLst/>
          </a:prstGeom>
          <a:solidFill>
            <a:srgbClr val="FBE8EA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11461090" y="2724912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KPI gap</a:t>
            </a:r>
            <a:endParaRPr lang="en-US" sz="590" dirty="0"/>
          </a:p>
        </p:txBody>
      </p:sp>
      <p:sp>
        <p:nvSpPr>
          <p:cNvPr id="118" name="Shape 116"/>
          <p:cNvSpPr/>
          <p:nvPr/>
        </p:nvSpPr>
        <p:spPr>
          <a:xfrm>
            <a:off x="320040" y="2999232"/>
            <a:ext cx="1966417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356616" y="3054096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590" dirty="0"/>
          </a:p>
        </p:txBody>
      </p:sp>
      <p:sp>
        <p:nvSpPr>
          <p:cNvPr id="120" name="Shape 118"/>
          <p:cNvSpPr/>
          <p:nvPr/>
        </p:nvSpPr>
        <p:spPr>
          <a:xfrm>
            <a:off x="2286457" y="2999232"/>
            <a:ext cx="1735074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2323033" y="3054096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590" dirty="0"/>
          </a:p>
        </p:txBody>
      </p:sp>
      <p:sp>
        <p:nvSpPr>
          <p:cNvPr id="122" name="Shape 120"/>
          <p:cNvSpPr/>
          <p:nvPr/>
        </p:nvSpPr>
        <p:spPr>
          <a:xfrm>
            <a:off x="4021531" y="2999232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058107" y="305409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590" dirty="0"/>
          </a:p>
        </p:txBody>
      </p:sp>
      <p:sp>
        <p:nvSpPr>
          <p:cNvPr id="124" name="Shape 122"/>
          <p:cNvSpPr/>
          <p:nvPr/>
        </p:nvSpPr>
        <p:spPr>
          <a:xfrm>
            <a:off x="4946904" y="2999232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4983480" y="305409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+6.8%</a:t>
            </a:r>
            <a:endParaRPr lang="en-US" sz="590" dirty="0"/>
          </a:p>
        </p:txBody>
      </p:sp>
      <p:sp>
        <p:nvSpPr>
          <p:cNvPr id="126" name="Shape 124"/>
          <p:cNvSpPr/>
          <p:nvPr/>
        </p:nvSpPr>
        <p:spPr>
          <a:xfrm>
            <a:off x="5872277" y="2999232"/>
            <a:ext cx="1156716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5908853" y="3054096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E2A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590" dirty="0"/>
          </a:p>
        </p:txBody>
      </p:sp>
      <p:sp>
        <p:nvSpPr>
          <p:cNvPr id="128" name="Shape 126"/>
          <p:cNvSpPr/>
          <p:nvPr/>
        </p:nvSpPr>
        <p:spPr>
          <a:xfrm>
            <a:off x="7028993" y="2999232"/>
            <a:ext cx="2544775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7065569" y="3054096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| 9.0%</a:t>
            </a:r>
            <a:endParaRPr lang="en-US" sz="590" dirty="0"/>
          </a:p>
        </p:txBody>
      </p:sp>
      <p:sp>
        <p:nvSpPr>
          <p:cNvPr id="130" name="Shape 128"/>
          <p:cNvSpPr/>
          <p:nvPr/>
        </p:nvSpPr>
        <p:spPr>
          <a:xfrm>
            <a:off x="9573768" y="2999232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9610344" y="305409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590" dirty="0"/>
          </a:p>
        </p:txBody>
      </p:sp>
      <p:sp>
        <p:nvSpPr>
          <p:cNvPr id="132" name="Shape 130"/>
          <p:cNvSpPr/>
          <p:nvPr/>
        </p:nvSpPr>
        <p:spPr>
          <a:xfrm>
            <a:off x="10499141" y="2999232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10535717" y="305409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590" dirty="0"/>
          </a:p>
        </p:txBody>
      </p:sp>
      <p:sp>
        <p:nvSpPr>
          <p:cNvPr id="134" name="Shape 132"/>
          <p:cNvSpPr/>
          <p:nvPr/>
        </p:nvSpPr>
        <p:spPr>
          <a:xfrm>
            <a:off x="11424514" y="2999232"/>
            <a:ext cx="462686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11461090" y="3054096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590" dirty="0"/>
          </a:p>
        </p:txBody>
      </p:sp>
      <p:sp>
        <p:nvSpPr>
          <p:cNvPr id="136" name="Shape 134"/>
          <p:cNvSpPr/>
          <p:nvPr/>
        </p:nvSpPr>
        <p:spPr>
          <a:xfrm>
            <a:off x="320040" y="3328416"/>
            <a:ext cx="1966417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56616" y="3383280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Mohamed Shehata</a:t>
            </a:r>
            <a:endParaRPr lang="en-US" sz="590" dirty="0"/>
          </a:p>
        </p:txBody>
      </p:sp>
      <p:sp>
        <p:nvSpPr>
          <p:cNvPr id="138" name="Shape 136"/>
          <p:cNvSpPr/>
          <p:nvPr/>
        </p:nvSpPr>
        <p:spPr>
          <a:xfrm>
            <a:off x="2286457" y="3328416"/>
            <a:ext cx="1735074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2323033" y="3383280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 &amp; SEO Manager</a:t>
            </a:r>
            <a:endParaRPr lang="en-US" sz="590" dirty="0"/>
          </a:p>
        </p:txBody>
      </p:sp>
      <p:sp>
        <p:nvSpPr>
          <p:cNvPr id="140" name="Shape 138"/>
          <p:cNvSpPr/>
          <p:nvPr/>
        </p:nvSpPr>
        <p:spPr>
          <a:xfrm>
            <a:off x="4021531" y="3328416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4058107" y="338328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590" dirty="0"/>
          </a:p>
        </p:txBody>
      </p:sp>
      <p:sp>
        <p:nvSpPr>
          <p:cNvPr id="142" name="Shape 140"/>
          <p:cNvSpPr/>
          <p:nvPr/>
        </p:nvSpPr>
        <p:spPr>
          <a:xfrm>
            <a:off x="4946904" y="3328416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4983480" y="338328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+0.5%</a:t>
            </a:r>
            <a:endParaRPr lang="en-US" sz="590" dirty="0"/>
          </a:p>
        </p:txBody>
      </p:sp>
      <p:sp>
        <p:nvSpPr>
          <p:cNvPr id="144" name="Shape 142"/>
          <p:cNvSpPr/>
          <p:nvPr/>
        </p:nvSpPr>
        <p:spPr>
          <a:xfrm>
            <a:off x="5872277" y="3328416"/>
            <a:ext cx="1156716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5908853" y="3383280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590" dirty="0"/>
          </a:p>
        </p:txBody>
      </p:sp>
      <p:sp>
        <p:nvSpPr>
          <p:cNvPr id="146" name="Shape 144"/>
          <p:cNvSpPr/>
          <p:nvPr/>
        </p:nvSpPr>
        <p:spPr>
          <a:xfrm>
            <a:off x="7028993" y="3328416"/>
            <a:ext cx="2544775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7065569" y="3383280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Compliance | 2.3%</a:t>
            </a:r>
            <a:endParaRPr lang="en-US" sz="590" dirty="0"/>
          </a:p>
        </p:txBody>
      </p:sp>
      <p:sp>
        <p:nvSpPr>
          <p:cNvPr id="148" name="Shape 146"/>
          <p:cNvSpPr/>
          <p:nvPr/>
        </p:nvSpPr>
        <p:spPr>
          <a:xfrm>
            <a:off x="9573768" y="3328416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9610344" y="338328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69.4%</a:t>
            </a:r>
            <a:endParaRPr lang="en-US" sz="590" dirty="0"/>
          </a:p>
        </p:txBody>
      </p:sp>
      <p:sp>
        <p:nvSpPr>
          <p:cNvPr id="150" name="Shape 148"/>
          <p:cNvSpPr/>
          <p:nvPr/>
        </p:nvSpPr>
        <p:spPr>
          <a:xfrm>
            <a:off x="10499141" y="3328416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10535717" y="338328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90.0%</a:t>
            </a:r>
            <a:endParaRPr lang="en-US" sz="590" dirty="0"/>
          </a:p>
        </p:txBody>
      </p:sp>
      <p:sp>
        <p:nvSpPr>
          <p:cNvPr id="152" name="Shape 150"/>
          <p:cNvSpPr/>
          <p:nvPr/>
        </p:nvSpPr>
        <p:spPr>
          <a:xfrm>
            <a:off x="11424514" y="3328416"/>
            <a:ext cx="462686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11461090" y="3383280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590" dirty="0"/>
          </a:p>
        </p:txBody>
      </p:sp>
      <p:sp>
        <p:nvSpPr>
          <p:cNvPr id="154" name="Shape 152"/>
          <p:cNvSpPr/>
          <p:nvPr/>
        </p:nvSpPr>
        <p:spPr>
          <a:xfrm>
            <a:off x="320040" y="3657600"/>
            <a:ext cx="1966417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356616" y="3712464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 Mohamed</a:t>
            </a:r>
            <a:endParaRPr lang="en-US" sz="590" dirty="0"/>
          </a:p>
        </p:txBody>
      </p:sp>
      <p:sp>
        <p:nvSpPr>
          <p:cNvPr id="156" name="Shape 154"/>
          <p:cNvSpPr/>
          <p:nvPr/>
        </p:nvSpPr>
        <p:spPr>
          <a:xfrm>
            <a:off x="2286457" y="3657600"/>
            <a:ext cx="1735074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2323033" y="3712464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590" dirty="0"/>
          </a:p>
        </p:txBody>
      </p:sp>
      <p:sp>
        <p:nvSpPr>
          <p:cNvPr id="158" name="Shape 156"/>
          <p:cNvSpPr/>
          <p:nvPr/>
        </p:nvSpPr>
        <p:spPr>
          <a:xfrm>
            <a:off x="4021531" y="3657600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4058107" y="3712464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590" dirty="0"/>
          </a:p>
        </p:txBody>
      </p:sp>
      <p:sp>
        <p:nvSpPr>
          <p:cNvPr id="160" name="Shape 158"/>
          <p:cNvSpPr/>
          <p:nvPr/>
        </p:nvSpPr>
        <p:spPr>
          <a:xfrm>
            <a:off x="4946904" y="3657600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4983480" y="3712464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+0.0%</a:t>
            </a:r>
            <a:endParaRPr lang="en-US" sz="590" dirty="0"/>
          </a:p>
        </p:txBody>
      </p:sp>
      <p:sp>
        <p:nvSpPr>
          <p:cNvPr id="162" name="Shape 160"/>
          <p:cNvSpPr/>
          <p:nvPr/>
        </p:nvSpPr>
        <p:spPr>
          <a:xfrm>
            <a:off x="5872277" y="3657600"/>
            <a:ext cx="1156716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5908853" y="3712464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590" dirty="0"/>
          </a:p>
        </p:txBody>
      </p:sp>
      <p:sp>
        <p:nvSpPr>
          <p:cNvPr id="164" name="Shape 162"/>
          <p:cNvSpPr/>
          <p:nvPr/>
        </p:nvSpPr>
        <p:spPr>
          <a:xfrm>
            <a:off x="7028993" y="3657600"/>
            <a:ext cx="2544775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7065569" y="3712464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Edits Rate | 4.5%</a:t>
            </a:r>
            <a:endParaRPr lang="en-US" sz="590" dirty="0"/>
          </a:p>
        </p:txBody>
      </p:sp>
      <p:sp>
        <p:nvSpPr>
          <p:cNvPr id="166" name="Shape 164"/>
          <p:cNvSpPr/>
          <p:nvPr/>
        </p:nvSpPr>
        <p:spPr>
          <a:xfrm>
            <a:off x="9573768" y="3657600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9610344" y="3712464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10.0%</a:t>
            </a:r>
            <a:endParaRPr lang="en-US" sz="590" dirty="0"/>
          </a:p>
        </p:txBody>
      </p:sp>
      <p:sp>
        <p:nvSpPr>
          <p:cNvPr id="168" name="Shape 166"/>
          <p:cNvSpPr/>
          <p:nvPr/>
        </p:nvSpPr>
        <p:spPr>
          <a:xfrm>
            <a:off x="10499141" y="3657600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10535717" y="3712464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590" dirty="0"/>
          </a:p>
        </p:txBody>
      </p:sp>
      <p:sp>
        <p:nvSpPr>
          <p:cNvPr id="170" name="Shape 168"/>
          <p:cNvSpPr/>
          <p:nvPr/>
        </p:nvSpPr>
        <p:spPr>
          <a:xfrm>
            <a:off x="11424514" y="3657600"/>
            <a:ext cx="462686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11461090" y="3712464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590" dirty="0"/>
          </a:p>
        </p:txBody>
      </p:sp>
      <p:sp>
        <p:nvSpPr>
          <p:cNvPr id="172" name="Shape 170"/>
          <p:cNvSpPr/>
          <p:nvPr/>
        </p:nvSpPr>
        <p:spPr>
          <a:xfrm>
            <a:off x="320040" y="3986784"/>
            <a:ext cx="1966417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356616" y="4041648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Abdelmegid Diab</a:t>
            </a:r>
            <a:endParaRPr lang="en-US" sz="590" dirty="0"/>
          </a:p>
        </p:txBody>
      </p:sp>
      <p:sp>
        <p:nvSpPr>
          <p:cNvPr id="174" name="Shape 172"/>
          <p:cNvSpPr/>
          <p:nvPr/>
        </p:nvSpPr>
        <p:spPr>
          <a:xfrm>
            <a:off x="2286457" y="3986784"/>
            <a:ext cx="1735074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2323033" y="4041648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590" dirty="0"/>
          </a:p>
        </p:txBody>
      </p:sp>
      <p:sp>
        <p:nvSpPr>
          <p:cNvPr id="176" name="Shape 174"/>
          <p:cNvSpPr/>
          <p:nvPr/>
        </p:nvSpPr>
        <p:spPr>
          <a:xfrm>
            <a:off x="4021531" y="3986784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4058107" y="4041648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590" dirty="0"/>
          </a:p>
        </p:txBody>
      </p:sp>
      <p:sp>
        <p:nvSpPr>
          <p:cNvPr id="178" name="Shape 176"/>
          <p:cNvSpPr/>
          <p:nvPr/>
        </p:nvSpPr>
        <p:spPr>
          <a:xfrm>
            <a:off x="4946904" y="3986784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4983480" y="4041648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+2.7%</a:t>
            </a:r>
            <a:endParaRPr lang="en-US" sz="590" dirty="0"/>
          </a:p>
        </p:txBody>
      </p:sp>
      <p:sp>
        <p:nvSpPr>
          <p:cNvPr id="180" name="Shape 178"/>
          <p:cNvSpPr/>
          <p:nvPr/>
        </p:nvSpPr>
        <p:spPr>
          <a:xfrm>
            <a:off x="5872277" y="3986784"/>
            <a:ext cx="1156716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179"/>
          <p:cNvSpPr/>
          <p:nvPr/>
        </p:nvSpPr>
        <p:spPr>
          <a:xfrm>
            <a:off x="5908853" y="4041648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590" dirty="0"/>
          </a:p>
        </p:txBody>
      </p:sp>
      <p:sp>
        <p:nvSpPr>
          <p:cNvPr id="182" name="Shape 180"/>
          <p:cNvSpPr/>
          <p:nvPr/>
        </p:nvSpPr>
        <p:spPr>
          <a:xfrm>
            <a:off x="7028993" y="3986784"/>
            <a:ext cx="2544775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181"/>
          <p:cNvSpPr/>
          <p:nvPr/>
        </p:nvSpPr>
        <p:spPr>
          <a:xfrm>
            <a:off x="7065569" y="4041648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training &amp; develop… | 1.5%</a:t>
            </a:r>
            <a:endParaRPr lang="en-US" sz="590" dirty="0"/>
          </a:p>
        </p:txBody>
      </p:sp>
      <p:sp>
        <p:nvSpPr>
          <p:cNvPr id="184" name="Shape 182"/>
          <p:cNvSpPr/>
          <p:nvPr/>
        </p:nvSpPr>
        <p:spPr>
          <a:xfrm>
            <a:off x="9573768" y="3986784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183"/>
          <p:cNvSpPr/>
          <p:nvPr/>
        </p:nvSpPr>
        <p:spPr>
          <a:xfrm>
            <a:off x="9610344" y="4041648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</a:t>
            </a:r>
            <a:endParaRPr lang="en-US" sz="590" dirty="0"/>
          </a:p>
        </p:txBody>
      </p:sp>
      <p:sp>
        <p:nvSpPr>
          <p:cNvPr id="186" name="Shape 184"/>
          <p:cNvSpPr/>
          <p:nvPr/>
        </p:nvSpPr>
        <p:spPr>
          <a:xfrm>
            <a:off x="10499141" y="3986784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85"/>
          <p:cNvSpPr/>
          <p:nvPr/>
        </p:nvSpPr>
        <p:spPr>
          <a:xfrm>
            <a:off x="10535717" y="4041648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90" dirty="0"/>
          </a:p>
        </p:txBody>
      </p:sp>
      <p:sp>
        <p:nvSpPr>
          <p:cNvPr id="188" name="Shape 186"/>
          <p:cNvSpPr/>
          <p:nvPr/>
        </p:nvSpPr>
        <p:spPr>
          <a:xfrm>
            <a:off x="11424514" y="3986784"/>
            <a:ext cx="462686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Text 187"/>
          <p:cNvSpPr/>
          <p:nvPr/>
        </p:nvSpPr>
        <p:spPr>
          <a:xfrm>
            <a:off x="11461090" y="4041648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590" dirty="0"/>
          </a:p>
        </p:txBody>
      </p:sp>
      <p:sp>
        <p:nvSpPr>
          <p:cNvPr id="190" name="Shape 188"/>
          <p:cNvSpPr/>
          <p:nvPr/>
        </p:nvSpPr>
        <p:spPr>
          <a:xfrm>
            <a:off x="320040" y="4315968"/>
            <a:ext cx="1966417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89"/>
          <p:cNvSpPr/>
          <p:nvPr/>
        </p:nvSpPr>
        <p:spPr>
          <a:xfrm>
            <a:off x="356616" y="4370832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Nourshan</a:t>
            </a:r>
            <a:endParaRPr lang="en-US" sz="590" dirty="0"/>
          </a:p>
        </p:txBody>
      </p:sp>
      <p:sp>
        <p:nvSpPr>
          <p:cNvPr id="192" name="Shape 190"/>
          <p:cNvSpPr/>
          <p:nvPr/>
        </p:nvSpPr>
        <p:spPr>
          <a:xfrm>
            <a:off x="2286457" y="4315968"/>
            <a:ext cx="1735074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191"/>
          <p:cNvSpPr/>
          <p:nvPr/>
        </p:nvSpPr>
        <p:spPr>
          <a:xfrm>
            <a:off x="2323033" y="4370832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590" dirty="0"/>
          </a:p>
        </p:txBody>
      </p:sp>
      <p:sp>
        <p:nvSpPr>
          <p:cNvPr id="194" name="Shape 192"/>
          <p:cNvSpPr/>
          <p:nvPr/>
        </p:nvSpPr>
        <p:spPr>
          <a:xfrm>
            <a:off x="4021531" y="4315968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193"/>
          <p:cNvSpPr/>
          <p:nvPr/>
        </p:nvSpPr>
        <p:spPr>
          <a:xfrm>
            <a:off x="4058107" y="4370832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590" dirty="0"/>
          </a:p>
        </p:txBody>
      </p:sp>
      <p:sp>
        <p:nvSpPr>
          <p:cNvPr id="196" name="Shape 194"/>
          <p:cNvSpPr/>
          <p:nvPr/>
        </p:nvSpPr>
        <p:spPr>
          <a:xfrm>
            <a:off x="4946904" y="4315968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195"/>
          <p:cNvSpPr/>
          <p:nvPr/>
        </p:nvSpPr>
        <p:spPr>
          <a:xfrm>
            <a:off x="4983480" y="4370832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6B7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590" dirty="0"/>
          </a:p>
        </p:txBody>
      </p:sp>
      <p:sp>
        <p:nvSpPr>
          <p:cNvPr id="198" name="Shape 196"/>
          <p:cNvSpPr/>
          <p:nvPr/>
        </p:nvSpPr>
        <p:spPr>
          <a:xfrm>
            <a:off x="5872277" y="4315968"/>
            <a:ext cx="1156716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197"/>
          <p:cNvSpPr/>
          <p:nvPr/>
        </p:nvSpPr>
        <p:spPr>
          <a:xfrm>
            <a:off x="5908853" y="4370832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590" dirty="0"/>
          </a:p>
        </p:txBody>
      </p:sp>
      <p:sp>
        <p:nvSpPr>
          <p:cNvPr id="200" name="Shape 198"/>
          <p:cNvSpPr/>
          <p:nvPr/>
        </p:nvSpPr>
        <p:spPr>
          <a:xfrm>
            <a:off x="7028993" y="4315968"/>
            <a:ext cx="2544775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199"/>
          <p:cNvSpPr/>
          <p:nvPr/>
        </p:nvSpPr>
        <p:spPr>
          <a:xfrm>
            <a:off x="7065569" y="4370832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traffic from co… | 1.3%</a:t>
            </a:r>
            <a:endParaRPr lang="en-US" sz="590" dirty="0"/>
          </a:p>
        </p:txBody>
      </p:sp>
      <p:sp>
        <p:nvSpPr>
          <p:cNvPr id="202" name="Shape 200"/>
          <p:cNvSpPr/>
          <p:nvPr/>
        </p:nvSpPr>
        <p:spPr>
          <a:xfrm>
            <a:off x="9573768" y="4315968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Text 201"/>
          <p:cNvSpPr/>
          <p:nvPr/>
        </p:nvSpPr>
        <p:spPr>
          <a:xfrm>
            <a:off x="9610344" y="4370832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</a:t>
            </a:r>
            <a:endParaRPr lang="en-US" sz="590" dirty="0"/>
          </a:p>
        </p:txBody>
      </p:sp>
      <p:sp>
        <p:nvSpPr>
          <p:cNvPr id="204" name="Shape 202"/>
          <p:cNvSpPr/>
          <p:nvPr/>
        </p:nvSpPr>
        <p:spPr>
          <a:xfrm>
            <a:off x="10499141" y="4315968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Text 203"/>
          <p:cNvSpPr/>
          <p:nvPr/>
        </p:nvSpPr>
        <p:spPr>
          <a:xfrm>
            <a:off x="10535717" y="4370832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</a:t>
            </a:r>
            <a:endParaRPr lang="en-US" sz="590" dirty="0"/>
          </a:p>
        </p:txBody>
      </p:sp>
      <p:sp>
        <p:nvSpPr>
          <p:cNvPr id="206" name="Shape 204"/>
          <p:cNvSpPr/>
          <p:nvPr/>
        </p:nvSpPr>
        <p:spPr>
          <a:xfrm>
            <a:off x="11424514" y="4315968"/>
            <a:ext cx="462686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205"/>
          <p:cNvSpPr/>
          <p:nvPr/>
        </p:nvSpPr>
        <p:spPr>
          <a:xfrm>
            <a:off x="11461090" y="4370832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590" dirty="0"/>
          </a:p>
        </p:txBody>
      </p:sp>
      <p:sp>
        <p:nvSpPr>
          <p:cNvPr id="208" name="Shape 206"/>
          <p:cNvSpPr/>
          <p:nvPr/>
        </p:nvSpPr>
        <p:spPr>
          <a:xfrm>
            <a:off x="320040" y="4645152"/>
            <a:ext cx="1966417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207"/>
          <p:cNvSpPr/>
          <p:nvPr/>
        </p:nvSpPr>
        <p:spPr>
          <a:xfrm>
            <a:off x="356616" y="4700016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 Samir</a:t>
            </a:r>
            <a:endParaRPr lang="en-US" sz="590" dirty="0"/>
          </a:p>
        </p:txBody>
      </p:sp>
      <p:sp>
        <p:nvSpPr>
          <p:cNvPr id="210" name="Shape 208"/>
          <p:cNvSpPr/>
          <p:nvPr/>
        </p:nvSpPr>
        <p:spPr>
          <a:xfrm>
            <a:off x="2286457" y="4645152"/>
            <a:ext cx="1735074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Text 209"/>
          <p:cNvSpPr/>
          <p:nvPr/>
        </p:nvSpPr>
        <p:spPr>
          <a:xfrm>
            <a:off x="2323033" y="4700016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590" dirty="0"/>
          </a:p>
        </p:txBody>
      </p:sp>
      <p:sp>
        <p:nvSpPr>
          <p:cNvPr id="212" name="Shape 210"/>
          <p:cNvSpPr/>
          <p:nvPr/>
        </p:nvSpPr>
        <p:spPr>
          <a:xfrm>
            <a:off x="4021531" y="4645152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>
            <a:off x="4058107" y="470001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590" dirty="0"/>
          </a:p>
        </p:txBody>
      </p:sp>
      <p:sp>
        <p:nvSpPr>
          <p:cNvPr id="214" name="Shape 212"/>
          <p:cNvSpPr/>
          <p:nvPr/>
        </p:nvSpPr>
        <p:spPr>
          <a:xfrm>
            <a:off x="4946904" y="4645152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213"/>
          <p:cNvSpPr/>
          <p:nvPr/>
        </p:nvSpPr>
        <p:spPr>
          <a:xfrm>
            <a:off x="4983480" y="470001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+3.1%</a:t>
            </a:r>
            <a:endParaRPr lang="en-US" sz="590" dirty="0"/>
          </a:p>
        </p:txBody>
      </p:sp>
      <p:sp>
        <p:nvSpPr>
          <p:cNvPr id="216" name="Shape 214"/>
          <p:cNvSpPr/>
          <p:nvPr/>
        </p:nvSpPr>
        <p:spPr>
          <a:xfrm>
            <a:off x="5872277" y="4645152"/>
            <a:ext cx="1156716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215"/>
          <p:cNvSpPr/>
          <p:nvPr/>
        </p:nvSpPr>
        <p:spPr>
          <a:xfrm>
            <a:off x="5908853" y="4700016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590" dirty="0"/>
          </a:p>
        </p:txBody>
      </p:sp>
      <p:sp>
        <p:nvSpPr>
          <p:cNvPr id="218" name="Shape 216"/>
          <p:cNvSpPr/>
          <p:nvPr/>
        </p:nvSpPr>
        <p:spPr>
          <a:xfrm>
            <a:off x="7028993" y="4645152"/>
            <a:ext cx="2544775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Text 217"/>
          <p:cNvSpPr/>
          <p:nvPr/>
        </p:nvSpPr>
        <p:spPr>
          <a:xfrm>
            <a:off x="7065569" y="4700016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 Ontime | 2.4%</a:t>
            </a:r>
            <a:endParaRPr lang="en-US" sz="590" dirty="0"/>
          </a:p>
        </p:txBody>
      </p:sp>
      <p:sp>
        <p:nvSpPr>
          <p:cNvPr id="220" name="Shape 218"/>
          <p:cNvSpPr/>
          <p:nvPr/>
        </p:nvSpPr>
        <p:spPr>
          <a:xfrm>
            <a:off x="9573768" y="4645152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219"/>
          <p:cNvSpPr/>
          <p:nvPr/>
        </p:nvSpPr>
        <p:spPr>
          <a:xfrm>
            <a:off x="9610344" y="470001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0.852941 min</a:t>
            </a:r>
            <a:endParaRPr lang="en-US" sz="590" dirty="0"/>
          </a:p>
        </p:txBody>
      </p:sp>
      <p:sp>
        <p:nvSpPr>
          <p:cNvPr id="222" name="Shape 220"/>
          <p:cNvSpPr/>
          <p:nvPr/>
        </p:nvSpPr>
        <p:spPr>
          <a:xfrm>
            <a:off x="10499141" y="4645152"/>
            <a:ext cx="925373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Text 221"/>
          <p:cNvSpPr/>
          <p:nvPr/>
        </p:nvSpPr>
        <p:spPr>
          <a:xfrm>
            <a:off x="10535717" y="4700016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 min</a:t>
            </a:r>
            <a:endParaRPr lang="en-US" sz="590" dirty="0"/>
          </a:p>
        </p:txBody>
      </p:sp>
      <p:sp>
        <p:nvSpPr>
          <p:cNvPr id="224" name="Shape 222"/>
          <p:cNvSpPr/>
          <p:nvPr/>
        </p:nvSpPr>
        <p:spPr>
          <a:xfrm>
            <a:off x="11424514" y="4645152"/>
            <a:ext cx="462686" cy="329184"/>
          </a:xfrm>
          <a:prstGeom prst="rect">
            <a:avLst/>
          </a:prstGeom>
          <a:solidFill>
            <a:srgbClr val="F3F7FB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223"/>
          <p:cNvSpPr/>
          <p:nvPr/>
        </p:nvSpPr>
        <p:spPr>
          <a:xfrm>
            <a:off x="11461090" y="4700016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590" dirty="0"/>
          </a:p>
        </p:txBody>
      </p:sp>
      <p:sp>
        <p:nvSpPr>
          <p:cNvPr id="226" name="Shape 224"/>
          <p:cNvSpPr/>
          <p:nvPr/>
        </p:nvSpPr>
        <p:spPr>
          <a:xfrm>
            <a:off x="320040" y="4974336"/>
            <a:ext cx="1966417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Text 225"/>
          <p:cNvSpPr/>
          <p:nvPr/>
        </p:nvSpPr>
        <p:spPr>
          <a:xfrm>
            <a:off x="356616" y="5029200"/>
            <a:ext cx="1893265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590" dirty="0"/>
          </a:p>
        </p:txBody>
      </p:sp>
      <p:sp>
        <p:nvSpPr>
          <p:cNvPr id="228" name="Shape 226"/>
          <p:cNvSpPr/>
          <p:nvPr/>
        </p:nvSpPr>
        <p:spPr>
          <a:xfrm>
            <a:off x="2286457" y="4974336"/>
            <a:ext cx="1735074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 227"/>
          <p:cNvSpPr/>
          <p:nvPr/>
        </p:nvSpPr>
        <p:spPr>
          <a:xfrm>
            <a:off x="2323033" y="5029200"/>
            <a:ext cx="1661922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590" dirty="0"/>
          </a:p>
        </p:txBody>
      </p:sp>
      <p:sp>
        <p:nvSpPr>
          <p:cNvPr id="230" name="Shape 228"/>
          <p:cNvSpPr/>
          <p:nvPr/>
        </p:nvSpPr>
        <p:spPr>
          <a:xfrm>
            <a:off x="4021531" y="4974336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Text 229"/>
          <p:cNvSpPr/>
          <p:nvPr/>
        </p:nvSpPr>
        <p:spPr>
          <a:xfrm>
            <a:off x="4058107" y="502920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590" dirty="0"/>
          </a:p>
        </p:txBody>
      </p:sp>
      <p:sp>
        <p:nvSpPr>
          <p:cNvPr id="232" name="Shape 230"/>
          <p:cNvSpPr/>
          <p:nvPr/>
        </p:nvSpPr>
        <p:spPr>
          <a:xfrm>
            <a:off x="4946904" y="4974336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 231"/>
          <p:cNvSpPr/>
          <p:nvPr/>
        </p:nvSpPr>
        <p:spPr>
          <a:xfrm>
            <a:off x="4983480" y="502920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+7.8%</a:t>
            </a:r>
            <a:endParaRPr lang="en-US" sz="590" dirty="0"/>
          </a:p>
        </p:txBody>
      </p:sp>
      <p:sp>
        <p:nvSpPr>
          <p:cNvPr id="234" name="Shape 232"/>
          <p:cNvSpPr/>
          <p:nvPr/>
        </p:nvSpPr>
        <p:spPr>
          <a:xfrm>
            <a:off x="5872277" y="4974336"/>
            <a:ext cx="1156716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Text 233"/>
          <p:cNvSpPr/>
          <p:nvPr/>
        </p:nvSpPr>
        <p:spPr>
          <a:xfrm>
            <a:off x="5908853" y="5029200"/>
            <a:ext cx="10835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22A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590" dirty="0"/>
          </a:p>
        </p:txBody>
      </p:sp>
      <p:sp>
        <p:nvSpPr>
          <p:cNvPr id="236" name="Shape 234"/>
          <p:cNvSpPr/>
          <p:nvPr/>
        </p:nvSpPr>
        <p:spPr>
          <a:xfrm>
            <a:off x="7028993" y="4974336"/>
            <a:ext cx="2544775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Text 235"/>
          <p:cNvSpPr/>
          <p:nvPr/>
        </p:nvSpPr>
        <p:spPr>
          <a:xfrm>
            <a:off x="7065569" y="5029200"/>
            <a:ext cx="2471623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with brand … | 1.0%</a:t>
            </a:r>
            <a:endParaRPr lang="en-US" sz="590" dirty="0"/>
          </a:p>
        </p:txBody>
      </p:sp>
      <p:sp>
        <p:nvSpPr>
          <p:cNvPr id="238" name="Shape 236"/>
          <p:cNvSpPr/>
          <p:nvPr/>
        </p:nvSpPr>
        <p:spPr>
          <a:xfrm>
            <a:off x="9573768" y="4974336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Text 237"/>
          <p:cNvSpPr/>
          <p:nvPr/>
        </p:nvSpPr>
        <p:spPr>
          <a:xfrm>
            <a:off x="9610344" y="502920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95.0%</a:t>
            </a:r>
            <a:endParaRPr lang="en-US" sz="590" dirty="0"/>
          </a:p>
        </p:txBody>
      </p:sp>
      <p:sp>
        <p:nvSpPr>
          <p:cNvPr id="240" name="Shape 238"/>
          <p:cNvSpPr/>
          <p:nvPr/>
        </p:nvSpPr>
        <p:spPr>
          <a:xfrm>
            <a:off x="10499141" y="4974336"/>
            <a:ext cx="925373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Text 239"/>
          <p:cNvSpPr/>
          <p:nvPr/>
        </p:nvSpPr>
        <p:spPr>
          <a:xfrm>
            <a:off x="10535717" y="5029200"/>
            <a:ext cx="852221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590" dirty="0"/>
          </a:p>
        </p:txBody>
      </p:sp>
      <p:sp>
        <p:nvSpPr>
          <p:cNvPr id="242" name="Shape 240"/>
          <p:cNvSpPr/>
          <p:nvPr/>
        </p:nvSpPr>
        <p:spPr>
          <a:xfrm>
            <a:off x="11424514" y="4974336"/>
            <a:ext cx="462686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Text 241"/>
          <p:cNvSpPr/>
          <p:nvPr/>
        </p:nvSpPr>
        <p:spPr>
          <a:xfrm>
            <a:off x="11461090" y="5029200"/>
            <a:ext cx="38953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9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5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2860</Words>
  <Application>Microsoft Office PowerPoint</Application>
  <PresentationFormat>Widescreen</PresentationFormat>
  <Paragraphs>812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SGH Offshore Branch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PMS Performance Review | Jul 2026</dc:title>
  <dc:subject>Marketing PMS July 2026 Legendary Report</dc:subject>
  <dc:creator>OpenAI</dc:creator>
  <cp:lastModifiedBy>Mostafa Zeinhom</cp:lastModifiedBy>
  <cp:revision>3</cp:revision>
  <dcterms:created xsi:type="dcterms:W3CDTF">2026-08-20T09:44:16Z</dcterms:created>
  <dcterms:modified xsi:type="dcterms:W3CDTF">2026-08-20T11:08:16Z</dcterms:modified>
</cp:coreProperties>
</file>