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892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Team Performance Overview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Team Summary — Main Score + Month-over-Month Change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Marketing Team Performance Overview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411480" y="91440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F1F6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32004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024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MAIN SCORE</a:t>
            </a:r>
            <a:endParaRPr lang="en-US" sz="62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2161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81.8%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6002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+1.4 vs comparable benchmark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587752" y="91440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ECFDF3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87752" y="914400"/>
            <a:ext cx="32004" cy="89611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724912" y="1024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MOM CHANGE</a:t>
            </a:r>
            <a:endParaRPr lang="en-US" sz="62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12161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724912" y="16002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80.4% Jun → 80.8% Jul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764024" y="91440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FEF3F2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64024" y="914400"/>
            <a:ext cx="32004" cy="89611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901184" y="1024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EMPLOYEES BELOW 70%</a:t>
            </a:r>
            <a:endParaRPr lang="en-US" sz="62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12161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901184" y="16002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employees require attention</a:t>
            </a:r>
            <a:endParaRPr lang="en-US" sz="620" dirty="0"/>
          </a:p>
        </p:txBody>
      </p:sp>
      <p:sp>
        <p:nvSpPr>
          <p:cNvPr id="23" name="Shape 21"/>
          <p:cNvSpPr/>
          <p:nvPr/>
        </p:nvSpPr>
        <p:spPr>
          <a:xfrm>
            <a:off x="6940296" y="91440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ECFDF3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0296" y="914400"/>
            <a:ext cx="32004" cy="89611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077456" y="1024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CURRENT SCORE</a:t>
            </a:r>
            <a:endParaRPr lang="en-US" sz="620" dirty="0"/>
          </a:p>
        </p:txBody>
      </p:sp>
      <p:sp>
        <p:nvSpPr>
          <p:cNvPr id="26" name="Text 24"/>
          <p:cNvSpPr txBox="1"/>
          <p:nvPr/>
        </p:nvSpPr>
        <p:spPr>
          <a:xfrm>
            <a:off x="7077456" y="12161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16002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620" dirty="0"/>
          </a:p>
        </p:txBody>
      </p:sp>
      <p:sp>
        <p:nvSpPr>
          <p:cNvPr id="28" name="Shape 26"/>
          <p:cNvSpPr/>
          <p:nvPr/>
        </p:nvSpPr>
        <p:spPr>
          <a:xfrm>
            <a:off x="9116568" y="914400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FEF3F2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116568" y="914400"/>
            <a:ext cx="32004" cy="89611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253728" y="1024128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DECLINE</a:t>
            </a:r>
            <a:endParaRPr lang="en-US" sz="620" dirty="0"/>
          </a:p>
        </p:txBody>
      </p:sp>
      <p:sp>
        <p:nvSpPr>
          <p:cNvPr id="31" name="Text 29"/>
          <p:cNvSpPr txBox="1"/>
          <p:nvPr/>
        </p:nvSpPr>
        <p:spPr>
          <a:xfrm>
            <a:off x="9253728" y="1216152"/>
            <a:ext cx="1755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253728" y="16002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411480" y="1965960"/>
            <a:ext cx="10716768" cy="310896"/>
          </a:xfrm>
          <a:prstGeom prst="roundRect">
            <a:avLst>
              <a:gd name="adj" fmla="val 17647"/>
            </a:avLst>
          </a:prstGeom>
          <a:solidFill>
            <a:srgbClr val="FEF3F2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39496" y="2002536"/>
            <a:ext cx="104607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alert: Bahy Hamed Amer has the largest MoM decline (-17.3 %) and a 43.8% main score. Paid-media CR / Leads / CPV are the first recovery focus.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411480" y="2468880"/>
            <a:ext cx="6995160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6" name="Text 34"/>
          <p:cNvSpPr txBox="1"/>
          <p:nvPr/>
        </p:nvSpPr>
        <p:spPr>
          <a:xfrm>
            <a:off x="621792" y="26700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Performance — Main Score &amp; MoM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9809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807208" y="3054096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807208" y="3054096"/>
            <a:ext cx="3099633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6053328" y="29763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2976372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2826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807208" y="3355848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807208" y="3355848"/>
            <a:ext cx="3034345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6053328" y="32781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0" y="327812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5844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807208" y="3657600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807208" y="3657600"/>
            <a:ext cx="3031236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053328" y="357987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0" y="3579876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8862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807208" y="3959352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807208" y="3959352"/>
            <a:ext cx="3021909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6053328" y="38816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8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0" y="3881628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418795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807208" y="4261104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807208" y="4261104"/>
            <a:ext cx="2993928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053328" y="41833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96.3%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6583680" y="418338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+3.9 %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4897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Buyer&amp;SEO Manager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807208" y="4562856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2807208" y="4562856"/>
            <a:ext cx="2819827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6053328" y="44851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0" y="4485132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7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79145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807208" y="4864608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2807208" y="4864608"/>
            <a:ext cx="2620853" cy="0"/>
          </a:xfrm>
          <a:prstGeom prst="line">
            <a:avLst/>
          </a:prstGeom>
          <a:noFill/>
          <a:ln w="73152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 txBox="1"/>
          <p:nvPr/>
        </p:nvSpPr>
        <p:spPr>
          <a:xfrm>
            <a:off x="6053328" y="47868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8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0" y="4786884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09320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2807208" y="5166360"/>
            <a:ext cx="3108960" cy="0"/>
          </a:xfrm>
          <a:prstGeom prst="line">
            <a:avLst/>
          </a:prstGeom>
          <a:noFill/>
          <a:ln w="73152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2807208" y="5166360"/>
            <a:ext cx="2138964" cy="0"/>
          </a:xfrm>
          <a:prstGeom prst="line">
            <a:avLst/>
          </a:prstGeom>
          <a:noFill/>
          <a:ln w="73152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6053328" y="508863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0" y="5088636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7635240" y="2468880"/>
            <a:ext cx="349300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7863840" y="2670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Insights &amp; Next Steps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845552" y="2999232"/>
            <a:ext cx="3017520" cy="621792"/>
          </a:xfrm>
          <a:prstGeom prst="roundRect">
            <a:avLst>
              <a:gd name="adj" fmla="val 8824"/>
            </a:avLst>
          </a:prstGeom>
          <a:solidFill>
            <a:srgbClr val="FEF3F2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7973568" y="3035808"/>
            <a:ext cx="27614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 is the largest decline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 score, -17.3 % MoM.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7845552" y="3803904"/>
            <a:ext cx="3017520" cy="621792"/>
          </a:xfrm>
          <a:prstGeom prst="roundRect">
            <a:avLst>
              <a:gd name="adj" fmla="val 8824"/>
            </a:avLst>
          </a:prstGeom>
          <a:solidFill>
            <a:srgbClr val="FFFAEB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7973568" y="3840480"/>
            <a:ext cx="276148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employees are below target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Bahy, Ziad, Samya, Mina, Abdelrahman.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7845552" y="4608576"/>
            <a:ext cx="3017520" cy="713232"/>
          </a:xfrm>
          <a:prstGeom prst="roundRect">
            <a:avLst>
              <a:gd name="adj" fmla="val 7692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7973568" y="4645152"/>
            <a:ext cx="27614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 has the strongest gain</a:t>
            </a:r>
            <a:endParaRPr lang="en-US" sz="650" dirty="0"/>
          </a:p>
          <a:p>
            <a:pPr marL="0" indent="0" algn="l">
              <a:buNone/>
            </a:pPr>
            <a:r>
              <a:rPr lang="en-US" sz="65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 MoM; preserve the current operating model.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KPI Loss Breakdown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KPI gaps are costing the most score points?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KPI Loss Breakdown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411480" y="91440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1F6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914400"/>
            <a:ext cx="3200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48640" y="102412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62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216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81.8%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52704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overall</a:t>
            </a:r>
            <a:endParaRPr lang="en-US" sz="620" dirty="0"/>
          </a:p>
        </p:txBody>
      </p:sp>
      <p:sp>
        <p:nvSpPr>
          <p:cNvPr id="13" name="Shape 11"/>
          <p:cNvSpPr/>
          <p:nvPr/>
        </p:nvSpPr>
        <p:spPr>
          <a:xfrm>
            <a:off x="2542032" y="91440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42032" y="914400"/>
            <a:ext cx="32004" cy="822960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679192" y="102412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620" dirty="0"/>
          </a:p>
        </p:txBody>
      </p:sp>
      <p:sp>
        <p:nvSpPr>
          <p:cNvPr id="16" name="Text 14"/>
          <p:cNvSpPr txBox="1"/>
          <p:nvPr/>
        </p:nvSpPr>
        <p:spPr>
          <a:xfrm>
            <a:off x="2679192" y="1216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2679192" y="152704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Comparable employee base</a:t>
            </a:r>
            <a:endParaRPr lang="en-US" sz="620" dirty="0"/>
          </a:p>
        </p:txBody>
      </p:sp>
      <p:sp>
        <p:nvSpPr>
          <p:cNvPr id="18" name="Shape 16"/>
          <p:cNvSpPr/>
          <p:nvPr/>
        </p:nvSpPr>
        <p:spPr>
          <a:xfrm>
            <a:off x="4672584" y="91440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EF3F2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72584" y="914400"/>
            <a:ext cx="32004" cy="82296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4809744" y="102412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LOSS KPI</a:t>
            </a:r>
            <a:endParaRPr lang="en-US" sz="62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1216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152704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57.0 %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03136" y="91440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EF3F2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03136" y="914400"/>
            <a:ext cx="32004" cy="822960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940296" y="102412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PAID MEDIA LOSS</a:t>
            </a:r>
            <a:endParaRPr lang="en-US" sz="620" dirty="0"/>
          </a:p>
        </p:txBody>
      </p:sp>
      <p:sp>
        <p:nvSpPr>
          <p:cNvPr id="26" name="Text 24"/>
          <p:cNvSpPr txBox="1"/>
          <p:nvPr/>
        </p:nvSpPr>
        <p:spPr>
          <a:xfrm>
            <a:off x="6940296" y="1216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40296" y="152704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41.7 %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933688" y="914400"/>
            <a:ext cx="1965960" cy="822960"/>
          </a:xfrm>
          <a:prstGeom prst="roundRect">
            <a:avLst>
              <a:gd name="adj" fmla="val 6667"/>
            </a:avLst>
          </a:prstGeom>
          <a:solidFill>
            <a:srgbClr val="FFFAEB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933688" y="914400"/>
            <a:ext cx="32004" cy="822960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9070848" y="102412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GAP COUNT</a:t>
            </a:r>
            <a:endParaRPr lang="en-US" sz="620" dirty="0"/>
          </a:p>
        </p:txBody>
      </p:sp>
      <p:sp>
        <p:nvSpPr>
          <p:cNvPr id="31" name="Text 29"/>
          <p:cNvSpPr txBox="1"/>
          <p:nvPr/>
        </p:nvSpPr>
        <p:spPr>
          <a:xfrm>
            <a:off x="9070848" y="1216152"/>
            <a:ext cx="1709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70848" y="1527048"/>
            <a:ext cx="1709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Below-target gaps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411480" y="1993392"/>
            <a:ext cx="10716768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58368" y="22128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loss by KPI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25968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2679192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880360" y="2679192"/>
            <a:ext cx="5074920" cy="0"/>
          </a:xfrm>
          <a:prstGeom prst="line">
            <a:avLst/>
          </a:prstGeom>
          <a:noFill/>
          <a:ln w="9144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8156448" y="259689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57.0 %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9555480" y="259689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3/3 &lt;70%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713232" y="29077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80360" y="2990088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880360" y="2990088"/>
            <a:ext cx="3712705" cy="0"/>
          </a:xfrm>
          <a:prstGeom prst="line">
            <a:avLst/>
          </a:prstGeom>
          <a:noFill/>
          <a:ln w="9144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156448" y="290779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41.7 %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9555480" y="290779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&lt;70%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13232" y="32186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80360" y="3300984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880360" y="3300984"/>
            <a:ext cx="2199132" cy="0"/>
          </a:xfrm>
          <a:prstGeom prst="line">
            <a:avLst/>
          </a:prstGeom>
          <a:noFill/>
          <a:ln w="9144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156448" y="321868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24.7 %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9555480" y="321868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1/3 &lt;70%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713232" y="352958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80360" y="3611880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2880360" y="3611880"/>
            <a:ext cx="1362215" cy="0"/>
          </a:xfrm>
          <a:prstGeom prst="line">
            <a:avLst/>
          </a:prstGeom>
          <a:noFill/>
          <a:ln w="9144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8156448" y="3529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15.3 %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9555480" y="352958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 &lt;70%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713232" y="384048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880360" y="3922776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2880360" y="3922776"/>
            <a:ext cx="1335505" cy="0"/>
          </a:xfrm>
          <a:prstGeom prst="line">
            <a:avLst/>
          </a:prstGeom>
          <a:noFill/>
          <a:ln w="9144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8156448" y="38404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15.0 %</a:t>
            </a:r>
            <a:endParaRPr lang="en-US" sz="800" dirty="0"/>
          </a:p>
        </p:txBody>
      </p:sp>
      <p:sp>
        <p:nvSpPr>
          <p:cNvPr id="59" name="Text 57"/>
          <p:cNvSpPr txBox="1"/>
          <p:nvPr/>
        </p:nvSpPr>
        <p:spPr>
          <a:xfrm>
            <a:off x="9555480" y="3840480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0/3 &lt;70%</a:t>
            </a:r>
            <a:endParaRPr lang="en-US" sz="800" dirty="0"/>
          </a:p>
        </p:txBody>
      </p:sp>
      <p:sp>
        <p:nvSpPr>
          <p:cNvPr id="60" name="Text 58"/>
          <p:cNvSpPr txBox="1"/>
          <p:nvPr/>
        </p:nvSpPr>
        <p:spPr>
          <a:xfrm>
            <a:off x="713232" y="415137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880360" y="4233672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880360" y="4233672"/>
            <a:ext cx="1237568" cy="0"/>
          </a:xfrm>
          <a:prstGeom prst="line">
            <a:avLst/>
          </a:prstGeom>
          <a:noFill/>
          <a:ln w="9144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8156448" y="415137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13.9 %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9555480" y="4151376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2/3 &lt;70%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713232" y="44622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80360" y="4544568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2880360" y="4544568"/>
            <a:ext cx="1112921" cy="0"/>
          </a:xfrm>
          <a:prstGeom prst="line">
            <a:avLst/>
          </a:prstGeom>
          <a:noFill/>
          <a:ln w="914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8156448" y="4462272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9555480" y="4462272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 &lt;70%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713232" y="477316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880360" y="4855464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2880360" y="4855464"/>
            <a:ext cx="1112921" cy="0"/>
          </a:xfrm>
          <a:prstGeom prst="line">
            <a:avLst/>
          </a:prstGeom>
          <a:noFill/>
          <a:ln w="914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8156448" y="4773168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9555480" y="4773168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1/1 &lt;70%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713232" y="508406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880360" y="5166360"/>
            <a:ext cx="5074920" cy="0"/>
          </a:xfrm>
          <a:prstGeom prst="line">
            <a:avLst/>
          </a:prstGeom>
          <a:noFill/>
          <a:ln w="91440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880360" y="5166360"/>
            <a:ext cx="783496" cy="0"/>
          </a:xfrm>
          <a:prstGeom prst="line">
            <a:avLst/>
          </a:prstGeom>
          <a:noFill/>
          <a:ln w="914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8156448" y="50840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8.8 %</a:t>
            </a:r>
            <a:endParaRPr lang="en-US" sz="800" dirty="0"/>
          </a:p>
        </p:txBody>
      </p:sp>
      <p:sp>
        <p:nvSpPr>
          <p:cNvPr id="79" name="Text 77"/>
          <p:cNvSpPr txBox="1"/>
          <p:nvPr/>
        </p:nvSpPr>
        <p:spPr>
          <a:xfrm>
            <a:off x="9555480" y="508406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0/3 &lt;70%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11480" y="5989320"/>
            <a:ext cx="10716768" cy="310896"/>
          </a:xfrm>
          <a:prstGeom prst="roundRect">
            <a:avLst>
              <a:gd name="adj" fmla="val 17647"/>
            </a:avLst>
          </a:prstGeom>
          <a:solidFill>
            <a:srgbClr val="F1F6FF"/>
          </a:solidFill>
          <a:ln w="889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 txBox="1"/>
          <p:nvPr/>
        </p:nvSpPr>
        <p:spPr>
          <a:xfrm>
            <a:off x="539496" y="6025896"/>
            <a:ext cx="1046073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rule: use weighted loss to choose the action order. Do not treat every KPI gap equally; solve the highest score-impact drivers first.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Employee Performance Priority Ranking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row shows the current Main Score and the MoM Change — same logic as the dashboard.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Performance Priority Ranking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10927080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170432"/>
            <a:ext cx="32004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49808" y="1188720"/>
            <a:ext cx="246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7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570" dirty="0"/>
          </a:p>
        </p:txBody>
      </p:sp>
      <p:sp>
        <p:nvSpPr>
          <p:cNvPr id="11" name="Shape 9"/>
          <p:cNvSpPr/>
          <p:nvPr/>
        </p:nvSpPr>
        <p:spPr>
          <a:xfrm>
            <a:off x="1033272" y="1170432"/>
            <a:ext cx="196596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69848" y="118872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999232" y="1170432"/>
            <a:ext cx="192024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035808" y="118872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919472" y="1170432"/>
            <a:ext cx="105156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956048" y="1188720"/>
            <a:ext cx="978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71032" y="1170432"/>
            <a:ext cx="91440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007608" y="118872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885432" y="1170432"/>
            <a:ext cx="233172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22008" y="118872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KPI gap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217152" y="1170432"/>
            <a:ext cx="960120" cy="237744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53728" y="1188720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13232" y="1408176"/>
            <a:ext cx="3200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9808" y="1426464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560" dirty="0"/>
          </a:p>
        </p:txBody>
      </p:sp>
      <p:sp>
        <p:nvSpPr>
          <p:cNvPr id="25" name="Shape 23"/>
          <p:cNvSpPr/>
          <p:nvPr/>
        </p:nvSpPr>
        <p:spPr>
          <a:xfrm>
            <a:off x="1033272" y="1408176"/>
            <a:ext cx="19659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69848" y="142646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99232" y="1408176"/>
            <a:ext cx="19202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035808" y="142646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19472" y="1408176"/>
            <a:ext cx="10515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956048" y="142646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71032" y="1408176"/>
            <a:ext cx="91440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007608" y="142646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85432" y="1408176"/>
            <a:ext cx="23317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922008" y="142646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— 35%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217152" y="1408176"/>
            <a:ext cx="9601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9253728" y="142646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37" name="Shape 35"/>
          <p:cNvSpPr/>
          <p:nvPr/>
        </p:nvSpPr>
        <p:spPr>
          <a:xfrm>
            <a:off x="9281160" y="1476756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9281160" y="148590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3232" y="1737360"/>
            <a:ext cx="3200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749808" y="1755648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560" dirty="0"/>
          </a:p>
        </p:txBody>
      </p:sp>
      <p:sp>
        <p:nvSpPr>
          <p:cNvPr id="41" name="Shape 39"/>
          <p:cNvSpPr/>
          <p:nvPr/>
        </p:nvSpPr>
        <p:spPr>
          <a:xfrm>
            <a:off x="1033272" y="1737360"/>
            <a:ext cx="19659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69848" y="175564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99232" y="1737360"/>
            <a:ext cx="19202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035808" y="17556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19472" y="1737360"/>
            <a:ext cx="10515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956048" y="175564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971032" y="1737360"/>
            <a:ext cx="91440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6007608" y="175564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85432" y="1737360"/>
            <a:ext cx="23317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922008" y="1755648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— 20%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217152" y="1737360"/>
            <a:ext cx="9601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9253728" y="1755648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53" name="Shape 51"/>
          <p:cNvSpPr/>
          <p:nvPr/>
        </p:nvSpPr>
        <p:spPr>
          <a:xfrm>
            <a:off x="9281160" y="1805940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9281160" y="181508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13232" y="2066544"/>
            <a:ext cx="3200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749808" y="2084832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560" dirty="0"/>
          </a:p>
        </p:txBody>
      </p:sp>
      <p:sp>
        <p:nvSpPr>
          <p:cNvPr id="57" name="Shape 55"/>
          <p:cNvSpPr/>
          <p:nvPr/>
        </p:nvSpPr>
        <p:spPr>
          <a:xfrm>
            <a:off x="1033272" y="2066544"/>
            <a:ext cx="19659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1069848" y="2084832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999232" y="2066544"/>
            <a:ext cx="19202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3035808" y="208483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919472" y="2066544"/>
            <a:ext cx="10515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4956048" y="208483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971032" y="2066544"/>
            <a:ext cx="91440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6007608" y="208483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885432" y="2066544"/>
            <a:ext cx="23317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 txBox="1"/>
          <p:nvPr/>
        </p:nvSpPr>
        <p:spPr>
          <a:xfrm>
            <a:off x="6922008" y="208483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9217152" y="2066544"/>
            <a:ext cx="9601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 txBox="1"/>
          <p:nvPr/>
        </p:nvSpPr>
        <p:spPr>
          <a:xfrm>
            <a:off x="9253728" y="2084832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69" name="Shape 67"/>
          <p:cNvSpPr/>
          <p:nvPr/>
        </p:nvSpPr>
        <p:spPr>
          <a:xfrm>
            <a:off x="9281160" y="2135124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0" name="Text 68"/>
          <p:cNvSpPr txBox="1"/>
          <p:nvPr/>
        </p:nvSpPr>
        <p:spPr>
          <a:xfrm>
            <a:off x="9281160" y="214426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13232" y="2395728"/>
            <a:ext cx="3200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749808" y="2414016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60" dirty="0"/>
          </a:p>
        </p:txBody>
      </p:sp>
      <p:sp>
        <p:nvSpPr>
          <p:cNvPr id="73" name="Shape 71"/>
          <p:cNvSpPr/>
          <p:nvPr/>
        </p:nvSpPr>
        <p:spPr>
          <a:xfrm>
            <a:off x="1033272" y="2395728"/>
            <a:ext cx="19659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1069848" y="241401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999232" y="2395728"/>
            <a:ext cx="19202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 txBox="1"/>
          <p:nvPr/>
        </p:nvSpPr>
        <p:spPr>
          <a:xfrm>
            <a:off x="3035808" y="241401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919472" y="2395728"/>
            <a:ext cx="10515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 txBox="1"/>
          <p:nvPr/>
        </p:nvSpPr>
        <p:spPr>
          <a:xfrm>
            <a:off x="4956048" y="2414016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971032" y="2395728"/>
            <a:ext cx="91440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 txBox="1"/>
          <p:nvPr/>
        </p:nvSpPr>
        <p:spPr>
          <a:xfrm>
            <a:off x="6007608" y="241401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885432" y="2395728"/>
            <a:ext cx="23317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 txBox="1"/>
          <p:nvPr/>
        </p:nvSpPr>
        <p:spPr>
          <a:xfrm>
            <a:off x="6922008" y="24140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9217152" y="2395728"/>
            <a:ext cx="9601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 txBox="1"/>
          <p:nvPr/>
        </p:nvSpPr>
        <p:spPr>
          <a:xfrm>
            <a:off x="9253728" y="2414016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85" name="Shape 83"/>
          <p:cNvSpPr/>
          <p:nvPr/>
        </p:nvSpPr>
        <p:spPr>
          <a:xfrm>
            <a:off x="9281160" y="2464308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9281160" y="247345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13232" y="2724912"/>
            <a:ext cx="3200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 txBox="1"/>
          <p:nvPr/>
        </p:nvSpPr>
        <p:spPr>
          <a:xfrm>
            <a:off x="749808" y="2743200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60" dirty="0"/>
          </a:p>
        </p:txBody>
      </p:sp>
      <p:sp>
        <p:nvSpPr>
          <p:cNvPr id="89" name="Shape 87"/>
          <p:cNvSpPr/>
          <p:nvPr/>
        </p:nvSpPr>
        <p:spPr>
          <a:xfrm>
            <a:off x="1033272" y="2724912"/>
            <a:ext cx="19659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 txBox="1"/>
          <p:nvPr/>
        </p:nvSpPr>
        <p:spPr>
          <a:xfrm>
            <a:off x="1069848" y="274320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2999232" y="2724912"/>
            <a:ext cx="192024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 txBox="1"/>
          <p:nvPr/>
        </p:nvSpPr>
        <p:spPr>
          <a:xfrm>
            <a:off x="3035808" y="27432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4919472" y="2724912"/>
            <a:ext cx="105156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 txBox="1"/>
          <p:nvPr/>
        </p:nvSpPr>
        <p:spPr>
          <a:xfrm>
            <a:off x="4956048" y="274320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5971032" y="2724912"/>
            <a:ext cx="91440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 txBox="1"/>
          <p:nvPr/>
        </p:nvSpPr>
        <p:spPr>
          <a:xfrm>
            <a:off x="6007608" y="274320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6885432" y="2724912"/>
            <a:ext cx="23317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 txBox="1"/>
          <p:nvPr/>
        </p:nvSpPr>
        <p:spPr>
          <a:xfrm>
            <a:off x="6922008" y="274320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— 50%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9217152" y="2724912"/>
            <a:ext cx="960120" cy="329184"/>
          </a:xfrm>
          <a:prstGeom prst="rect">
            <a:avLst/>
          </a:prstGeom>
          <a:solidFill>
            <a:srgbClr val="FFFBFB"/>
          </a:solidFill>
          <a:ln w="8890">
            <a:solidFill>
              <a:srgbClr val="FFFB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9253728" y="274320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101" name="Shape 99"/>
          <p:cNvSpPr/>
          <p:nvPr/>
        </p:nvSpPr>
        <p:spPr>
          <a:xfrm>
            <a:off x="9281160" y="2793492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 txBox="1"/>
          <p:nvPr/>
        </p:nvSpPr>
        <p:spPr>
          <a:xfrm>
            <a:off x="9281160" y="280263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713232" y="3054096"/>
            <a:ext cx="3200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 txBox="1"/>
          <p:nvPr/>
        </p:nvSpPr>
        <p:spPr>
          <a:xfrm>
            <a:off x="749808" y="3072384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60" dirty="0"/>
          </a:p>
        </p:txBody>
      </p:sp>
      <p:sp>
        <p:nvSpPr>
          <p:cNvPr id="105" name="Shape 103"/>
          <p:cNvSpPr/>
          <p:nvPr/>
        </p:nvSpPr>
        <p:spPr>
          <a:xfrm>
            <a:off x="1033272" y="3054096"/>
            <a:ext cx="19659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 txBox="1"/>
          <p:nvPr/>
        </p:nvSpPr>
        <p:spPr>
          <a:xfrm>
            <a:off x="1069848" y="307238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2999232" y="3054096"/>
            <a:ext cx="19202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 txBox="1"/>
          <p:nvPr/>
        </p:nvSpPr>
        <p:spPr>
          <a:xfrm>
            <a:off x="3035808" y="307238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919472" y="3054096"/>
            <a:ext cx="10515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 txBox="1"/>
          <p:nvPr/>
        </p:nvSpPr>
        <p:spPr>
          <a:xfrm>
            <a:off x="4956048" y="307238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5971032" y="3054096"/>
            <a:ext cx="91440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 txBox="1"/>
          <p:nvPr/>
        </p:nvSpPr>
        <p:spPr>
          <a:xfrm>
            <a:off x="6007608" y="307238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885432" y="3054096"/>
            <a:ext cx="23317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 txBox="1"/>
          <p:nvPr/>
        </p:nvSpPr>
        <p:spPr>
          <a:xfrm>
            <a:off x="6922008" y="307238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— 40%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9217152" y="3054096"/>
            <a:ext cx="9601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 txBox="1"/>
          <p:nvPr/>
        </p:nvSpPr>
        <p:spPr>
          <a:xfrm>
            <a:off x="9253728" y="307238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9281160" y="3122676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8" name="Text 116"/>
          <p:cNvSpPr txBox="1"/>
          <p:nvPr/>
        </p:nvSpPr>
        <p:spPr>
          <a:xfrm>
            <a:off x="9281160" y="313182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713232" y="3383280"/>
            <a:ext cx="3200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 txBox="1"/>
          <p:nvPr/>
        </p:nvSpPr>
        <p:spPr>
          <a:xfrm>
            <a:off x="749808" y="3401568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60" dirty="0"/>
          </a:p>
        </p:txBody>
      </p:sp>
      <p:sp>
        <p:nvSpPr>
          <p:cNvPr id="121" name="Shape 119"/>
          <p:cNvSpPr/>
          <p:nvPr/>
        </p:nvSpPr>
        <p:spPr>
          <a:xfrm>
            <a:off x="1033272" y="3383280"/>
            <a:ext cx="19659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 txBox="1"/>
          <p:nvPr/>
        </p:nvSpPr>
        <p:spPr>
          <a:xfrm>
            <a:off x="1069848" y="340156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2999232" y="3383280"/>
            <a:ext cx="19202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 txBox="1"/>
          <p:nvPr/>
        </p:nvSpPr>
        <p:spPr>
          <a:xfrm>
            <a:off x="3035808" y="34015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4919472" y="3383280"/>
            <a:ext cx="1051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 txBox="1"/>
          <p:nvPr/>
        </p:nvSpPr>
        <p:spPr>
          <a:xfrm>
            <a:off x="4956048" y="340156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5971032" y="3383280"/>
            <a:ext cx="914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 txBox="1"/>
          <p:nvPr/>
        </p:nvSpPr>
        <p:spPr>
          <a:xfrm>
            <a:off x="6007608" y="340156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6885432" y="3383280"/>
            <a:ext cx="23317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 txBox="1"/>
          <p:nvPr/>
        </p:nvSpPr>
        <p:spPr>
          <a:xfrm>
            <a:off x="6922008" y="3401568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 — 77%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9217152" y="3383280"/>
            <a:ext cx="960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 txBox="1"/>
          <p:nvPr/>
        </p:nvSpPr>
        <p:spPr>
          <a:xfrm>
            <a:off x="9253728" y="3401568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133" name="Shape 131"/>
          <p:cNvSpPr/>
          <p:nvPr/>
        </p:nvSpPr>
        <p:spPr>
          <a:xfrm>
            <a:off x="9281160" y="3451860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4" name="Text 132"/>
          <p:cNvSpPr txBox="1"/>
          <p:nvPr/>
        </p:nvSpPr>
        <p:spPr>
          <a:xfrm>
            <a:off x="9281160" y="34610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713232" y="3712464"/>
            <a:ext cx="3200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 txBox="1"/>
          <p:nvPr/>
        </p:nvSpPr>
        <p:spPr>
          <a:xfrm>
            <a:off x="749808" y="3730752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560" dirty="0"/>
          </a:p>
        </p:txBody>
      </p:sp>
      <p:sp>
        <p:nvSpPr>
          <p:cNvPr id="137" name="Shape 135"/>
          <p:cNvSpPr/>
          <p:nvPr/>
        </p:nvSpPr>
        <p:spPr>
          <a:xfrm>
            <a:off x="1033272" y="3712464"/>
            <a:ext cx="19659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 txBox="1"/>
          <p:nvPr/>
        </p:nvSpPr>
        <p:spPr>
          <a:xfrm>
            <a:off x="1069848" y="3730752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900" dirty="0"/>
          </a:p>
        </p:txBody>
      </p:sp>
      <p:sp>
        <p:nvSpPr>
          <p:cNvPr id="139" name="Shape 137"/>
          <p:cNvSpPr/>
          <p:nvPr/>
        </p:nvSpPr>
        <p:spPr>
          <a:xfrm>
            <a:off x="2999232" y="3712464"/>
            <a:ext cx="19202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 txBox="1"/>
          <p:nvPr/>
        </p:nvSpPr>
        <p:spPr>
          <a:xfrm>
            <a:off x="3035808" y="373075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900" dirty="0"/>
          </a:p>
        </p:txBody>
      </p:sp>
      <p:sp>
        <p:nvSpPr>
          <p:cNvPr id="141" name="Shape 139"/>
          <p:cNvSpPr/>
          <p:nvPr/>
        </p:nvSpPr>
        <p:spPr>
          <a:xfrm>
            <a:off x="4919472" y="3712464"/>
            <a:ext cx="10515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 txBox="1"/>
          <p:nvPr/>
        </p:nvSpPr>
        <p:spPr>
          <a:xfrm>
            <a:off x="4956048" y="373075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5971032" y="3712464"/>
            <a:ext cx="91440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 txBox="1"/>
          <p:nvPr/>
        </p:nvSpPr>
        <p:spPr>
          <a:xfrm>
            <a:off x="6007608" y="373075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>
            <a:off x="6885432" y="3712464"/>
            <a:ext cx="23317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 txBox="1"/>
          <p:nvPr/>
        </p:nvSpPr>
        <p:spPr>
          <a:xfrm>
            <a:off x="6922008" y="373075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 — 70%</a:t>
            </a:r>
            <a:endParaRPr lang="en-US" sz="900" dirty="0"/>
          </a:p>
        </p:txBody>
      </p:sp>
      <p:sp>
        <p:nvSpPr>
          <p:cNvPr id="147" name="Shape 145"/>
          <p:cNvSpPr/>
          <p:nvPr/>
        </p:nvSpPr>
        <p:spPr>
          <a:xfrm>
            <a:off x="9217152" y="3712464"/>
            <a:ext cx="9601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 txBox="1"/>
          <p:nvPr/>
        </p:nvSpPr>
        <p:spPr>
          <a:xfrm>
            <a:off x="9253728" y="3730752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149" name="Shape 147"/>
          <p:cNvSpPr/>
          <p:nvPr/>
        </p:nvSpPr>
        <p:spPr>
          <a:xfrm>
            <a:off x="9281160" y="3781044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Text 148"/>
          <p:cNvSpPr txBox="1"/>
          <p:nvPr/>
        </p:nvSpPr>
        <p:spPr>
          <a:xfrm>
            <a:off x="9281160" y="379018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713232" y="4041648"/>
            <a:ext cx="3200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Text 150"/>
          <p:cNvSpPr txBox="1"/>
          <p:nvPr/>
        </p:nvSpPr>
        <p:spPr>
          <a:xfrm>
            <a:off x="749808" y="4059936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560" dirty="0"/>
          </a:p>
        </p:txBody>
      </p:sp>
      <p:sp>
        <p:nvSpPr>
          <p:cNvPr id="153" name="Shape 151"/>
          <p:cNvSpPr/>
          <p:nvPr/>
        </p:nvSpPr>
        <p:spPr>
          <a:xfrm>
            <a:off x="1033272" y="4041648"/>
            <a:ext cx="19659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Text 152"/>
          <p:cNvSpPr txBox="1"/>
          <p:nvPr/>
        </p:nvSpPr>
        <p:spPr>
          <a:xfrm>
            <a:off x="1069848" y="4059936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2999232" y="4041648"/>
            <a:ext cx="19202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Text 154"/>
          <p:cNvSpPr txBox="1"/>
          <p:nvPr/>
        </p:nvSpPr>
        <p:spPr>
          <a:xfrm>
            <a:off x="3035808" y="405993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900" dirty="0"/>
          </a:p>
        </p:txBody>
      </p:sp>
      <p:sp>
        <p:nvSpPr>
          <p:cNvPr id="157" name="Shape 155"/>
          <p:cNvSpPr/>
          <p:nvPr/>
        </p:nvSpPr>
        <p:spPr>
          <a:xfrm>
            <a:off x="4919472" y="4041648"/>
            <a:ext cx="1051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Text 156"/>
          <p:cNvSpPr txBox="1"/>
          <p:nvPr/>
        </p:nvSpPr>
        <p:spPr>
          <a:xfrm>
            <a:off x="4956048" y="4059936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900" dirty="0"/>
          </a:p>
        </p:txBody>
      </p:sp>
      <p:sp>
        <p:nvSpPr>
          <p:cNvPr id="159" name="Shape 157"/>
          <p:cNvSpPr/>
          <p:nvPr/>
        </p:nvSpPr>
        <p:spPr>
          <a:xfrm>
            <a:off x="5971032" y="4041648"/>
            <a:ext cx="914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0" name="Text 158"/>
          <p:cNvSpPr txBox="1"/>
          <p:nvPr/>
        </p:nvSpPr>
        <p:spPr>
          <a:xfrm>
            <a:off x="6007608" y="4059936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885432" y="4041648"/>
            <a:ext cx="23317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 txBox="1"/>
          <p:nvPr/>
        </p:nvSpPr>
        <p:spPr>
          <a:xfrm>
            <a:off x="6922008" y="405993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development hours — 85%</a:t>
            </a:r>
            <a:endParaRPr lang="en-US" sz="900" dirty="0"/>
          </a:p>
        </p:txBody>
      </p:sp>
      <p:sp>
        <p:nvSpPr>
          <p:cNvPr id="163" name="Shape 161"/>
          <p:cNvSpPr/>
          <p:nvPr/>
        </p:nvSpPr>
        <p:spPr>
          <a:xfrm>
            <a:off x="9217152" y="4041648"/>
            <a:ext cx="960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4" name="Text 162"/>
          <p:cNvSpPr txBox="1"/>
          <p:nvPr/>
        </p:nvSpPr>
        <p:spPr>
          <a:xfrm>
            <a:off x="9253728" y="4059936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165" name="Shape 163"/>
          <p:cNvSpPr/>
          <p:nvPr/>
        </p:nvSpPr>
        <p:spPr>
          <a:xfrm>
            <a:off x="9281160" y="4110228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6" name="Text 164"/>
          <p:cNvSpPr txBox="1"/>
          <p:nvPr/>
        </p:nvSpPr>
        <p:spPr>
          <a:xfrm>
            <a:off x="9281160" y="411937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713232" y="4370832"/>
            <a:ext cx="3200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8" name="Text 166"/>
          <p:cNvSpPr txBox="1"/>
          <p:nvPr/>
        </p:nvSpPr>
        <p:spPr>
          <a:xfrm>
            <a:off x="749808" y="4389120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60" dirty="0"/>
          </a:p>
        </p:txBody>
      </p:sp>
      <p:sp>
        <p:nvSpPr>
          <p:cNvPr id="169" name="Shape 167"/>
          <p:cNvSpPr/>
          <p:nvPr/>
        </p:nvSpPr>
        <p:spPr>
          <a:xfrm>
            <a:off x="1033272" y="4370832"/>
            <a:ext cx="19659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Text 168"/>
          <p:cNvSpPr txBox="1"/>
          <p:nvPr/>
        </p:nvSpPr>
        <p:spPr>
          <a:xfrm>
            <a:off x="1069848" y="4389120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900" dirty="0"/>
          </a:p>
        </p:txBody>
      </p:sp>
      <p:sp>
        <p:nvSpPr>
          <p:cNvPr id="171" name="Shape 169"/>
          <p:cNvSpPr/>
          <p:nvPr/>
        </p:nvSpPr>
        <p:spPr>
          <a:xfrm>
            <a:off x="2999232" y="4370832"/>
            <a:ext cx="19202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Text 170"/>
          <p:cNvSpPr txBox="1"/>
          <p:nvPr/>
        </p:nvSpPr>
        <p:spPr>
          <a:xfrm>
            <a:off x="3035808" y="438912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4919472" y="4370832"/>
            <a:ext cx="10515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4" name="Text 172"/>
          <p:cNvSpPr txBox="1"/>
          <p:nvPr/>
        </p:nvSpPr>
        <p:spPr>
          <a:xfrm>
            <a:off x="4956048" y="4389120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900" dirty="0"/>
          </a:p>
        </p:txBody>
      </p:sp>
      <p:sp>
        <p:nvSpPr>
          <p:cNvPr id="175" name="Shape 173"/>
          <p:cNvSpPr/>
          <p:nvPr/>
        </p:nvSpPr>
        <p:spPr>
          <a:xfrm>
            <a:off x="5971032" y="4370832"/>
            <a:ext cx="91440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6" name="Text 174"/>
          <p:cNvSpPr txBox="1"/>
          <p:nvPr/>
        </p:nvSpPr>
        <p:spPr>
          <a:xfrm>
            <a:off x="6007608" y="438912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177" name="Shape 175"/>
          <p:cNvSpPr/>
          <p:nvPr/>
        </p:nvSpPr>
        <p:spPr>
          <a:xfrm>
            <a:off x="6885432" y="4370832"/>
            <a:ext cx="23317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8" name="Text 176"/>
          <p:cNvSpPr txBox="1"/>
          <p:nvPr/>
        </p:nvSpPr>
        <p:spPr>
          <a:xfrm>
            <a:off x="6922008" y="4389120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content — 97%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9217152" y="4370832"/>
            <a:ext cx="9601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178"/>
          <p:cNvSpPr txBox="1"/>
          <p:nvPr/>
        </p:nvSpPr>
        <p:spPr>
          <a:xfrm>
            <a:off x="9253728" y="438912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181" name="Shape 179"/>
          <p:cNvSpPr/>
          <p:nvPr/>
        </p:nvSpPr>
        <p:spPr>
          <a:xfrm>
            <a:off x="9281160" y="4439412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2" name="Text 180"/>
          <p:cNvSpPr txBox="1"/>
          <p:nvPr/>
        </p:nvSpPr>
        <p:spPr>
          <a:xfrm>
            <a:off x="9281160" y="444855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713232" y="4700016"/>
            <a:ext cx="3200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4" name="Text 182"/>
          <p:cNvSpPr txBox="1"/>
          <p:nvPr/>
        </p:nvSpPr>
        <p:spPr>
          <a:xfrm>
            <a:off x="749808" y="4718304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560" dirty="0"/>
          </a:p>
        </p:txBody>
      </p:sp>
      <p:sp>
        <p:nvSpPr>
          <p:cNvPr id="185" name="Shape 183"/>
          <p:cNvSpPr/>
          <p:nvPr/>
        </p:nvSpPr>
        <p:spPr>
          <a:xfrm>
            <a:off x="1033272" y="4700016"/>
            <a:ext cx="19659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6" name="Text 184"/>
          <p:cNvSpPr txBox="1"/>
          <p:nvPr/>
        </p:nvSpPr>
        <p:spPr>
          <a:xfrm>
            <a:off x="1069848" y="47183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900" dirty="0"/>
          </a:p>
        </p:txBody>
      </p:sp>
      <p:sp>
        <p:nvSpPr>
          <p:cNvPr id="187" name="Shape 185"/>
          <p:cNvSpPr/>
          <p:nvPr/>
        </p:nvSpPr>
        <p:spPr>
          <a:xfrm>
            <a:off x="2999232" y="4700016"/>
            <a:ext cx="19202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Text 186"/>
          <p:cNvSpPr txBox="1"/>
          <p:nvPr/>
        </p:nvSpPr>
        <p:spPr>
          <a:xfrm>
            <a:off x="3035808" y="4718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900" dirty="0"/>
          </a:p>
        </p:txBody>
      </p:sp>
      <p:sp>
        <p:nvSpPr>
          <p:cNvPr id="189" name="Shape 187"/>
          <p:cNvSpPr/>
          <p:nvPr/>
        </p:nvSpPr>
        <p:spPr>
          <a:xfrm>
            <a:off x="4919472" y="4700016"/>
            <a:ext cx="1051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0" name="Text 188"/>
          <p:cNvSpPr txBox="1"/>
          <p:nvPr/>
        </p:nvSpPr>
        <p:spPr>
          <a:xfrm>
            <a:off x="4956048" y="4718304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900" dirty="0"/>
          </a:p>
        </p:txBody>
      </p:sp>
      <p:sp>
        <p:nvSpPr>
          <p:cNvPr id="191" name="Shape 189"/>
          <p:cNvSpPr/>
          <p:nvPr/>
        </p:nvSpPr>
        <p:spPr>
          <a:xfrm>
            <a:off x="5971032" y="4700016"/>
            <a:ext cx="914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2" name="Text 190"/>
          <p:cNvSpPr txBox="1"/>
          <p:nvPr/>
        </p:nvSpPr>
        <p:spPr>
          <a:xfrm>
            <a:off x="6007608" y="4718304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900" dirty="0"/>
          </a:p>
        </p:txBody>
      </p:sp>
      <p:sp>
        <p:nvSpPr>
          <p:cNvPr id="193" name="Shape 191"/>
          <p:cNvSpPr/>
          <p:nvPr/>
        </p:nvSpPr>
        <p:spPr>
          <a:xfrm>
            <a:off x="6885432" y="4700016"/>
            <a:ext cx="23317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4" name="Text 192"/>
          <p:cNvSpPr txBox="1"/>
          <p:nvPr/>
        </p:nvSpPr>
        <p:spPr>
          <a:xfrm>
            <a:off x="6922008" y="4718304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delivery — 100%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9217152" y="4700016"/>
            <a:ext cx="960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4"/>
          <p:cNvSpPr txBox="1"/>
          <p:nvPr/>
        </p:nvSpPr>
        <p:spPr>
          <a:xfrm>
            <a:off x="9253728" y="4718304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197" name="Shape 195"/>
          <p:cNvSpPr/>
          <p:nvPr/>
        </p:nvSpPr>
        <p:spPr>
          <a:xfrm>
            <a:off x="9281160" y="4768596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8" name="Text 196"/>
          <p:cNvSpPr txBox="1"/>
          <p:nvPr/>
        </p:nvSpPr>
        <p:spPr>
          <a:xfrm>
            <a:off x="9281160" y="477774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713232" y="5029200"/>
            <a:ext cx="3200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0" name="Text 198"/>
          <p:cNvSpPr txBox="1"/>
          <p:nvPr/>
        </p:nvSpPr>
        <p:spPr>
          <a:xfrm>
            <a:off x="749808" y="5047488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560" dirty="0"/>
          </a:p>
        </p:txBody>
      </p:sp>
      <p:sp>
        <p:nvSpPr>
          <p:cNvPr id="201" name="Shape 199"/>
          <p:cNvSpPr/>
          <p:nvPr/>
        </p:nvSpPr>
        <p:spPr>
          <a:xfrm>
            <a:off x="1033272" y="5029200"/>
            <a:ext cx="19659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0"/>
          <p:cNvSpPr txBox="1"/>
          <p:nvPr/>
        </p:nvSpPr>
        <p:spPr>
          <a:xfrm>
            <a:off x="1069848" y="504748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900" dirty="0"/>
          </a:p>
        </p:txBody>
      </p:sp>
      <p:sp>
        <p:nvSpPr>
          <p:cNvPr id="203" name="Shape 201"/>
          <p:cNvSpPr/>
          <p:nvPr/>
        </p:nvSpPr>
        <p:spPr>
          <a:xfrm>
            <a:off x="2999232" y="5029200"/>
            <a:ext cx="192024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Text 202"/>
          <p:cNvSpPr txBox="1"/>
          <p:nvPr/>
        </p:nvSpPr>
        <p:spPr>
          <a:xfrm>
            <a:off x="3035808" y="504748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900" dirty="0"/>
          </a:p>
        </p:txBody>
      </p:sp>
      <p:sp>
        <p:nvSpPr>
          <p:cNvPr id="205" name="Shape 203"/>
          <p:cNvSpPr/>
          <p:nvPr/>
        </p:nvSpPr>
        <p:spPr>
          <a:xfrm>
            <a:off x="4919472" y="5029200"/>
            <a:ext cx="105156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Text 204"/>
          <p:cNvSpPr txBox="1"/>
          <p:nvPr/>
        </p:nvSpPr>
        <p:spPr>
          <a:xfrm>
            <a:off x="4956048" y="5047488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900" dirty="0"/>
          </a:p>
        </p:txBody>
      </p:sp>
      <p:sp>
        <p:nvSpPr>
          <p:cNvPr id="207" name="Shape 205"/>
          <p:cNvSpPr/>
          <p:nvPr/>
        </p:nvSpPr>
        <p:spPr>
          <a:xfrm>
            <a:off x="5971032" y="5029200"/>
            <a:ext cx="91440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6"/>
          <p:cNvSpPr txBox="1"/>
          <p:nvPr/>
        </p:nvSpPr>
        <p:spPr>
          <a:xfrm>
            <a:off x="6007608" y="5047488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900" dirty="0"/>
          </a:p>
        </p:txBody>
      </p:sp>
      <p:sp>
        <p:nvSpPr>
          <p:cNvPr id="209" name="Shape 207"/>
          <p:cNvSpPr/>
          <p:nvPr/>
        </p:nvSpPr>
        <p:spPr>
          <a:xfrm>
            <a:off x="6885432" y="5029200"/>
            <a:ext cx="23317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Text 208"/>
          <p:cNvSpPr txBox="1"/>
          <p:nvPr/>
        </p:nvSpPr>
        <p:spPr>
          <a:xfrm>
            <a:off x="6922008" y="5047488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guidelines — 95%</a:t>
            </a:r>
            <a:endParaRPr lang="en-US" sz="900" dirty="0"/>
          </a:p>
        </p:txBody>
      </p:sp>
      <p:sp>
        <p:nvSpPr>
          <p:cNvPr id="211" name="Shape 209"/>
          <p:cNvSpPr/>
          <p:nvPr/>
        </p:nvSpPr>
        <p:spPr>
          <a:xfrm>
            <a:off x="9217152" y="5029200"/>
            <a:ext cx="960120" cy="329184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0"/>
          <p:cNvSpPr txBox="1"/>
          <p:nvPr/>
        </p:nvSpPr>
        <p:spPr>
          <a:xfrm>
            <a:off x="9253728" y="5047488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213" name="Shape 211"/>
          <p:cNvSpPr/>
          <p:nvPr/>
        </p:nvSpPr>
        <p:spPr>
          <a:xfrm>
            <a:off x="9281160" y="5097780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4" name="Text 212"/>
          <p:cNvSpPr txBox="1"/>
          <p:nvPr/>
        </p:nvSpPr>
        <p:spPr>
          <a:xfrm>
            <a:off x="9281160" y="510692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713232" y="5358384"/>
            <a:ext cx="3200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4"/>
          <p:cNvSpPr txBox="1"/>
          <p:nvPr/>
        </p:nvSpPr>
        <p:spPr>
          <a:xfrm>
            <a:off x="749808" y="5376672"/>
            <a:ext cx="246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6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560" dirty="0"/>
          </a:p>
        </p:txBody>
      </p:sp>
      <p:sp>
        <p:nvSpPr>
          <p:cNvPr id="217" name="Shape 215"/>
          <p:cNvSpPr/>
          <p:nvPr/>
        </p:nvSpPr>
        <p:spPr>
          <a:xfrm>
            <a:off x="1033272" y="5358384"/>
            <a:ext cx="19659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6"/>
          <p:cNvSpPr txBox="1"/>
          <p:nvPr/>
        </p:nvSpPr>
        <p:spPr>
          <a:xfrm>
            <a:off x="1069848" y="5376672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900" dirty="0"/>
          </a:p>
        </p:txBody>
      </p:sp>
      <p:sp>
        <p:nvSpPr>
          <p:cNvPr id="219" name="Shape 217"/>
          <p:cNvSpPr/>
          <p:nvPr/>
        </p:nvSpPr>
        <p:spPr>
          <a:xfrm>
            <a:off x="2999232" y="5358384"/>
            <a:ext cx="192024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218"/>
          <p:cNvSpPr txBox="1"/>
          <p:nvPr/>
        </p:nvSpPr>
        <p:spPr>
          <a:xfrm>
            <a:off x="3035808" y="537667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900" dirty="0"/>
          </a:p>
        </p:txBody>
      </p:sp>
      <p:sp>
        <p:nvSpPr>
          <p:cNvPr id="221" name="Shape 219"/>
          <p:cNvSpPr/>
          <p:nvPr/>
        </p:nvSpPr>
        <p:spPr>
          <a:xfrm>
            <a:off x="4919472" y="5358384"/>
            <a:ext cx="105156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Text 220"/>
          <p:cNvSpPr txBox="1"/>
          <p:nvPr/>
        </p:nvSpPr>
        <p:spPr>
          <a:xfrm>
            <a:off x="4956048" y="5376672"/>
            <a:ext cx="978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5971032" y="5358384"/>
            <a:ext cx="91440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Text 222"/>
          <p:cNvSpPr txBox="1"/>
          <p:nvPr/>
        </p:nvSpPr>
        <p:spPr>
          <a:xfrm>
            <a:off x="6007608" y="5376672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225" name="Shape 223"/>
          <p:cNvSpPr/>
          <p:nvPr/>
        </p:nvSpPr>
        <p:spPr>
          <a:xfrm>
            <a:off x="6885432" y="5358384"/>
            <a:ext cx="23317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Text 224"/>
          <p:cNvSpPr txBox="1"/>
          <p:nvPr/>
        </p:nvSpPr>
        <p:spPr>
          <a:xfrm>
            <a:off x="6922008" y="537667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ROI — 99%</a:t>
            </a:r>
            <a:endParaRPr lang="en-US" sz="900" dirty="0"/>
          </a:p>
        </p:txBody>
      </p:sp>
      <p:sp>
        <p:nvSpPr>
          <p:cNvPr id="227" name="Shape 225"/>
          <p:cNvSpPr/>
          <p:nvPr/>
        </p:nvSpPr>
        <p:spPr>
          <a:xfrm>
            <a:off x="9217152" y="5358384"/>
            <a:ext cx="960120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8" name="Text 226"/>
          <p:cNvSpPr txBox="1"/>
          <p:nvPr/>
        </p:nvSpPr>
        <p:spPr>
          <a:xfrm>
            <a:off x="9253728" y="5376672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620" dirty="0"/>
          </a:p>
        </p:txBody>
      </p:sp>
      <p:sp>
        <p:nvSpPr>
          <p:cNvPr id="229" name="Shape 227"/>
          <p:cNvSpPr/>
          <p:nvPr/>
        </p:nvSpPr>
        <p:spPr>
          <a:xfrm>
            <a:off x="9281160" y="5426964"/>
            <a:ext cx="713232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Text 228"/>
          <p:cNvSpPr txBox="1"/>
          <p:nvPr/>
        </p:nvSpPr>
        <p:spPr>
          <a:xfrm>
            <a:off x="9281160" y="543610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502920" y="6144768"/>
            <a:ext cx="10927080" cy="310896"/>
          </a:xfrm>
          <a:prstGeom prst="roundRect">
            <a:avLst>
              <a:gd name="adj" fmla="val 17647"/>
            </a:avLst>
          </a:prstGeom>
          <a:solidFill>
            <a:srgbClr val="FEF3F2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Text 230"/>
          <p:cNvSpPr txBox="1"/>
          <p:nvPr/>
        </p:nvSpPr>
        <p:spPr>
          <a:xfrm>
            <a:off x="630936" y="6181344"/>
            <a:ext cx="1067104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 focus: the bottom 5. MoM tells us urgency; Main Score tells us severity. Bahy has both the lowest score and the largest decline.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Root Cause Evidence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first: actual result, target, achievement, score loss, and observed operating issue.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Root Cause Evidence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10835640" cy="3950208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" name="Shape 7"/>
          <p:cNvSpPr/>
          <p:nvPr/>
        </p:nvSpPr>
        <p:spPr>
          <a:xfrm>
            <a:off x="411480" y="1051560"/>
            <a:ext cx="1417320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" name="Text 8"/>
          <p:cNvSpPr txBox="1"/>
          <p:nvPr/>
        </p:nvSpPr>
        <p:spPr>
          <a:xfrm>
            <a:off x="448056" y="106984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051560"/>
            <a:ext cx="1325880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" name="Text 10"/>
          <p:cNvSpPr txBox="1"/>
          <p:nvPr/>
        </p:nvSpPr>
        <p:spPr>
          <a:xfrm>
            <a:off x="1865376" y="10698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1051560"/>
            <a:ext cx="1325880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 12"/>
          <p:cNvSpPr txBox="1"/>
          <p:nvPr/>
        </p:nvSpPr>
        <p:spPr>
          <a:xfrm>
            <a:off x="3191256" y="1069848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80560" y="1051560"/>
            <a:ext cx="749808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" name="Text 14"/>
          <p:cNvSpPr txBox="1"/>
          <p:nvPr/>
        </p:nvSpPr>
        <p:spPr>
          <a:xfrm>
            <a:off x="4517136" y="10698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30368" y="1051560"/>
            <a:ext cx="749808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" name="Text 16"/>
          <p:cNvSpPr txBox="1"/>
          <p:nvPr/>
        </p:nvSpPr>
        <p:spPr>
          <a:xfrm>
            <a:off x="5266944" y="10698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0176" y="1051560"/>
            <a:ext cx="594360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" name="Text 18"/>
          <p:cNvSpPr txBox="1"/>
          <p:nvPr/>
        </p:nvSpPr>
        <p:spPr>
          <a:xfrm>
            <a:off x="6016752" y="1069848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74536" y="1051560"/>
            <a:ext cx="749808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" name="Text 20"/>
          <p:cNvSpPr txBox="1"/>
          <p:nvPr/>
        </p:nvSpPr>
        <p:spPr>
          <a:xfrm>
            <a:off x="6611112" y="106984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Loss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24344" y="1051560"/>
            <a:ext cx="3703320" cy="29260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" name="Text 22"/>
          <p:cNvSpPr txBox="1"/>
          <p:nvPr/>
        </p:nvSpPr>
        <p:spPr>
          <a:xfrm>
            <a:off x="7360920" y="106984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/ operating issue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1344168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" name="Text 24"/>
          <p:cNvSpPr txBox="1"/>
          <p:nvPr/>
        </p:nvSpPr>
        <p:spPr>
          <a:xfrm>
            <a:off x="448056" y="13624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3441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8" name="Text 26"/>
          <p:cNvSpPr txBox="1"/>
          <p:nvPr/>
        </p:nvSpPr>
        <p:spPr>
          <a:xfrm>
            <a:off x="1865376" y="13624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54680" y="13441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0" name="Text 28"/>
          <p:cNvSpPr txBox="1"/>
          <p:nvPr/>
        </p:nvSpPr>
        <p:spPr>
          <a:xfrm>
            <a:off x="3191256" y="13624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480560" y="13441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2" name="Text 30"/>
          <p:cNvSpPr txBox="1"/>
          <p:nvPr/>
        </p:nvSpPr>
        <p:spPr>
          <a:xfrm>
            <a:off x="4517136" y="1362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30368" y="13441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4" name="Text 32"/>
          <p:cNvSpPr txBox="1"/>
          <p:nvPr/>
        </p:nvSpPr>
        <p:spPr>
          <a:xfrm>
            <a:off x="5266944" y="1362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80176" y="1344168"/>
            <a:ext cx="594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6" name="Text 34"/>
          <p:cNvSpPr txBox="1"/>
          <p:nvPr/>
        </p:nvSpPr>
        <p:spPr>
          <a:xfrm>
            <a:off x="6016752" y="13624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19.5%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74536" y="13441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8" name="Text 36"/>
          <p:cNvSpPr txBox="1"/>
          <p:nvPr/>
        </p:nvSpPr>
        <p:spPr>
          <a:xfrm>
            <a:off x="6611112" y="1362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24344" y="1344168"/>
            <a:ext cx="3703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0" name="Text 38"/>
          <p:cNvSpPr txBox="1"/>
          <p:nvPr/>
        </p:nvSpPr>
        <p:spPr>
          <a:xfrm>
            <a:off x="7360920" y="13624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Conversion-quality gap; paid traffic is not converting to required rate.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29768" y="18013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2" name="Shape 40"/>
          <p:cNvSpPr/>
          <p:nvPr/>
        </p:nvSpPr>
        <p:spPr>
          <a:xfrm>
            <a:off x="411480" y="1801368"/>
            <a:ext cx="1417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 txBox="1"/>
          <p:nvPr/>
        </p:nvSpPr>
        <p:spPr>
          <a:xfrm>
            <a:off x="448056" y="18196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828800" y="18013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 txBox="1"/>
          <p:nvPr/>
        </p:nvSpPr>
        <p:spPr>
          <a:xfrm>
            <a:off x="1865376" y="18196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154680" y="18013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Text 45"/>
          <p:cNvSpPr txBox="1"/>
          <p:nvPr/>
        </p:nvSpPr>
        <p:spPr>
          <a:xfrm>
            <a:off x="3191256" y="18196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80560" y="18013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 txBox="1"/>
          <p:nvPr/>
        </p:nvSpPr>
        <p:spPr>
          <a:xfrm>
            <a:off x="4517136" y="1819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230368" y="18013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1" name="Text 49"/>
          <p:cNvSpPr txBox="1"/>
          <p:nvPr/>
        </p:nvSpPr>
        <p:spPr>
          <a:xfrm>
            <a:off x="5266944" y="1819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80176" y="1801368"/>
            <a:ext cx="59436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3" name="Text 51"/>
          <p:cNvSpPr txBox="1"/>
          <p:nvPr/>
        </p:nvSpPr>
        <p:spPr>
          <a:xfrm>
            <a:off x="6016752" y="18196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74536" y="18013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5" name="Text 53"/>
          <p:cNvSpPr txBox="1"/>
          <p:nvPr/>
        </p:nvSpPr>
        <p:spPr>
          <a:xfrm>
            <a:off x="6611112" y="1819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24344" y="1801368"/>
            <a:ext cx="3703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7" name="Text 55"/>
          <p:cNvSpPr txBox="1"/>
          <p:nvPr/>
        </p:nvSpPr>
        <p:spPr>
          <a:xfrm>
            <a:off x="7360920" y="18196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9768" y="22585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9" name="Shape 57"/>
          <p:cNvSpPr/>
          <p:nvPr/>
        </p:nvSpPr>
        <p:spPr>
          <a:xfrm>
            <a:off x="411480" y="2258568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 txBox="1"/>
          <p:nvPr/>
        </p:nvSpPr>
        <p:spPr>
          <a:xfrm>
            <a:off x="448056" y="22768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828800" y="22585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2" name="Text 60"/>
          <p:cNvSpPr txBox="1"/>
          <p:nvPr/>
        </p:nvSpPr>
        <p:spPr>
          <a:xfrm>
            <a:off x="1865376" y="22768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154680" y="22585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 txBox="1"/>
          <p:nvPr/>
        </p:nvSpPr>
        <p:spPr>
          <a:xfrm>
            <a:off x="3191256" y="22768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480560" y="22585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6" name="Text 64"/>
          <p:cNvSpPr txBox="1"/>
          <p:nvPr/>
        </p:nvSpPr>
        <p:spPr>
          <a:xfrm>
            <a:off x="4517136" y="2276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230368" y="22585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8" name="Text 66"/>
          <p:cNvSpPr txBox="1"/>
          <p:nvPr/>
        </p:nvSpPr>
        <p:spPr>
          <a:xfrm>
            <a:off x="5266944" y="2276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980176" y="2258568"/>
            <a:ext cx="594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0" name="Text 68"/>
          <p:cNvSpPr txBox="1"/>
          <p:nvPr/>
        </p:nvSpPr>
        <p:spPr>
          <a:xfrm>
            <a:off x="6016752" y="22768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574536" y="22585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2" name="Text 70"/>
          <p:cNvSpPr txBox="1"/>
          <p:nvPr/>
        </p:nvSpPr>
        <p:spPr>
          <a:xfrm>
            <a:off x="6611112" y="2276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324344" y="2258568"/>
            <a:ext cx="3703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4" name="Text 72"/>
          <p:cNvSpPr txBox="1"/>
          <p:nvPr/>
        </p:nvSpPr>
        <p:spPr>
          <a:xfrm>
            <a:off x="7360920" y="22768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29768" y="27157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6" name="Shape 74"/>
          <p:cNvSpPr/>
          <p:nvPr/>
        </p:nvSpPr>
        <p:spPr>
          <a:xfrm>
            <a:off x="411480" y="2715768"/>
            <a:ext cx="1417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7" name="Text 75"/>
          <p:cNvSpPr txBox="1"/>
          <p:nvPr/>
        </p:nvSpPr>
        <p:spPr>
          <a:xfrm>
            <a:off x="448056" y="27340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828800" y="27157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9" name="Text 77"/>
          <p:cNvSpPr txBox="1"/>
          <p:nvPr/>
        </p:nvSpPr>
        <p:spPr>
          <a:xfrm>
            <a:off x="1865376" y="27340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154680" y="27157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1" name="Text 79"/>
          <p:cNvSpPr txBox="1"/>
          <p:nvPr/>
        </p:nvSpPr>
        <p:spPr>
          <a:xfrm>
            <a:off x="3191256" y="27340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480560" y="27157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3" name="Text 81"/>
          <p:cNvSpPr txBox="1"/>
          <p:nvPr/>
        </p:nvSpPr>
        <p:spPr>
          <a:xfrm>
            <a:off x="4517136" y="27340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2.3K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230368" y="27157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5" name="Text 83"/>
          <p:cNvSpPr txBox="1"/>
          <p:nvPr/>
        </p:nvSpPr>
        <p:spPr>
          <a:xfrm>
            <a:off x="5266944" y="27340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6.5K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980176" y="2715768"/>
            <a:ext cx="59436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7" name="Text 85"/>
          <p:cNvSpPr txBox="1"/>
          <p:nvPr/>
        </p:nvSpPr>
        <p:spPr>
          <a:xfrm>
            <a:off x="6016752" y="27340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35.5%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574536" y="27157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9" name="Text 87"/>
          <p:cNvSpPr txBox="1"/>
          <p:nvPr/>
        </p:nvSpPr>
        <p:spPr>
          <a:xfrm>
            <a:off x="6611112" y="27340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19.4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324344" y="2715768"/>
            <a:ext cx="3703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1" name="Text 89"/>
          <p:cNvSpPr txBox="1"/>
          <p:nvPr/>
        </p:nvSpPr>
        <p:spPr>
          <a:xfrm>
            <a:off x="7360920" y="27340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volume is substantially below target; paid-media recovery needed.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29768" y="31729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3" name="Shape 91"/>
          <p:cNvSpPr/>
          <p:nvPr/>
        </p:nvSpPr>
        <p:spPr>
          <a:xfrm>
            <a:off x="411480" y="3172968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4" name="Text 92"/>
          <p:cNvSpPr txBox="1"/>
          <p:nvPr/>
        </p:nvSpPr>
        <p:spPr>
          <a:xfrm>
            <a:off x="448056" y="31912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828800" y="31729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6" name="Text 94"/>
          <p:cNvSpPr txBox="1"/>
          <p:nvPr/>
        </p:nvSpPr>
        <p:spPr>
          <a:xfrm>
            <a:off x="1865376" y="31912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3154680" y="31729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8" name="Text 96"/>
          <p:cNvSpPr txBox="1"/>
          <p:nvPr/>
        </p:nvSpPr>
        <p:spPr>
          <a:xfrm>
            <a:off x="3191256" y="31912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480560" y="31729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0" name="Text 98"/>
          <p:cNvSpPr txBox="1"/>
          <p:nvPr/>
        </p:nvSpPr>
        <p:spPr>
          <a:xfrm>
            <a:off x="4517136" y="31912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33.4%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5230368" y="31729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2" name="Text 100"/>
          <p:cNvSpPr txBox="1"/>
          <p:nvPr/>
        </p:nvSpPr>
        <p:spPr>
          <a:xfrm>
            <a:off x="5266944" y="31912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80.5%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5980176" y="3172968"/>
            <a:ext cx="594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4" name="Text 102"/>
          <p:cNvSpPr txBox="1"/>
          <p:nvPr/>
        </p:nvSpPr>
        <p:spPr>
          <a:xfrm>
            <a:off x="6016752" y="31912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41.5%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74536" y="31729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6" name="Text 104"/>
          <p:cNvSpPr txBox="1"/>
          <p:nvPr/>
        </p:nvSpPr>
        <p:spPr>
          <a:xfrm>
            <a:off x="6611112" y="31912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7324344" y="3172968"/>
            <a:ext cx="3703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8" name="Text 106"/>
          <p:cNvSpPr txBox="1"/>
          <p:nvPr/>
        </p:nvSpPr>
        <p:spPr>
          <a:xfrm>
            <a:off x="7360920" y="31912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Conversion-quality gap; paid traffic is not converting to required rate.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29768" y="36301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0" name="Shape 108"/>
          <p:cNvSpPr/>
          <p:nvPr/>
        </p:nvSpPr>
        <p:spPr>
          <a:xfrm>
            <a:off x="411480" y="3630168"/>
            <a:ext cx="1417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1" name="Text 109"/>
          <p:cNvSpPr txBox="1"/>
          <p:nvPr/>
        </p:nvSpPr>
        <p:spPr>
          <a:xfrm>
            <a:off x="448056" y="36484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1828800" y="36301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3" name="Text 111"/>
          <p:cNvSpPr txBox="1"/>
          <p:nvPr/>
        </p:nvSpPr>
        <p:spPr>
          <a:xfrm>
            <a:off x="1865376" y="36484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154680" y="36301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5" name="Text 113"/>
          <p:cNvSpPr txBox="1"/>
          <p:nvPr/>
        </p:nvSpPr>
        <p:spPr>
          <a:xfrm>
            <a:off x="3191256" y="36484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4480560" y="36301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7" name="Text 115"/>
          <p:cNvSpPr txBox="1"/>
          <p:nvPr/>
        </p:nvSpPr>
        <p:spPr>
          <a:xfrm>
            <a:off x="4517136" y="3648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5230368" y="36301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9" name="Text 117"/>
          <p:cNvSpPr txBox="1"/>
          <p:nvPr/>
        </p:nvSpPr>
        <p:spPr>
          <a:xfrm>
            <a:off x="5266944" y="3648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5980176" y="3630168"/>
            <a:ext cx="59436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1" name="Text 119"/>
          <p:cNvSpPr txBox="1"/>
          <p:nvPr/>
        </p:nvSpPr>
        <p:spPr>
          <a:xfrm>
            <a:off x="6016752" y="36484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6574536" y="36301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3" name="Text 121"/>
          <p:cNvSpPr txBox="1"/>
          <p:nvPr/>
        </p:nvSpPr>
        <p:spPr>
          <a:xfrm>
            <a:off x="6611112" y="36484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7324344" y="3630168"/>
            <a:ext cx="3703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5" name="Text 123"/>
          <p:cNvSpPr txBox="1"/>
          <p:nvPr/>
        </p:nvSpPr>
        <p:spPr>
          <a:xfrm>
            <a:off x="7360920" y="36484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reliability issue; uptime achievement is only 50%.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429768" y="40873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7" name="Shape 125"/>
          <p:cNvSpPr/>
          <p:nvPr/>
        </p:nvSpPr>
        <p:spPr>
          <a:xfrm>
            <a:off x="411480" y="4087368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8" name="Text 126"/>
          <p:cNvSpPr txBox="1"/>
          <p:nvPr/>
        </p:nvSpPr>
        <p:spPr>
          <a:xfrm>
            <a:off x="448056" y="41056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1828800" y="40873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0" name="Text 128"/>
          <p:cNvSpPr txBox="1"/>
          <p:nvPr/>
        </p:nvSpPr>
        <p:spPr>
          <a:xfrm>
            <a:off x="1865376" y="41056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3154680" y="4087368"/>
            <a:ext cx="132588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2" name="Text 130"/>
          <p:cNvSpPr txBox="1"/>
          <p:nvPr/>
        </p:nvSpPr>
        <p:spPr>
          <a:xfrm>
            <a:off x="3191256" y="41056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4480560" y="40873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4" name="Text 132"/>
          <p:cNvSpPr txBox="1"/>
          <p:nvPr/>
        </p:nvSpPr>
        <p:spPr>
          <a:xfrm>
            <a:off x="4517136" y="4105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sec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230368" y="40873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6" name="Text 134"/>
          <p:cNvSpPr txBox="1"/>
          <p:nvPr/>
        </p:nvSpPr>
        <p:spPr>
          <a:xfrm>
            <a:off x="5266944" y="4105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sec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5980176" y="4087368"/>
            <a:ext cx="59436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8" name="Text 136"/>
          <p:cNvSpPr txBox="1"/>
          <p:nvPr/>
        </p:nvSpPr>
        <p:spPr>
          <a:xfrm>
            <a:off x="6016752" y="41056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6574536" y="4087368"/>
            <a:ext cx="749808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0" name="Text 138"/>
          <p:cNvSpPr txBox="1"/>
          <p:nvPr/>
        </p:nvSpPr>
        <p:spPr>
          <a:xfrm>
            <a:off x="6611112" y="41056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7324344" y="4087368"/>
            <a:ext cx="3703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2" name="Text 140"/>
          <p:cNvSpPr txBox="1"/>
          <p:nvPr/>
        </p:nvSpPr>
        <p:spPr>
          <a:xfrm>
            <a:off x="7360920" y="41056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time is 6 sec vs 3 sec target; technical remediation required.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429768" y="45445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4" name="Shape 142"/>
          <p:cNvSpPr/>
          <p:nvPr/>
        </p:nvSpPr>
        <p:spPr>
          <a:xfrm>
            <a:off x="411480" y="4544568"/>
            <a:ext cx="1417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5" name="Text 143"/>
          <p:cNvSpPr txBox="1"/>
          <p:nvPr/>
        </p:nvSpPr>
        <p:spPr>
          <a:xfrm>
            <a:off x="448056" y="4562856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1828800" y="45445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7" name="Text 145"/>
          <p:cNvSpPr txBox="1"/>
          <p:nvPr/>
        </p:nvSpPr>
        <p:spPr>
          <a:xfrm>
            <a:off x="1865376" y="45628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3154680" y="4544568"/>
            <a:ext cx="132588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9" name="Text 147"/>
          <p:cNvSpPr txBox="1"/>
          <p:nvPr/>
        </p:nvSpPr>
        <p:spPr>
          <a:xfrm>
            <a:off x="3191256" y="4562856"/>
            <a:ext cx="12527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480560" y="45445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1" name="Text 149"/>
          <p:cNvSpPr txBox="1"/>
          <p:nvPr/>
        </p:nvSpPr>
        <p:spPr>
          <a:xfrm>
            <a:off x="4517136" y="4562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5230368" y="45445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3" name="Text 151"/>
          <p:cNvSpPr txBox="1"/>
          <p:nvPr/>
        </p:nvSpPr>
        <p:spPr>
          <a:xfrm>
            <a:off x="5266944" y="4562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980176" y="4544568"/>
            <a:ext cx="59436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5" name="Text 153"/>
          <p:cNvSpPr txBox="1"/>
          <p:nvPr/>
        </p:nvSpPr>
        <p:spPr>
          <a:xfrm>
            <a:off x="6016752" y="4562856"/>
            <a:ext cx="521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6574536" y="4544568"/>
            <a:ext cx="749808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7" name="Text 155"/>
          <p:cNvSpPr txBox="1"/>
          <p:nvPr/>
        </p:nvSpPr>
        <p:spPr>
          <a:xfrm>
            <a:off x="6611112" y="4562856"/>
            <a:ext cx="676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7324344" y="4544568"/>
            <a:ext cx="3703320" cy="457200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9" name="Text 157"/>
          <p:cNvSpPr txBox="1"/>
          <p:nvPr/>
        </p:nvSpPr>
        <p:spPr>
          <a:xfrm>
            <a:off x="7360920" y="4562856"/>
            <a:ext cx="3630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/ slow first response; SLA routing needs automation.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429768" y="5001768"/>
            <a:ext cx="107990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1" name="Shape 159"/>
          <p:cNvSpPr/>
          <p:nvPr/>
        </p:nvSpPr>
        <p:spPr>
          <a:xfrm>
            <a:off x="411480" y="6016752"/>
            <a:ext cx="10835640" cy="310896"/>
          </a:xfrm>
          <a:prstGeom prst="roundRect">
            <a:avLst>
              <a:gd name="adj" fmla="val 17647"/>
            </a:avLst>
          </a:prstGeom>
          <a:solidFill>
            <a:srgbClr val="FFFAEB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ext 160"/>
          <p:cNvSpPr txBox="1"/>
          <p:nvPr/>
        </p:nvSpPr>
        <p:spPr>
          <a:xfrm>
            <a:off x="539496" y="6053328"/>
            <a:ext cx="10579608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slide separates evidence from assumption. Where Excel only shows a gap, we label the operating issue rather than claiming an unproven root cause.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Action Plan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by score impact. Owners, execution, success measure, and timing are explicit.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Action Plan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10607040" cy="3675888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41148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539496" y="1115568"/>
            <a:ext cx="338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14400" y="1097280"/>
            <a:ext cx="160020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 txBox="1"/>
          <p:nvPr/>
        </p:nvSpPr>
        <p:spPr>
          <a:xfrm>
            <a:off x="950976" y="111556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14600" y="1097280"/>
            <a:ext cx="160020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Text 12"/>
          <p:cNvSpPr txBox="1"/>
          <p:nvPr/>
        </p:nvSpPr>
        <p:spPr>
          <a:xfrm>
            <a:off x="2551176" y="1115568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0" y="1097280"/>
            <a:ext cx="356616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4151376" y="11155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680960" y="1097280"/>
            <a:ext cx="251460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 txBox="1"/>
          <p:nvPr/>
        </p:nvSpPr>
        <p:spPr>
          <a:xfrm>
            <a:off x="7717536" y="1115568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Measure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195560" y="1097280"/>
            <a:ext cx="914400" cy="310896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" name="Text 18"/>
          <p:cNvSpPr txBox="1"/>
          <p:nvPr/>
        </p:nvSpPr>
        <p:spPr>
          <a:xfrm>
            <a:off x="10232136" y="111556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1408176"/>
            <a:ext cx="411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539496" y="1426464"/>
            <a:ext cx="338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0" y="1408176"/>
            <a:ext cx="16002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 txBox="1"/>
          <p:nvPr/>
        </p:nvSpPr>
        <p:spPr>
          <a:xfrm>
            <a:off x="950976" y="1426464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 Recovery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14600" y="1408176"/>
            <a:ext cx="16002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24"/>
          <p:cNvSpPr txBox="1"/>
          <p:nvPr/>
        </p:nvSpPr>
        <p:spPr>
          <a:xfrm>
            <a:off x="2551176" y="1426464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+ Ziad / Media Buying Lead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114800" y="1408176"/>
            <a:ext cx="35661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Text 26"/>
          <p:cNvSpPr txBox="1"/>
          <p:nvPr/>
        </p:nvSpPr>
        <p:spPr>
          <a:xfrm>
            <a:off x="4151376" y="1426464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low-efficiency ad sets; reallocate budget to top converting audiences; review landing-page conversion daily.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680960" y="1408176"/>
            <a:ext cx="25146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7717536" y="1426464"/>
            <a:ext cx="2441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≥70% achievement, CPV/CPL ≤ target, leads gap closed by 50%.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195560" y="1408176"/>
            <a:ext cx="9144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30"/>
          <p:cNvSpPr txBox="1"/>
          <p:nvPr/>
        </p:nvSpPr>
        <p:spPr>
          <a:xfrm>
            <a:off x="10232136" y="1426464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working days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21208" y="2249424"/>
            <a:ext cx="105704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" name="Shape 32"/>
          <p:cNvSpPr/>
          <p:nvPr/>
        </p:nvSpPr>
        <p:spPr>
          <a:xfrm>
            <a:off x="502920" y="2249424"/>
            <a:ext cx="41148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33"/>
          <p:cNvSpPr txBox="1"/>
          <p:nvPr/>
        </p:nvSpPr>
        <p:spPr>
          <a:xfrm>
            <a:off x="539496" y="2267712"/>
            <a:ext cx="338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14400" y="2249424"/>
            <a:ext cx="16002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950976" y="2267712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 Fix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514600" y="2249424"/>
            <a:ext cx="16002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 txBox="1"/>
          <p:nvPr/>
        </p:nvSpPr>
        <p:spPr>
          <a:xfrm>
            <a:off x="2551176" y="2267712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+ Samya + Mina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114800" y="2249424"/>
            <a:ext cx="356616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1" name="Text 39"/>
          <p:cNvSpPr txBox="1"/>
          <p:nvPr/>
        </p:nvSpPr>
        <p:spPr>
          <a:xfrm>
            <a:off x="4151376" y="2267712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auto-reply with ETA, assign live queue owner, route tickets instantly, exclude off-hours from SLA.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680960" y="2249424"/>
            <a:ext cx="25146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 txBox="1"/>
          <p:nvPr/>
        </p:nvSpPr>
        <p:spPr>
          <a:xfrm>
            <a:off x="7717536" y="2267712"/>
            <a:ext cx="2441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response time ≤30 minutes.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0195560" y="2249424"/>
            <a:ext cx="9144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" name="Text 43"/>
          <p:cNvSpPr txBox="1"/>
          <p:nvPr/>
        </p:nvSpPr>
        <p:spPr>
          <a:xfrm>
            <a:off x="10232136" y="2267712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working days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21208" y="3090672"/>
            <a:ext cx="105704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7" name="Shape 45"/>
          <p:cNvSpPr/>
          <p:nvPr/>
        </p:nvSpPr>
        <p:spPr>
          <a:xfrm>
            <a:off x="502920" y="3090672"/>
            <a:ext cx="41148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46"/>
          <p:cNvSpPr txBox="1"/>
          <p:nvPr/>
        </p:nvSpPr>
        <p:spPr>
          <a:xfrm>
            <a:off x="539496" y="3108960"/>
            <a:ext cx="338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14400" y="3090672"/>
            <a:ext cx="16002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48"/>
          <p:cNvSpPr txBox="1"/>
          <p:nvPr/>
        </p:nvSpPr>
        <p:spPr>
          <a:xfrm>
            <a:off x="950976" y="3108960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Speed &amp; Uptime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514600" y="3090672"/>
            <a:ext cx="16002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50"/>
          <p:cNvSpPr txBox="1"/>
          <p:nvPr/>
        </p:nvSpPr>
        <p:spPr>
          <a:xfrm>
            <a:off x="2551176" y="3108960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0" y="3090672"/>
            <a:ext cx="356616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Text 52"/>
          <p:cNvSpPr txBox="1"/>
          <p:nvPr/>
        </p:nvSpPr>
        <p:spPr>
          <a:xfrm>
            <a:off x="4151376" y="3108960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uptime monitoring; compress images; cache/CDN; minify CSS/JS; fix slow </a:t>
            </a:r>
            <a:r>
              <a:rPr lang="en-US" sz="700" dirty="0" err="1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</a:t>
            </a: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680960" y="3090672"/>
            <a:ext cx="25146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Text 54"/>
          <p:cNvSpPr txBox="1"/>
          <p:nvPr/>
        </p:nvSpPr>
        <p:spPr>
          <a:xfrm>
            <a:off x="7717536" y="3108960"/>
            <a:ext cx="2441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Uptime ≥90% and load speed ≤3 sec.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0195560" y="3090672"/>
            <a:ext cx="914400" cy="841248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6"/>
          <p:cNvSpPr txBox="1"/>
          <p:nvPr/>
        </p:nvSpPr>
        <p:spPr>
          <a:xfrm>
            <a:off x="10232136" y="3108960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working days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21208" y="3931920"/>
            <a:ext cx="105704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0" name="Shape 58"/>
          <p:cNvSpPr/>
          <p:nvPr/>
        </p:nvSpPr>
        <p:spPr>
          <a:xfrm>
            <a:off x="502920" y="3931920"/>
            <a:ext cx="41148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1" name="Text 59"/>
          <p:cNvSpPr txBox="1"/>
          <p:nvPr/>
        </p:nvSpPr>
        <p:spPr>
          <a:xfrm>
            <a:off x="539496" y="3950208"/>
            <a:ext cx="3383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14400" y="3931920"/>
            <a:ext cx="16002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Text 61"/>
          <p:cNvSpPr txBox="1"/>
          <p:nvPr/>
        </p:nvSpPr>
        <p:spPr>
          <a:xfrm>
            <a:off x="950976" y="3950208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Split &amp; KPI Calibration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514600" y="3931920"/>
            <a:ext cx="16002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5" name="Text 63"/>
          <p:cNvSpPr txBox="1"/>
          <p:nvPr/>
        </p:nvSpPr>
        <p:spPr>
          <a:xfrm>
            <a:off x="2551176" y="3950208"/>
            <a:ext cx="1527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Ops / Team Leads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114800" y="3931920"/>
            <a:ext cx="356616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65"/>
          <p:cNvSpPr txBox="1"/>
          <p:nvPr/>
        </p:nvSpPr>
        <p:spPr>
          <a:xfrm>
            <a:off x="4151376" y="3950208"/>
            <a:ext cx="3493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Samya/Mina tracking; confirm Ziad baseline and expected volume; update individual KPI ownership.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680960" y="3931920"/>
            <a:ext cx="25146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9" name="Text 67"/>
          <p:cNvSpPr txBox="1"/>
          <p:nvPr/>
        </p:nvSpPr>
        <p:spPr>
          <a:xfrm>
            <a:off x="7717536" y="3950208"/>
            <a:ext cx="2441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employee-level KPI attribution.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10195560" y="3931920"/>
            <a:ext cx="914400" cy="841248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1" name="Text 69"/>
          <p:cNvSpPr txBox="1"/>
          <p:nvPr/>
        </p:nvSpPr>
        <p:spPr>
          <a:xfrm>
            <a:off x="10232136" y="3950208"/>
            <a:ext cx="841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working days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21208" y="4773168"/>
            <a:ext cx="1057046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3" name="Shape 71"/>
          <p:cNvSpPr/>
          <p:nvPr/>
        </p:nvSpPr>
        <p:spPr>
          <a:xfrm>
            <a:off x="502920" y="5971032"/>
            <a:ext cx="10607040" cy="365760"/>
          </a:xfrm>
          <a:prstGeom prst="roundRect">
            <a:avLst>
              <a:gd name="adj" fmla="val 15000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 txBox="1"/>
          <p:nvPr/>
        </p:nvSpPr>
        <p:spPr>
          <a:xfrm>
            <a:off x="630936" y="6007608"/>
            <a:ext cx="103510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Governance: daily P1 check, twice-weekly owner review, and end-of-month validation on both Main Score and MoM Change.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6A. Employee Detail — Bahy Hamed Amer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— Bahy Hamed Amer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3108960" cy="5230368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24328" y="110642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24328" y="1110996"/>
            <a:ext cx="82296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52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11247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39903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8013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54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20208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80136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54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5440680"/>
            <a:ext cx="2706624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" y="5477256"/>
            <a:ext cx="24505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paid-media recovery — fix conversion quality, reallocate budget, and protect top-performing audiences.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10058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Score Loss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86200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3886200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4014216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014216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376672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5376672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19.4 %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014216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014216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4014216" y="2153412"/>
            <a:ext cx="694487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401421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2.3K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5184648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6.5K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014216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327648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6327648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 txBox="1"/>
          <p:nvPr/>
        </p:nvSpPr>
        <p:spPr>
          <a:xfrm>
            <a:off x="6455664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55664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41%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818120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 txBox="1"/>
          <p:nvPr/>
        </p:nvSpPr>
        <p:spPr>
          <a:xfrm>
            <a:off x="7818120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17.6 %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6455664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455664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6455664" y="2153412"/>
            <a:ext cx="813542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 txBox="1"/>
          <p:nvPr/>
        </p:nvSpPr>
        <p:spPr>
          <a:xfrm>
            <a:off x="6455664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33.4%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762609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80.5%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455664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8769096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Shape 47"/>
          <p:cNvSpPr/>
          <p:nvPr/>
        </p:nvSpPr>
        <p:spPr>
          <a:xfrm>
            <a:off x="8769096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48"/>
          <p:cNvSpPr txBox="1"/>
          <p:nvPr/>
        </p:nvSpPr>
        <p:spPr>
          <a:xfrm>
            <a:off x="8897112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897112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0259568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Text 51"/>
          <p:cNvSpPr txBox="1"/>
          <p:nvPr/>
        </p:nvSpPr>
        <p:spPr>
          <a:xfrm>
            <a:off x="10259568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7.9 %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897112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897112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Shape 54"/>
          <p:cNvSpPr/>
          <p:nvPr/>
        </p:nvSpPr>
        <p:spPr>
          <a:xfrm>
            <a:off x="8897112" y="2153412"/>
            <a:ext cx="416692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55"/>
          <p:cNvSpPr txBox="1"/>
          <p:nvPr/>
        </p:nvSpPr>
        <p:spPr>
          <a:xfrm>
            <a:off x="8897112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9390888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460.43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10067544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10579608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97.97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8897112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886200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Shape 61"/>
          <p:cNvSpPr/>
          <p:nvPr/>
        </p:nvSpPr>
        <p:spPr>
          <a:xfrm>
            <a:off x="3886200" y="2816352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4" name="Text 62"/>
          <p:cNvSpPr txBox="1"/>
          <p:nvPr/>
        </p:nvSpPr>
        <p:spPr>
          <a:xfrm>
            <a:off x="4014216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4014216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34%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5376672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65"/>
          <p:cNvSpPr txBox="1"/>
          <p:nvPr/>
        </p:nvSpPr>
        <p:spPr>
          <a:xfrm>
            <a:off x="5376672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6.6 %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4014216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014216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Shape 68"/>
          <p:cNvSpPr/>
          <p:nvPr/>
        </p:nvSpPr>
        <p:spPr>
          <a:xfrm>
            <a:off x="4014216" y="3643884"/>
            <a:ext cx="674644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1" name="Text 69"/>
          <p:cNvSpPr txBox="1"/>
          <p:nvPr/>
        </p:nvSpPr>
        <p:spPr>
          <a:xfrm>
            <a:off x="401421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4507992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1.6M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5184648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5696712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4.5M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4014216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6327648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Shape 75"/>
          <p:cNvSpPr/>
          <p:nvPr/>
        </p:nvSpPr>
        <p:spPr>
          <a:xfrm>
            <a:off x="6327648" y="2816352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8" name="Text 76"/>
          <p:cNvSpPr txBox="1"/>
          <p:nvPr/>
        </p:nvSpPr>
        <p:spPr>
          <a:xfrm>
            <a:off x="6455664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CPL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6455664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7818120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1" name="Text 79"/>
          <p:cNvSpPr txBox="1"/>
          <p:nvPr/>
        </p:nvSpPr>
        <p:spPr>
          <a:xfrm>
            <a:off x="7818120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4.9 %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6455664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455664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Shape 82"/>
          <p:cNvSpPr/>
          <p:nvPr/>
        </p:nvSpPr>
        <p:spPr>
          <a:xfrm>
            <a:off x="6455664" y="3643884"/>
            <a:ext cx="1011966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5" name="Text 83"/>
          <p:cNvSpPr txBox="1"/>
          <p:nvPr/>
        </p:nvSpPr>
        <p:spPr>
          <a:xfrm>
            <a:off x="6455664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6949440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153.61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762609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8138160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78.81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6455664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8769096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Shape 89"/>
          <p:cNvSpPr/>
          <p:nvPr/>
        </p:nvSpPr>
        <p:spPr>
          <a:xfrm>
            <a:off x="8769096" y="2816352"/>
            <a:ext cx="32004" cy="121615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2" name="Text 90"/>
          <p:cNvSpPr txBox="1"/>
          <p:nvPr/>
        </p:nvSpPr>
        <p:spPr>
          <a:xfrm>
            <a:off x="8897112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A% installs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8897112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104%</a:t>
            </a:r>
            <a:endParaRPr lang="en-US" sz="2000" dirty="0"/>
          </a:p>
        </p:txBody>
      </p:sp>
      <p:sp>
        <p:nvSpPr>
          <p:cNvPr id="94" name="Shape 92"/>
          <p:cNvSpPr/>
          <p:nvPr/>
        </p:nvSpPr>
        <p:spPr>
          <a:xfrm>
            <a:off x="10259568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5" name="Text 93"/>
          <p:cNvSpPr txBox="1"/>
          <p:nvPr/>
        </p:nvSpPr>
        <p:spPr>
          <a:xfrm>
            <a:off x="10259568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0.0 %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8897112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897112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Shape 96"/>
          <p:cNvSpPr/>
          <p:nvPr/>
        </p:nvSpPr>
        <p:spPr>
          <a:xfrm>
            <a:off x="8897112" y="3643884"/>
            <a:ext cx="1984248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9" name="Text 97"/>
          <p:cNvSpPr txBox="1"/>
          <p:nvPr/>
        </p:nvSpPr>
        <p:spPr>
          <a:xfrm>
            <a:off x="8897112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9390888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3.4K</a:t>
            </a:r>
            <a:endParaRPr lang="en-US" sz="700" dirty="0"/>
          </a:p>
        </p:txBody>
      </p:sp>
      <p:sp>
        <p:nvSpPr>
          <p:cNvPr id="101" name="Text 99"/>
          <p:cNvSpPr txBox="1"/>
          <p:nvPr/>
        </p:nvSpPr>
        <p:spPr>
          <a:xfrm>
            <a:off x="10067544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10579608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3.3K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8897112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3886200" y="5760720"/>
            <a:ext cx="7178040" cy="347472"/>
          </a:xfrm>
          <a:prstGeom prst="roundRect">
            <a:avLst>
              <a:gd name="adj" fmla="val 15789"/>
            </a:avLst>
          </a:prstGeom>
          <a:solidFill>
            <a:srgbClr val="F1F6FF"/>
          </a:solidFill>
          <a:ln w="889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4014216" y="5797296"/>
            <a:ext cx="69220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score-loss KPI first; use Actual/Target to validate the gap before assigning corrective action.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6B. Employee Detail — Ziad sayed hassan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— Ziad sayed hassan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3108960" cy="5230368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24328" y="110642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24328" y="1110996"/>
            <a:ext cx="82296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52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11247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39903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62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8013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54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20208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80136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54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5440680"/>
            <a:ext cx="2706624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" y="5477256"/>
            <a:ext cx="24505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paid-media recovery — fix conversion quality, reallocate budget, and protect top-performing audiences.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10058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Score Loss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86200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3886200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20"/>
          <p:cNvSpPr txBox="1"/>
          <p:nvPr/>
        </p:nvSpPr>
        <p:spPr>
          <a:xfrm>
            <a:off x="4014216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014216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376672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5" name="Text 23"/>
          <p:cNvSpPr txBox="1"/>
          <p:nvPr/>
        </p:nvSpPr>
        <p:spPr>
          <a:xfrm>
            <a:off x="5376672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24.1 %</a:t>
            </a:r>
            <a:endParaRPr lang="en-US" sz="700" dirty="0"/>
          </a:p>
        </p:txBody>
      </p:sp>
      <p:sp>
        <p:nvSpPr>
          <p:cNvPr id="26" name="Text 24"/>
          <p:cNvSpPr txBox="1"/>
          <p:nvPr/>
        </p:nvSpPr>
        <p:spPr>
          <a:xfrm>
            <a:off x="4014216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014216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8" name="Shape 26"/>
          <p:cNvSpPr/>
          <p:nvPr/>
        </p:nvSpPr>
        <p:spPr>
          <a:xfrm>
            <a:off x="4014216" y="2153412"/>
            <a:ext cx="396850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9" name="Text 27"/>
          <p:cNvSpPr txBox="1"/>
          <p:nvPr/>
        </p:nvSpPr>
        <p:spPr>
          <a:xfrm>
            <a:off x="401421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5184648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014216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34" name="Shape 32"/>
          <p:cNvSpPr/>
          <p:nvPr/>
        </p:nvSpPr>
        <p:spPr>
          <a:xfrm>
            <a:off x="6327648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Shape 33"/>
          <p:cNvSpPr/>
          <p:nvPr/>
        </p:nvSpPr>
        <p:spPr>
          <a:xfrm>
            <a:off x="6327648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 txBox="1"/>
          <p:nvPr/>
        </p:nvSpPr>
        <p:spPr>
          <a:xfrm>
            <a:off x="6455664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CPV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455664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26%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818120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 txBox="1"/>
          <p:nvPr/>
        </p:nvSpPr>
        <p:spPr>
          <a:xfrm>
            <a:off x="7818120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7.4 %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6455664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455664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Shape 40"/>
          <p:cNvSpPr/>
          <p:nvPr/>
        </p:nvSpPr>
        <p:spPr>
          <a:xfrm>
            <a:off x="6455664" y="2153412"/>
            <a:ext cx="515904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3" name="Text 41"/>
          <p:cNvSpPr txBox="1"/>
          <p:nvPr/>
        </p:nvSpPr>
        <p:spPr>
          <a:xfrm>
            <a:off x="6455664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822.21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762609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8138160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213.57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6455664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8769096" y="1325880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9" name="Shape 47"/>
          <p:cNvSpPr/>
          <p:nvPr/>
        </p:nvSpPr>
        <p:spPr>
          <a:xfrm>
            <a:off x="8769096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0" name="Text 48"/>
          <p:cNvSpPr txBox="1"/>
          <p:nvPr/>
        </p:nvSpPr>
        <p:spPr>
          <a:xfrm>
            <a:off x="8897112" y="143560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8897112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27%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0259568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3" name="Text 51"/>
          <p:cNvSpPr txBox="1"/>
          <p:nvPr/>
        </p:nvSpPr>
        <p:spPr>
          <a:xfrm>
            <a:off x="10259568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7.3 %</a:t>
            </a:r>
            <a:endParaRPr lang="en-US" sz="700" dirty="0"/>
          </a:p>
        </p:txBody>
      </p:sp>
      <p:sp>
        <p:nvSpPr>
          <p:cNvPr id="54" name="Text 52"/>
          <p:cNvSpPr txBox="1"/>
          <p:nvPr/>
        </p:nvSpPr>
        <p:spPr>
          <a:xfrm>
            <a:off x="8897112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897112" y="2153412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Shape 54"/>
          <p:cNvSpPr/>
          <p:nvPr/>
        </p:nvSpPr>
        <p:spPr>
          <a:xfrm>
            <a:off x="8897112" y="2153412"/>
            <a:ext cx="535747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7" name="Text 55"/>
          <p:cNvSpPr txBox="1"/>
          <p:nvPr/>
        </p:nvSpPr>
        <p:spPr>
          <a:xfrm>
            <a:off x="8897112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9390888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38.0K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10067544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10579608" y="2267712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140.1K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8897112" y="2423160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62" name="Shape 60"/>
          <p:cNvSpPr/>
          <p:nvPr/>
        </p:nvSpPr>
        <p:spPr>
          <a:xfrm>
            <a:off x="3886200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3" name="Shape 61"/>
          <p:cNvSpPr/>
          <p:nvPr/>
        </p:nvSpPr>
        <p:spPr>
          <a:xfrm>
            <a:off x="3886200" y="2816352"/>
            <a:ext cx="32004" cy="1216152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4" name="Text 62"/>
          <p:cNvSpPr txBox="1"/>
          <p:nvPr/>
        </p:nvSpPr>
        <p:spPr>
          <a:xfrm>
            <a:off x="4014216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4014216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89%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5376672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FFAEB"/>
          </a:solidFill>
          <a:ln w="8890">
            <a:solidFill>
              <a:srgbClr val="FFFAE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7" name="Text 65"/>
          <p:cNvSpPr txBox="1"/>
          <p:nvPr/>
        </p:nvSpPr>
        <p:spPr>
          <a:xfrm>
            <a:off x="5376672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3.3 %</a:t>
            </a:r>
            <a:endParaRPr lang="en-US" sz="700" dirty="0"/>
          </a:p>
        </p:txBody>
      </p:sp>
      <p:sp>
        <p:nvSpPr>
          <p:cNvPr id="68" name="Text 66"/>
          <p:cNvSpPr txBox="1"/>
          <p:nvPr/>
        </p:nvSpPr>
        <p:spPr>
          <a:xfrm>
            <a:off x="4014216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014216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0" name="Shape 68"/>
          <p:cNvSpPr/>
          <p:nvPr/>
        </p:nvSpPr>
        <p:spPr>
          <a:xfrm>
            <a:off x="4014216" y="3643884"/>
            <a:ext cx="1765981" cy="0"/>
          </a:xfrm>
          <a:prstGeom prst="line">
            <a:avLst/>
          </a:prstGeom>
          <a:noFill/>
          <a:ln w="82296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1" name="Text 69"/>
          <p:cNvSpPr txBox="1"/>
          <p:nvPr/>
        </p:nvSpPr>
        <p:spPr>
          <a:xfrm>
            <a:off x="401421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4507992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624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5184648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5696712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701.6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4014216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76" name="Shape 74"/>
          <p:cNvSpPr/>
          <p:nvPr/>
        </p:nvSpPr>
        <p:spPr>
          <a:xfrm>
            <a:off x="6327648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Shape 75"/>
          <p:cNvSpPr/>
          <p:nvPr/>
        </p:nvSpPr>
        <p:spPr>
          <a:xfrm>
            <a:off x="6327648" y="2816352"/>
            <a:ext cx="32004" cy="121615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8" name="Text 76"/>
          <p:cNvSpPr txBox="1"/>
          <p:nvPr/>
        </p:nvSpPr>
        <p:spPr>
          <a:xfrm>
            <a:off x="6455664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CPL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6455664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000" dirty="0"/>
          </a:p>
        </p:txBody>
      </p:sp>
      <p:sp>
        <p:nvSpPr>
          <p:cNvPr id="80" name="Shape 78"/>
          <p:cNvSpPr/>
          <p:nvPr/>
        </p:nvSpPr>
        <p:spPr>
          <a:xfrm>
            <a:off x="7818120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1" name="Text 79"/>
          <p:cNvSpPr txBox="1"/>
          <p:nvPr/>
        </p:nvSpPr>
        <p:spPr>
          <a:xfrm>
            <a:off x="7818120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0.0 %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6455664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455664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Shape 82"/>
          <p:cNvSpPr/>
          <p:nvPr/>
        </p:nvSpPr>
        <p:spPr>
          <a:xfrm>
            <a:off x="6455664" y="3643884"/>
            <a:ext cx="1984248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5" name="Text 83"/>
          <p:cNvSpPr txBox="1"/>
          <p:nvPr/>
        </p:nvSpPr>
        <p:spPr>
          <a:xfrm>
            <a:off x="6455664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86" name="Text 84"/>
          <p:cNvSpPr txBox="1"/>
          <p:nvPr/>
        </p:nvSpPr>
        <p:spPr>
          <a:xfrm>
            <a:off x="6949440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73.79</a:t>
            </a:r>
            <a:endParaRPr lang="en-US" sz="700" dirty="0"/>
          </a:p>
        </p:txBody>
      </p:sp>
      <p:sp>
        <p:nvSpPr>
          <p:cNvPr id="87" name="Text 85"/>
          <p:cNvSpPr txBox="1"/>
          <p:nvPr/>
        </p:nvSpPr>
        <p:spPr>
          <a:xfrm>
            <a:off x="762609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8138160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AED 98.24</a:t>
            </a:r>
            <a:endParaRPr lang="en-US" sz="700" dirty="0"/>
          </a:p>
        </p:txBody>
      </p:sp>
      <p:sp>
        <p:nvSpPr>
          <p:cNvPr id="89" name="Text 87"/>
          <p:cNvSpPr txBox="1"/>
          <p:nvPr/>
        </p:nvSpPr>
        <p:spPr>
          <a:xfrm>
            <a:off x="6455664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769096" y="2816352"/>
            <a:ext cx="224028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1" name="Shape 89"/>
          <p:cNvSpPr/>
          <p:nvPr/>
        </p:nvSpPr>
        <p:spPr>
          <a:xfrm>
            <a:off x="8769096" y="2816352"/>
            <a:ext cx="32004" cy="121615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2" name="Text 90"/>
          <p:cNvSpPr txBox="1"/>
          <p:nvPr/>
        </p:nvSpPr>
        <p:spPr>
          <a:xfrm>
            <a:off x="8897112" y="292608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 A% installs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8897112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104%</a:t>
            </a:r>
            <a:endParaRPr lang="en-US" sz="2000" dirty="0"/>
          </a:p>
        </p:txBody>
      </p:sp>
      <p:sp>
        <p:nvSpPr>
          <p:cNvPr id="94" name="Shape 92"/>
          <p:cNvSpPr/>
          <p:nvPr/>
        </p:nvSpPr>
        <p:spPr>
          <a:xfrm>
            <a:off x="10259568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5" name="Text 93"/>
          <p:cNvSpPr txBox="1"/>
          <p:nvPr/>
        </p:nvSpPr>
        <p:spPr>
          <a:xfrm>
            <a:off x="10259568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0.0 %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8897112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897112" y="3643884"/>
            <a:ext cx="198424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Shape 96"/>
          <p:cNvSpPr/>
          <p:nvPr/>
        </p:nvSpPr>
        <p:spPr>
          <a:xfrm>
            <a:off x="8897112" y="3643884"/>
            <a:ext cx="1984248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9" name="Text 97"/>
          <p:cNvSpPr txBox="1"/>
          <p:nvPr/>
        </p:nvSpPr>
        <p:spPr>
          <a:xfrm>
            <a:off x="8897112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100" name="Text 98"/>
          <p:cNvSpPr txBox="1"/>
          <p:nvPr/>
        </p:nvSpPr>
        <p:spPr>
          <a:xfrm>
            <a:off x="9390888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3.4K</a:t>
            </a:r>
            <a:endParaRPr lang="en-US" sz="700" dirty="0"/>
          </a:p>
        </p:txBody>
      </p:sp>
      <p:sp>
        <p:nvSpPr>
          <p:cNvPr id="101" name="Text 99"/>
          <p:cNvSpPr txBox="1"/>
          <p:nvPr/>
        </p:nvSpPr>
        <p:spPr>
          <a:xfrm>
            <a:off x="10067544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102" name="Text 100"/>
          <p:cNvSpPr txBox="1"/>
          <p:nvPr/>
        </p:nvSpPr>
        <p:spPr>
          <a:xfrm>
            <a:off x="10579608" y="3758184"/>
            <a:ext cx="338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3.3K</a:t>
            </a:r>
            <a:endParaRPr lang="en-US" sz="700" dirty="0"/>
          </a:p>
        </p:txBody>
      </p:sp>
      <p:sp>
        <p:nvSpPr>
          <p:cNvPr id="103" name="Text 101"/>
          <p:cNvSpPr txBox="1"/>
          <p:nvPr/>
        </p:nvSpPr>
        <p:spPr>
          <a:xfrm>
            <a:off x="8897112" y="3913632"/>
            <a:ext cx="19842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500" dirty="0"/>
          </a:p>
        </p:txBody>
      </p:sp>
      <p:sp>
        <p:nvSpPr>
          <p:cNvPr id="104" name="Shape 102"/>
          <p:cNvSpPr/>
          <p:nvPr/>
        </p:nvSpPr>
        <p:spPr>
          <a:xfrm>
            <a:off x="3886200" y="5760720"/>
            <a:ext cx="7178040" cy="347472"/>
          </a:xfrm>
          <a:prstGeom prst="roundRect">
            <a:avLst>
              <a:gd name="adj" fmla="val 15789"/>
            </a:avLst>
          </a:prstGeom>
          <a:solidFill>
            <a:srgbClr val="F1F6FF"/>
          </a:solidFill>
          <a:ln w="889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 txBox="1"/>
          <p:nvPr/>
        </p:nvSpPr>
        <p:spPr>
          <a:xfrm>
            <a:off x="4014216" y="5797296"/>
            <a:ext cx="69220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score-loss KPI first; use Actual/Target to validate the gap before assigning corrective action.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6C. Employee Detail — Social Media Specialists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— Social Media Specialists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109270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" y="11978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426464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80" dirty="0"/>
          </a:p>
        </p:txBody>
      </p:sp>
      <p:sp>
        <p:nvSpPr>
          <p:cNvPr id="11" name="Shape 9"/>
          <p:cNvSpPr/>
          <p:nvPr/>
        </p:nvSpPr>
        <p:spPr>
          <a:xfrm>
            <a:off x="2286000" y="1216152"/>
            <a:ext cx="777240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286000" y="1220724"/>
            <a:ext cx="7772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48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180136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49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1965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0299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2587752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77824" y="2624328"/>
            <a:ext cx="20756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SLA — auto-reply, live queue owner, instant routing, and off-hours adjustment.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337560" y="13441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7560" y="1344168"/>
            <a:ext cx="32004" cy="1572768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3465576" y="14538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80" dirty="0"/>
          </a:p>
        </p:txBody>
      </p:sp>
      <p:sp>
        <p:nvSpPr>
          <p:cNvPr id="21" name="Text 19"/>
          <p:cNvSpPr txBox="1"/>
          <p:nvPr/>
        </p:nvSpPr>
        <p:spPr>
          <a:xfrm>
            <a:off x="3465576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65192" y="16916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65192" y="16962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24.0 %</a:t>
            </a:r>
            <a:endParaRPr lang="en-US" sz="500" dirty="0"/>
          </a:p>
        </p:txBody>
      </p:sp>
      <p:sp>
        <p:nvSpPr>
          <p:cNvPr id="24" name="Text 22"/>
          <p:cNvSpPr txBox="1"/>
          <p:nvPr/>
        </p:nvSpPr>
        <p:spPr>
          <a:xfrm>
            <a:off x="3465576" y="19659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25" name="Shape 23"/>
          <p:cNvSpPr/>
          <p:nvPr/>
        </p:nvSpPr>
        <p:spPr>
          <a:xfrm>
            <a:off x="3465576" y="21717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65576" y="2171700"/>
            <a:ext cx="848563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465576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3959352" y="22860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70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5148072" y="22860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3465576" y="27980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20" dirty="0"/>
          </a:p>
        </p:txBody>
      </p:sp>
      <p:sp>
        <p:nvSpPr>
          <p:cNvPr id="32" name="Shape 30"/>
          <p:cNvSpPr/>
          <p:nvPr/>
        </p:nvSpPr>
        <p:spPr>
          <a:xfrm>
            <a:off x="5943600" y="13441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0" y="1344168"/>
            <a:ext cx="32004" cy="1572768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071616" y="14538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680" dirty="0"/>
          </a:p>
        </p:txBody>
      </p:sp>
      <p:sp>
        <p:nvSpPr>
          <p:cNvPr id="35" name="Text 33"/>
          <p:cNvSpPr txBox="1"/>
          <p:nvPr/>
        </p:nvSpPr>
        <p:spPr>
          <a:xfrm>
            <a:off x="6071616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71232" y="16916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FFAEB"/>
          </a:solidFill>
          <a:ln w="8890">
            <a:solidFill>
              <a:srgbClr val="FFF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571232" y="16962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6.0 %</a:t>
            </a:r>
            <a:endParaRPr lang="en-US" sz="500" dirty="0"/>
          </a:p>
        </p:txBody>
      </p:sp>
      <p:sp>
        <p:nvSpPr>
          <p:cNvPr id="38" name="Text 36"/>
          <p:cNvSpPr txBox="1"/>
          <p:nvPr/>
        </p:nvSpPr>
        <p:spPr>
          <a:xfrm>
            <a:off x="6071616" y="19659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39" name="Shape 37"/>
          <p:cNvSpPr/>
          <p:nvPr/>
        </p:nvSpPr>
        <p:spPr>
          <a:xfrm>
            <a:off x="6071616" y="21717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71616" y="2171700"/>
            <a:ext cx="1484986" cy="0"/>
          </a:xfrm>
          <a:prstGeom prst="line">
            <a:avLst/>
          </a:prstGeom>
          <a:noFill/>
          <a:ln w="82296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6071616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6565392" y="22860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700" dirty="0"/>
          </a:p>
        </p:txBody>
      </p:sp>
      <p:sp>
        <p:nvSpPr>
          <p:cNvPr id="43" name="Text 41"/>
          <p:cNvSpPr txBox="1"/>
          <p:nvPr/>
        </p:nvSpPr>
        <p:spPr>
          <a:xfrm>
            <a:off x="7242048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7754112" y="22860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6071616" y="27980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20" dirty="0"/>
          </a:p>
        </p:txBody>
      </p:sp>
      <p:sp>
        <p:nvSpPr>
          <p:cNvPr id="46" name="Shape 44"/>
          <p:cNvSpPr/>
          <p:nvPr/>
        </p:nvSpPr>
        <p:spPr>
          <a:xfrm>
            <a:off x="8549640" y="13441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549640" y="1344168"/>
            <a:ext cx="32004" cy="1572768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8677656" y="14538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680" dirty="0"/>
          </a:p>
        </p:txBody>
      </p:sp>
      <p:sp>
        <p:nvSpPr>
          <p:cNvPr id="49" name="Text 47"/>
          <p:cNvSpPr txBox="1"/>
          <p:nvPr/>
        </p:nvSpPr>
        <p:spPr>
          <a:xfrm>
            <a:off x="8677656" y="16642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177272" y="16916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10177272" y="16962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3.4 %</a:t>
            </a:r>
            <a:endParaRPr lang="en-US" sz="500" dirty="0"/>
          </a:p>
        </p:txBody>
      </p:sp>
      <p:sp>
        <p:nvSpPr>
          <p:cNvPr id="52" name="Text 50"/>
          <p:cNvSpPr txBox="1"/>
          <p:nvPr/>
        </p:nvSpPr>
        <p:spPr>
          <a:xfrm>
            <a:off x="8677656" y="19659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53" name="Shape 51"/>
          <p:cNvSpPr/>
          <p:nvPr/>
        </p:nvSpPr>
        <p:spPr>
          <a:xfrm>
            <a:off x="8677656" y="21717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8677656" y="2171700"/>
            <a:ext cx="1951695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8677656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9171432" y="22860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700" dirty="0"/>
          </a:p>
        </p:txBody>
      </p:sp>
      <p:sp>
        <p:nvSpPr>
          <p:cNvPr id="57" name="Text 55"/>
          <p:cNvSpPr txBox="1"/>
          <p:nvPr/>
        </p:nvSpPr>
        <p:spPr>
          <a:xfrm>
            <a:off x="9848088" y="22951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10360152" y="22860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8677656" y="27980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20" dirty="0"/>
          </a:p>
        </p:txBody>
      </p:sp>
      <p:sp>
        <p:nvSpPr>
          <p:cNvPr id="60" name="Shape 58"/>
          <p:cNvSpPr/>
          <p:nvPr/>
        </p:nvSpPr>
        <p:spPr>
          <a:xfrm>
            <a:off x="502920" y="3703320"/>
            <a:ext cx="1092708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749808" y="39410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749808" y="4169664"/>
            <a:ext cx="1783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2286000" y="3959352"/>
            <a:ext cx="777240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2286000" y="3963924"/>
            <a:ext cx="77724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480" dirty="0"/>
          </a:p>
        </p:txBody>
      </p:sp>
      <p:sp>
        <p:nvSpPr>
          <p:cNvPr id="65" name="Text 63"/>
          <p:cNvSpPr txBox="1"/>
          <p:nvPr/>
        </p:nvSpPr>
        <p:spPr>
          <a:xfrm>
            <a:off x="749808" y="4544568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490" dirty="0"/>
          </a:p>
        </p:txBody>
      </p:sp>
      <p:sp>
        <p:nvSpPr>
          <p:cNvPr id="66" name="Text 64"/>
          <p:cNvSpPr txBox="1"/>
          <p:nvPr/>
        </p:nvSpPr>
        <p:spPr>
          <a:xfrm>
            <a:off x="749808" y="47091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2200" dirty="0"/>
          </a:p>
        </p:txBody>
      </p:sp>
      <p:sp>
        <p:nvSpPr>
          <p:cNvPr id="67" name="Text 65"/>
          <p:cNvSpPr txBox="1"/>
          <p:nvPr/>
        </p:nvSpPr>
        <p:spPr>
          <a:xfrm>
            <a:off x="1874520" y="477316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9808" y="5330952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877824" y="5367528"/>
            <a:ext cx="20756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response SLA — auto-reply, live queue owner, instant routing, and off-hours adjustment.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337560" y="40873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3337560" y="4087368"/>
            <a:ext cx="32004" cy="1572768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 txBox="1"/>
          <p:nvPr/>
        </p:nvSpPr>
        <p:spPr>
          <a:xfrm>
            <a:off x="3465576" y="41970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680" dirty="0"/>
          </a:p>
        </p:txBody>
      </p:sp>
      <p:sp>
        <p:nvSpPr>
          <p:cNvPr id="73" name="Text 71"/>
          <p:cNvSpPr txBox="1"/>
          <p:nvPr/>
        </p:nvSpPr>
        <p:spPr>
          <a:xfrm>
            <a:off x="3465576" y="4407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4965192" y="44348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4965192" y="44394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24.0 %</a:t>
            </a:r>
            <a:endParaRPr lang="en-US" sz="500" dirty="0"/>
          </a:p>
        </p:txBody>
      </p:sp>
      <p:sp>
        <p:nvSpPr>
          <p:cNvPr id="76" name="Text 74"/>
          <p:cNvSpPr txBox="1"/>
          <p:nvPr/>
        </p:nvSpPr>
        <p:spPr>
          <a:xfrm>
            <a:off x="3465576" y="47091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77" name="Shape 75"/>
          <p:cNvSpPr/>
          <p:nvPr/>
        </p:nvSpPr>
        <p:spPr>
          <a:xfrm>
            <a:off x="3465576" y="49149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3465576" y="4914900"/>
            <a:ext cx="848563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 txBox="1"/>
          <p:nvPr/>
        </p:nvSpPr>
        <p:spPr>
          <a:xfrm>
            <a:off x="3465576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80" name="Text 78"/>
          <p:cNvSpPr txBox="1"/>
          <p:nvPr/>
        </p:nvSpPr>
        <p:spPr>
          <a:xfrm>
            <a:off x="3959352" y="50292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700" dirty="0"/>
          </a:p>
        </p:txBody>
      </p:sp>
      <p:sp>
        <p:nvSpPr>
          <p:cNvPr id="81" name="Text 79"/>
          <p:cNvSpPr txBox="1"/>
          <p:nvPr/>
        </p:nvSpPr>
        <p:spPr>
          <a:xfrm>
            <a:off x="4636008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82" name="Text 80"/>
          <p:cNvSpPr txBox="1"/>
          <p:nvPr/>
        </p:nvSpPr>
        <p:spPr>
          <a:xfrm>
            <a:off x="5148072" y="50292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700" dirty="0"/>
          </a:p>
        </p:txBody>
      </p:sp>
      <p:sp>
        <p:nvSpPr>
          <p:cNvPr id="83" name="Text 81"/>
          <p:cNvSpPr txBox="1"/>
          <p:nvPr/>
        </p:nvSpPr>
        <p:spPr>
          <a:xfrm>
            <a:off x="3465576" y="55412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420" dirty="0"/>
          </a:p>
        </p:txBody>
      </p:sp>
      <p:sp>
        <p:nvSpPr>
          <p:cNvPr id="84" name="Shape 82"/>
          <p:cNvSpPr/>
          <p:nvPr/>
        </p:nvSpPr>
        <p:spPr>
          <a:xfrm>
            <a:off x="5943600" y="40873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943600" y="4087368"/>
            <a:ext cx="32004" cy="1572768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 txBox="1"/>
          <p:nvPr/>
        </p:nvSpPr>
        <p:spPr>
          <a:xfrm>
            <a:off x="6071616" y="41970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growth rate</a:t>
            </a:r>
            <a:endParaRPr lang="en-US" sz="680" dirty="0"/>
          </a:p>
        </p:txBody>
      </p:sp>
      <p:sp>
        <p:nvSpPr>
          <p:cNvPr id="87" name="Text 85"/>
          <p:cNvSpPr txBox="1"/>
          <p:nvPr/>
        </p:nvSpPr>
        <p:spPr>
          <a:xfrm>
            <a:off x="6071616" y="4407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70%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7571232" y="44348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FFAEB"/>
          </a:solidFill>
          <a:ln w="8890">
            <a:solidFill>
              <a:srgbClr val="FFF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 txBox="1"/>
          <p:nvPr/>
        </p:nvSpPr>
        <p:spPr>
          <a:xfrm>
            <a:off x="7571232" y="44394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6.0 %</a:t>
            </a:r>
            <a:endParaRPr lang="en-US" sz="500" dirty="0"/>
          </a:p>
        </p:txBody>
      </p:sp>
      <p:sp>
        <p:nvSpPr>
          <p:cNvPr id="90" name="Text 88"/>
          <p:cNvSpPr txBox="1"/>
          <p:nvPr/>
        </p:nvSpPr>
        <p:spPr>
          <a:xfrm>
            <a:off x="6071616" y="47091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91" name="Shape 89"/>
          <p:cNvSpPr/>
          <p:nvPr/>
        </p:nvSpPr>
        <p:spPr>
          <a:xfrm>
            <a:off x="6071616" y="49149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6071616" y="4914900"/>
            <a:ext cx="1484986" cy="0"/>
          </a:xfrm>
          <a:prstGeom prst="line">
            <a:avLst/>
          </a:prstGeom>
          <a:noFill/>
          <a:ln w="82296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 txBox="1"/>
          <p:nvPr/>
        </p:nvSpPr>
        <p:spPr>
          <a:xfrm>
            <a:off x="6071616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94" name="Text 92"/>
          <p:cNvSpPr txBox="1"/>
          <p:nvPr/>
        </p:nvSpPr>
        <p:spPr>
          <a:xfrm>
            <a:off x="6565392" y="50292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700" dirty="0"/>
          </a:p>
        </p:txBody>
      </p:sp>
      <p:sp>
        <p:nvSpPr>
          <p:cNvPr id="95" name="Text 93"/>
          <p:cNvSpPr txBox="1"/>
          <p:nvPr/>
        </p:nvSpPr>
        <p:spPr>
          <a:xfrm>
            <a:off x="7242048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96" name="Text 94"/>
          <p:cNvSpPr txBox="1"/>
          <p:nvPr/>
        </p:nvSpPr>
        <p:spPr>
          <a:xfrm>
            <a:off x="7754112" y="50292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700" dirty="0"/>
          </a:p>
        </p:txBody>
      </p:sp>
      <p:sp>
        <p:nvSpPr>
          <p:cNvPr id="97" name="Text 95"/>
          <p:cNvSpPr txBox="1"/>
          <p:nvPr/>
        </p:nvSpPr>
        <p:spPr>
          <a:xfrm>
            <a:off x="6071616" y="55412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20" dirty="0"/>
          </a:p>
        </p:txBody>
      </p:sp>
      <p:sp>
        <p:nvSpPr>
          <p:cNvPr id="98" name="Shape 96"/>
          <p:cNvSpPr/>
          <p:nvPr/>
        </p:nvSpPr>
        <p:spPr>
          <a:xfrm>
            <a:off x="8549640" y="4087368"/>
            <a:ext cx="23774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8549640" y="4087368"/>
            <a:ext cx="32004" cy="1572768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 txBox="1"/>
          <p:nvPr/>
        </p:nvSpPr>
        <p:spPr>
          <a:xfrm>
            <a:off x="8677656" y="419709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rate (%)</a:t>
            </a:r>
            <a:endParaRPr lang="en-US" sz="680" dirty="0"/>
          </a:p>
        </p:txBody>
      </p:sp>
      <p:sp>
        <p:nvSpPr>
          <p:cNvPr id="101" name="Text 99"/>
          <p:cNvSpPr txBox="1"/>
          <p:nvPr/>
        </p:nvSpPr>
        <p:spPr>
          <a:xfrm>
            <a:off x="8677656" y="44074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600" dirty="0"/>
          </a:p>
        </p:txBody>
      </p:sp>
      <p:sp>
        <p:nvSpPr>
          <p:cNvPr id="102" name="Shape 100"/>
          <p:cNvSpPr/>
          <p:nvPr/>
        </p:nvSpPr>
        <p:spPr>
          <a:xfrm>
            <a:off x="10177272" y="4434840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 txBox="1"/>
          <p:nvPr/>
        </p:nvSpPr>
        <p:spPr>
          <a:xfrm>
            <a:off x="10177272" y="4439412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3.4 %</a:t>
            </a:r>
            <a:endParaRPr lang="en-US" sz="500" dirty="0"/>
          </a:p>
        </p:txBody>
      </p:sp>
      <p:sp>
        <p:nvSpPr>
          <p:cNvPr id="104" name="Text 102"/>
          <p:cNvSpPr txBox="1"/>
          <p:nvPr/>
        </p:nvSpPr>
        <p:spPr>
          <a:xfrm>
            <a:off x="8677656" y="4709160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480" dirty="0"/>
          </a:p>
        </p:txBody>
      </p:sp>
      <p:sp>
        <p:nvSpPr>
          <p:cNvPr id="105" name="Shape 103"/>
          <p:cNvSpPr/>
          <p:nvPr/>
        </p:nvSpPr>
        <p:spPr>
          <a:xfrm>
            <a:off x="8677656" y="4914900"/>
            <a:ext cx="212140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4"/>
          <p:cNvSpPr/>
          <p:nvPr/>
        </p:nvSpPr>
        <p:spPr>
          <a:xfrm>
            <a:off x="8677656" y="4914900"/>
            <a:ext cx="1951695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 txBox="1"/>
          <p:nvPr/>
        </p:nvSpPr>
        <p:spPr>
          <a:xfrm>
            <a:off x="8677656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108" name="Text 106"/>
          <p:cNvSpPr txBox="1"/>
          <p:nvPr/>
        </p:nvSpPr>
        <p:spPr>
          <a:xfrm>
            <a:off x="9171432" y="5029200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91.6%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9848088" y="5038344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10360152" y="50292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8677656" y="5541264"/>
            <a:ext cx="21214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4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6D. Employee Detail — Abdelrahman Yousry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vs Target is shown for every KPI so the employee number is clear and auditable.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— Abdelrahman Yousry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3108960" cy="5230368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24328" y="1106424"/>
            <a:ext cx="822960" cy="182880"/>
          </a:xfrm>
          <a:prstGeom prst="roundRect">
            <a:avLst>
              <a:gd name="adj" fmla="val 30000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624328" y="1110996"/>
            <a:ext cx="82296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52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 TARGET</a:t>
            </a:r>
            <a:endParaRPr lang="en-US" sz="520" dirty="0"/>
          </a:p>
        </p:txBody>
      </p:sp>
      <p:sp>
        <p:nvSpPr>
          <p:cNvPr id="11" name="Text 9"/>
          <p:cNvSpPr txBox="1"/>
          <p:nvPr/>
        </p:nvSpPr>
        <p:spPr>
          <a:xfrm>
            <a:off x="704088" y="11247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118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399032"/>
            <a:ext cx="2706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62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180136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</a:t>
            </a:r>
            <a:endParaRPr lang="en-US" sz="540" dirty="0"/>
          </a:p>
        </p:txBody>
      </p:sp>
      <p:sp>
        <p:nvSpPr>
          <p:cNvPr id="14" name="Text 12"/>
          <p:cNvSpPr txBox="1"/>
          <p:nvPr/>
        </p:nvSpPr>
        <p:spPr>
          <a:xfrm>
            <a:off x="704088" y="20208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80136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4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 CHANGE</a:t>
            </a:r>
            <a:endParaRPr lang="en-US" sz="540" dirty="0"/>
          </a:p>
        </p:txBody>
      </p:sp>
      <p:sp>
        <p:nvSpPr>
          <p:cNvPr id="16" name="Text 14"/>
          <p:cNvSpPr txBox="1"/>
          <p:nvPr/>
        </p:nvSpPr>
        <p:spPr>
          <a:xfrm>
            <a:off x="2148840" y="2075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4088" y="5440680"/>
            <a:ext cx="2706624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" y="5477256"/>
            <a:ext cx="24505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focus: web reliability — uptime monitoring, caching/CDN, image compression, and script cleanup.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10058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Drivers — Actual / Target / Achievement / Score Loss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86200" y="1325880"/>
            <a:ext cx="333756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86200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014216" y="143560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4014216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473952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473952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600" dirty="0"/>
          </a:p>
        </p:txBody>
      </p:sp>
      <p:sp>
        <p:nvSpPr>
          <p:cNvPr id="26" name="Text 24"/>
          <p:cNvSpPr txBox="1"/>
          <p:nvPr/>
        </p:nvSpPr>
        <p:spPr>
          <a:xfrm>
            <a:off x="4014216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014216" y="2153412"/>
            <a:ext cx="308152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014216" y="2153412"/>
            <a:ext cx="1540764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401421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507992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700" dirty="0"/>
          </a:p>
        </p:txBody>
      </p:sp>
      <p:sp>
        <p:nvSpPr>
          <p:cNvPr id="31" name="Text 29"/>
          <p:cNvSpPr txBox="1"/>
          <p:nvPr/>
        </p:nvSpPr>
        <p:spPr>
          <a:xfrm>
            <a:off x="5184648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5696712" y="2267712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700" dirty="0"/>
          </a:p>
        </p:txBody>
      </p:sp>
      <p:sp>
        <p:nvSpPr>
          <p:cNvPr id="33" name="Text 31"/>
          <p:cNvSpPr txBox="1"/>
          <p:nvPr/>
        </p:nvSpPr>
        <p:spPr>
          <a:xfrm>
            <a:off x="4014216" y="2423160"/>
            <a:ext cx="3081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7424928" y="1325880"/>
            <a:ext cx="333756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E4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24928" y="1325880"/>
            <a:ext cx="32004" cy="1216152"/>
          </a:xfrm>
          <a:prstGeom prst="rect">
            <a:avLst/>
          </a:prstGeom>
          <a:solidFill>
            <a:srgbClr val="F04438"/>
          </a:solidFill>
          <a:ln w="12700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7552944" y="1435608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load speed</a:t>
            </a:r>
            <a:endParaRPr lang="en-US" sz="680" dirty="0"/>
          </a:p>
        </p:txBody>
      </p:sp>
      <p:sp>
        <p:nvSpPr>
          <p:cNvPr id="37" name="Text 35"/>
          <p:cNvSpPr txBox="1"/>
          <p:nvPr/>
        </p:nvSpPr>
        <p:spPr>
          <a:xfrm>
            <a:off x="7552944" y="16459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0012680" y="1673352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EF3F2"/>
          </a:solidFill>
          <a:ln w="8890">
            <a:solidFill>
              <a:srgbClr val="FEF3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10012680" y="1677924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12.5 %</a:t>
            </a:r>
            <a:endParaRPr lang="en-US" sz="600" dirty="0"/>
          </a:p>
        </p:txBody>
      </p:sp>
      <p:sp>
        <p:nvSpPr>
          <p:cNvPr id="40" name="Text 38"/>
          <p:cNvSpPr txBox="1"/>
          <p:nvPr/>
        </p:nvSpPr>
        <p:spPr>
          <a:xfrm>
            <a:off x="7552944" y="1947672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552944" y="2153412"/>
            <a:ext cx="308152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552944" y="2153412"/>
            <a:ext cx="1540764" cy="0"/>
          </a:xfrm>
          <a:prstGeom prst="line">
            <a:avLst/>
          </a:prstGeom>
          <a:noFill/>
          <a:ln w="82296">
            <a:solidFill>
              <a:srgbClr val="F044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7552944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44" name="Text 42"/>
          <p:cNvSpPr txBox="1"/>
          <p:nvPr/>
        </p:nvSpPr>
        <p:spPr>
          <a:xfrm>
            <a:off x="8046720" y="2267712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sec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8723376" y="227685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9235440" y="2267712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sec</a:t>
            </a:r>
            <a:endParaRPr lang="en-US" sz="700" dirty="0"/>
          </a:p>
        </p:txBody>
      </p:sp>
      <p:sp>
        <p:nvSpPr>
          <p:cNvPr id="47" name="Text 45"/>
          <p:cNvSpPr txBox="1"/>
          <p:nvPr/>
        </p:nvSpPr>
        <p:spPr>
          <a:xfrm>
            <a:off x="7552944" y="2423160"/>
            <a:ext cx="3081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better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886200" y="2816352"/>
            <a:ext cx="333756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FEF0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86200" y="2816352"/>
            <a:ext cx="32004" cy="1216152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4014216" y="292608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/ bug resolution rate</a:t>
            </a:r>
            <a:endParaRPr lang="en-US" sz="680" dirty="0"/>
          </a:p>
        </p:txBody>
      </p:sp>
      <p:sp>
        <p:nvSpPr>
          <p:cNvPr id="51" name="Text 49"/>
          <p:cNvSpPr txBox="1"/>
          <p:nvPr/>
        </p:nvSpPr>
        <p:spPr>
          <a:xfrm>
            <a:off x="4014216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473952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FFFAEB"/>
          </a:solidFill>
          <a:ln w="8890">
            <a:solidFill>
              <a:srgbClr val="FFFA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6473952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790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3.8 %</a:t>
            </a:r>
            <a:endParaRPr lang="en-US" sz="600" dirty="0"/>
          </a:p>
        </p:txBody>
      </p:sp>
      <p:sp>
        <p:nvSpPr>
          <p:cNvPr id="54" name="Text 52"/>
          <p:cNvSpPr txBox="1"/>
          <p:nvPr/>
        </p:nvSpPr>
        <p:spPr>
          <a:xfrm>
            <a:off x="4014216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4014216" y="3643884"/>
            <a:ext cx="308152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014216" y="3643884"/>
            <a:ext cx="2619299" cy="0"/>
          </a:xfrm>
          <a:prstGeom prst="line">
            <a:avLst/>
          </a:prstGeom>
          <a:noFill/>
          <a:ln w="82296">
            <a:solidFill>
              <a:srgbClr val="F7900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401421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4507992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85.0%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5184648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5696712" y="3758184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700" dirty="0"/>
          </a:p>
        </p:txBody>
      </p:sp>
      <p:sp>
        <p:nvSpPr>
          <p:cNvPr id="61" name="Text 59"/>
          <p:cNvSpPr txBox="1"/>
          <p:nvPr/>
        </p:nvSpPr>
        <p:spPr>
          <a:xfrm>
            <a:off x="4014216" y="3913632"/>
            <a:ext cx="3081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7424928" y="2816352"/>
            <a:ext cx="3337560" cy="1216152"/>
          </a:xfrm>
          <a:prstGeom prst="roundRect">
            <a:avLst>
              <a:gd name="adj" fmla="val 4511"/>
            </a:avLst>
          </a:prstGeom>
          <a:solidFill>
            <a:srgbClr val="FFFFFF"/>
          </a:solidFill>
          <a:ln w="8890">
            <a:solidFill>
              <a:srgbClr val="D1F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7424928" y="2816352"/>
            <a:ext cx="32004" cy="1216152"/>
          </a:xfrm>
          <a:prstGeom prst="rect">
            <a:avLst/>
          </a:prstGeom>
          <a:solidFill>
            <a:srgbClr val="12B76A"/>
          </a:solidFill>
          <a:ln w="12700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 txBox="1"/>
          <p:nvPr/>
        </p:nvSpPr>
        <p:spPr>
          <a:xfrm>
            <a:off x="7552944" y="2926080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delivery timeliness</a:t>
            </a:r>
            <a:endParaRPr lang="en-US" sz="680" dirty="0"/>
          </a:p>
        </p:txBody>
      </p:sp>
      <p:sp>
        <p:nvSpPr>
          <p:cNvPr id="65" name="Text 63"/>
          <p:cNvSpPr txBox="1"/>
          <p:nvPr/>
        </p:nvSpPr>
        <p:spPr>
          <a:xfrm>
            <a:off x="7552944" y="31363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</a:t>
            </a: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10012680" y="3163824"/>
            <a:ext cx="566928" cy="164592"/>
          </a:xfrm>
          <a:prstGeom prst="roundRect">
            <a:avLst>
              <a:gd name="adj" fmla="val 33333"/>
            </a:avLst>
          </a:prstGeom>
          <a:solidFill>
            <a:srgbClr val="ECFDF3"/>
          </a:solidFill>
          <a:ln w="8890">
            <a:solidFill>
              <a:srgbClr val="ECFD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10012680" y="3168396"/>
            <a:ext cx="56692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2.5 %</a:t>
            </a:r>
            <a:endParaRPr lang="en-US" sz="600" dirty="0"/>
          </a:p>
        </p:txBody>
      </p:sp>
      <p:sp>
        <p:nvSpPr>
          <p:cNvPr id="68" name="Text 66"/>
          <p:cNvSpPr txBox="1"/>
          <p:nvPr/>
        </p:nvSpPr>
        <p:spPr>
          <a:xfrm>
            <a:off x="7552944" y="3438144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Achievement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7552944" y="3643884"/>
            <a:ext cx="3081528" cy="0"/>
          </a:xfrm>
          <a:prstGeom prst="line">
            <a:avLst/>
          </a:prstGeom>
          <a:noFill/>
          <a:ln w="82296">
            <a:solidFill>
              <a:srgbClr val="EAEC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552944" y="3643884"/>
            <a:ext cx="2773375" cy="0"/>
          </a:xfrm>
          <a:prstGeom prst="line">
            <a:avLst/>
          </a:prstGeom>
          <a:noFill/>
          <a:ln w="82296">
            <a:solidFill>
              <a:srgbClr val="12B7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7552944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700" dirty="0"/>
          </a:p>
        </p:txBody>
      </p:sp>
      <p:sp>
        <p:nvSpPr>
          <p:cNvPr id="72" name="Text 70"/>
          <p:cNvSpPr txBox="1"/>
          <p:nvPr/>
        </p:nvSpPr>
        <p:spPr>
          <a:xfrm>
            <a:off x="8046720" y="37581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90.0%</a:t>
            </a:r>
            <a:endParaRPr lang="en-US" sz="700" dirty="0"/>
          </a:p>
        </p:txBody>
      </p:sp>
      <p:sp>
        <p:nvSpPr>
          <p:cNvPr id="73" name="Text 71"/>
          <p:cNvSpPr txBox="1"/>
          <p:nvPr/>
        </p:nvSpPr>
        <p:spPr>
          <a:xfrm>
            <a:off x="8723376" y="3767328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9235440" y="3758184"/>
            <a:ext cx="14356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700" dirty="0"/>
          </a:p>
        </p:txBody>
      </p:sp>
      <p:sp>
        <p:nvSpPr>
          <p:cNvPr id="75" name="Text 73"/>
          <p:cNvSpPr txBox="1"/>
          <p:nvPr/>
        </p:nvSpPr>
        <p:spPr>
          <a:xfrm>
            <a:off x="7552944" y="3913632"/>
            <a:ext cx="30815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is better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3886200" y="5760720"/>
            <a:ext cx="7178040" cy="347472"/>
          </a:xfrm>
          <a:prstGeom prst="roundRect">
            <a:avLst>
              <a:gd name="adj" fmla="val 15789"/>
            </a:avLst>
          </a:prstGeom>
          <a:solidFill>
            <a:srgbClr val="F1F6FF"/>
          </a:solidFill>
          <a:ln w="889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 txBox="1"/>
          <p:nvPr/>
        </p:nvSpPr>
        <p:spPr>
          <a:xfrm>
            <a:off x="4014216" y="5797296"/>
            <a:ext cx="69220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rule: prioritize the highest score-loss KPI first; use Actual/Target to validate the gap before assigning corrective action.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6E. Employee Detail </a:t>
            </a:r>
            <a:r>
              <a:rPr lang="en-US" sz="18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A%endix</a:t>
            </a: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Stable / Strong Performers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MoM to spot momentum; use Main Score and Actual/Target watch KPI to confirm sustainability.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</a:t>
            </a:r>
            <a:r>
              <a:rPr lang="en-US" sz="520" dirty="0" err="1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A%endix</a:t>
            </a: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Stable / Strong Performers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 txBox="1"/>
          <p:nvPr/>
        </p:nvSpPr>
        <p:spPr>
          <a:xfrm>
            <a:off x="667512" y="110642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130759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1545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15727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18928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181965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ROI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100.0%  |  Target 99.0%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00984" y="960120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Text 14"/>
          <p:cNvSpPr txBox="1"/>
          <p:nvPr/>
        </p:nvSpPr>
        <p:spPr>
          <a:xfrm>
            <a:off x="3465576" y="110642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65576" y="130759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3465576" y="1545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15727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465576" y="18928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4123944" y="181965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guidelines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95.0%  |  Target 100.0%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099048" y="960120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 txBox="1"/>
          <p:nvPr/>
        </p:nvSpPr>
        <p:spPr>
          <a:xfrm>
            <a:off x="6263640" y="110642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30759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545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15727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8928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28" name="Text 26"/>
          <p:cNvSpPr txBox="1"/>
          <p:nvPr/>
        </p:nvSpPr>
        <p:spPr>
          <a:xfrm>
            <a:off x="6922008" y="181965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delivery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100.0%  |  Target 100.0%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897112" y="960120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 txBox="1"/>
          <p:nvPr/>
        </p:nvSpPr>
        <p:spPr>
          <a:xfrm>
            <a:off x="9061704" y="1106424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9061704" y="130759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700" dirty="0"/>
          </a:p>
        </p:txBody>
      </p:sp>
      <p:sp>
        <p:nvSpPr>
          <p:cNvPr id="32" name="Text 30"/>
          <p:cNvSpPr txBox="1"/>
          <p:nvPr/>
        </p:nvSpPr>
        <p:spPr>
          <a:xfrm>
            <a:off x="9061704" y="1545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1572768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061704" y="189280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9720072" y="1819656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content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29.0%  |  Target 30.0%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2587752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7" name="Text 35"/>
          <p:cNvSpPr txBox="1"/>
          <p:nvPr/>
        </p:nvSpPr>
        <p:spPr>
          <a:xfrm>
            <a:off x="667512" y="273405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" y="2935224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7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" y="3172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2000" dirty="0"/>
          </a:p>
        </p:txBody>
      </p:sp>
      <p:sp>
        <p:nvSpPr>
          <p:cNvPr id="40" name="Text 38"/>
          <p:cNvSpPr txBox="1"/>
          <p:nvPr/>
        </p:nvSpPr>
        <p:spPr>
          <a:xfrm>
            <a:off x="1463040" y="3200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" y="35204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1325880" y="344728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development hours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0.9  |  Target 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300984" y="2587752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42"/>
          <p:cNvSpPr txBox="1"/>
          <p:nvPr/>
        </p:nvSpPr>
        <p:spPr>
          <a:xfrm>
            <a:off x="3465576" y="273405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3465576" y="2935224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700" dirty="0"/>
          </a:p>
        </p:txBody>
      </p:sp>
      <p:sp>
        <p:nvSpPr>
          <p:cNvPr id="46" name="Text 44"/>
          <p:cNvSpPr txBox="1"/>
          <p:nvPr/>
        </p:nvSpPr>
        <p:spPr>
          <a:xfrm>
            <a:off x="3465576" y="3172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2000" dirty="0"/>
          </a:p>
        </p:txBody>
      </p:sp>
      <p:sp>
        <p:nvSpPr>
          <p:cNvPr id="47" name="Text 45"/>
          <p:cNvSpPr txBox="1"/>
          <p:nvPr/>
        </p:nvSpPr>
        <p:spPr>
          <a:xfrm>
            <a:off x="4261104" y="3200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3465576" y="35204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49" name="Text 47"/>
          <p:cNvSpPr txBox="1"/>
          <p:nvPr/>
        </p:nvSpPr>
        <p:spPr>
          <a:xfrm>
            <a:off x="4123944" y="344728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10.0%  |  Target 7.0%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099048" y="2587752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1" name="Text 49"/>
          <p:cNvSpPr txBox="1"/>
          <p:nvPr/>
        </p:nvSpPr>
        <p:spPr>
          <a:xfrm>
            <a:off x="6263640" y="273405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263640" y="2935224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700" dirty="0"/>
          </a:p>
        </p:txBody>
      </p:sp>
      <p:sp>
        <p:nvSpPr>
          <p:cNvPr id="53" name="Text 51"/>
          <p:cNvSpPr txBox="1"/>
          <p:nvPr/>
        </p:nvSpPr>
        <p:spPr>
          <a:xfrm>
            <a:off x="6263640" y="3172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059168" y="3200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263640" y="35204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56" name="Text 54"/>
          <p:cNvSpPr txBox="1"/>
          <p:nvPr/>
        </p:nvSpPr>
        <p:spPr>
          <a:xfrm>
            <a:off x="6922008" y="344728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69.4%  |  Target 90.0%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897112" y="2587752"/>
            <a:ext cx="2578608" cy="1298448"/>
          </a:xfrm>
          <a:prstGeom prst="roundRect">
            <a:avLst>
              <a:gd name="adj" fmla="val 4225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Text 56"/>
          <p:cNvSpPr txBox="1"/>
          <p:nvPr/>
        </p:nvSpPr>
        <p:spPr>
          <a:xfrm>
            <a:off x="9061704" y="2734056"/>
            <a:ext cx="2258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9061704" y="2935224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9061704" y="3172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2000" dirty="0"/>
          </a:p>
        </p:txBody>
      </p:sp>
      <p:sp>
        <p:nvSpPr>
          <p:cNvPr id="61" name="Text 59"/>
          <p:cNvSpPr txBox="1"/>
          <p:nvPr/>
        </p:nvSpPr>
        <p:spPr>
          <a:xfrm>
            <a:off x="9857232" y="3200400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9061704" y="352044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KPI</a:t>
            </a:r>
            <a:endParaRPr lang="en-US" sz="700" dirty="0"/>
          </a:p>
        </p:txBody>
      </p:sp>
      <p:sp>
        <p:nvSpPr>
          <p:cNvPr id="63" name="Text 61"/>
          <p:cNvSpPr txBox="1"/>
          <p:nvPr/>
        </p:nvSpPr>
        <p:spPr>
          <a:xfrm>
            <a:off x="9720072" y="3447288"/>
            <a:ext cx="16184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75 min  |  Target 30 min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02920" y="5815584"/>
            <a:ext cx="10652760" cy="384048"/>
          </a:xfrm>
          <a:prstGeom prst="roundRect">
            <a:avLst>
              <a:gd name="adj" fmla="val 14286"/>
            </a:avLst>
          </a:prstGeom>
          <a:solidFill>
            <a:srgbClr val="ECFDF3"/>
          </a:solidFill>
          <a:ln w="8890">
            <a:solidFill>
              <a:srgbClr val="ABEF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630936" y="5852160"/>
            <a:ext cx="1039672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use: share effective practices from top performers but keep monitoring the first watch KPI so the score remains sustainable.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1B33"/>
          </a:solidFill>
          <a:ln w="12700">
            <a:solidFill>
              <a:srgbClr val="0F1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47472" y="1097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6F. Employee Detail </a:t>
            </a:r>
            <a:r>
              <a:rPr lang="en-US" sz="18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A%endix</a:t>
            </a: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Full Scorecard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56616" y="384048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One-page reference: score, MoM, status, top KPI gap, and actual / target values.</a:t>
            </a:r>
            <a:endParaRPr lang="en-US" sz="660" dirty="0"/>
          </a:p>
        </p:txBody>
      </p:sp>
      <p:sp>
        <p:nvSpPr>
          <p:cNvPr id="5" name="Text 3"/>
          <p:cNvSpPr txBox="1"/>
          <p:nvPr/>
        </p:nvSpPr>
        <p:spPr>
          <a:xfrm>
            <a:off x="10881360" y="1554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2026</a:t>
            </a:r>
            <a:endParaRPr lang="en-US" sz="68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6601968"/>
            <a:ext cx="5120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PMS  |  July 2026  |  Employee Detail </a:t>
            </a:r>
            <a:r>
              <a:rPr lang="en-US" sz="520" dirty="0" err="1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A%endix</a:t>
            </a: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Full Scorecard</a:t>
            </a:r>
            <a:endParaRPr lang="en-US" sz="520" dirty="0"/>
          </a:p>
        </p:txBody>
      </p:sp>
      <p:sp>
        <p:nvSpPr>
          <p:cNvPr id="7" name="Text 5"/>
          <p:cNvSpPr txBox="1"/>
          <p:nvPr/>
        </p:nvSpPr>
        <p:spPr>
          <a:xfrm>
            <a:off x="11631168" y="65836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520" dirty="0">
                <a:solidFill>
                  <a:srgbClr val="98A2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520" dirty="0"/>
          </a:p>
        </p:txBody>
      </p:sp>
      <p:sp>
        <p:nvSpPr>
          <p:cNvPr id="8" name="Shape 6"/>
          <p:cNvSpPr/>
          <p:nvPr/>
        </p:nvSpPr>
        <p:spPr>
          <a:xfrm>
            <a:off x="411480" y="987552"/>
            <a:ext cx="10835640" cy="5440680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66928" y="1170432"/>
            <a:ext cx="10195560" cy="4288536"/>
          </a:xfrm>
          <a:prstGeom prst="roundRect">
            <a:avLst>
              <a:gd name="adj" fmla="val 1279"/>
            </a:avLst>
          </a:prstGeom>
          <a:solidFill>
            <a:srgbClr val="FFFFFF"/>
          </a:solidFill>
          <a:ln w="889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66928" y="1170432"/>
            <a:ext cx="141732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 9"/>
          <p:cNvSpPr txBox="1"/>
          <p:nvPr/>
        </p:nvSpPr>
        <p:spPr>
          <a:xfrm>
            <a:off x="603504" y="1188720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Employee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84248" y="1170432"/>
            <a:ext cx="141732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" name="Text 11"/>
          <p:cNvSpPr txBox="1"/>
          <p:nvPr/>
        </p:nvSpPr>
        <p:spPr>
          <a:xfrm>
            <a:off x="2020824" y="1188720"/>
            <a:ext cx="1344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01568" y="1170432"/>
            <a:ext cx="566928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" name="Text 13"/>
          <p:cNvSpPr txBox="1"/>
          <p:nvPr/>
        </p:nvSpPr>
        <p:spPr>
          <a:xfrm>
            <a:off x="3438144" y="1188720"/>
            <a:ext cx="493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68496" y="1170432"/>
            <a:ext cx="658368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 15"/>
          <p:cNvSpPr txBox="1"/>
          <p:nvPr/>
        </p:nvSpPr>
        <p:spPr>
          <a:xfrm>
            <a:off x="4005072" y="1188720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170432"/>
            <a:ext cx="658368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" name="Text 17"/>
          <p:cNvSpPr txBox="1"/>
          <p:nvPr/>
        </p:nvSpPr>
        <p:spPr>
          <a:xfrm>
            <a:off x="4663440" y="1188720"/>
            <a:ext cx="585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85232" y="1170432"/>
            <a:ext cx="187452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" name="Text 19"/>
          <p:cNvSpPr txBox="1"/>
          <p:nvPr/>
        </p:nvSpPr>
        <p:spPr>
          <a:xfrm>
            <a:off x="5321808" y="1188720"/>
            <a:ext cx="1801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KPI Gap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59752" y="1170432"/>
            <a:ext cx="68580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" name="Text 21"/>
          <p:cNvSpPr txBox="1"/>
          <p:nvPr/>
        </p:nvSpPr>
        <p:spPr>
          <a:xfrm>
            <a:off x="7196328" y="1188720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45552" y="1170432"/>
            <a:ext cx="68580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" name="Text 23"/>
          <p:cNvSpPr txBox="1"/>
          <p:nvPr/>
        </p:nvSpPr>
        <p:spPr>
          <a:xfrm>
            <a:off x="7882128" y="1188720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31352" y="1170432"/>
            <a:ext cx="960120" cy="246888"/>
          </a:xfrm>
          <a:prstGeom prst="rect">
            <a:avLst/>
          </a:prstGeom>
          <a:solidFill>
            <a:srgbClr val="F2F4F7"/>
          </a:solidFill>
          <a:ln w="8890">
            <a:solidFill>
              <a:srgbClr val="F2F4F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 txBox="1"/>
          <p:nvPr/>
        </p:nvSpPr>
        <p:spPr>
          <a:xfrm>
            <a:off x="8567928" y="1188720"/>
            <a:ext cx="8869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" y="1417320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9" name="Text 27"/>
          <p:cNvSpPr txBox="1"/>
          <p:nvPr/>
        </p:nvSpPr>
        <p:spPr>
          <a:xfrm>
            <a:off x="603504" y="143560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Bahy Hamed Amer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84248" y="1417320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 txBox="1"/>
          <p:nvPr/>
        </p:nvSpPr>
        <p:spPr>
          <a:xfrm>
            <a:off x="2020824" y="143560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401568" y="1417320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3" name="Text 31"/>
          <p:cNvSpPr txBox="1"/>
          <p:nvPr/>
        </p:nvSpPr>
        <p:spPr>
          <a:xfrm>
            <a:off x="3438144" y="14356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43.8%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68496" y="1417320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Text 33"/>
          <p:cNvSpPr txBox="1"/>
          <p:nvPr/>
        </p:nvSpPr>
        <p:spPr>
          <a:xfrm>
            <a:off x="4005072" y="14356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-17.3 %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26864" y="1417320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 txBox="1"/>
          <p:nvPr/>
        </p:nvSpPr>
        <p:spPr>
          <a:xfrm>
            <a:off x="4663440" y="14356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285232" y="1417320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9" name="Text 37"/>
          <p:cNvSpPr txBox="1"/>
          <p:nvPr/>
        </p:nvSpPr>
        <p:spPr>
          <a:xfrm>
            <a:off x="5321808" y="143560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35%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159752" y="1417320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1" name="Text 39"/>
          <p:cNvSpPr txBox="1"/>
          <p:nvPr/>
        </p:nvSpPr>
        <p:spPr>
          <a:xfrm>
            <a:off x="7196328" y="143560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2.3K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845552" y="1417320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 txBox="1"/>
          <p:nvPr/>
        </p:nvSpPr>
        <p:spPr>
          <a:xfrm>
            <a:off x="7882128" y="143560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8531352" y="1417320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5" name="Text 43"/>
          <p:cNvSpPr txBox="1"/>
          <p:nvPr/>
        </p:nvSpPr>
        <p:spPr>
          <a:xfrm>
            <a:off x="8567928" y="143560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85216" y="1728216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7" name="Shape 45"/>
          <p:cNvSpPr/>
          <p:nvPr/>
        </p:nvSpPr>
        <p:spPr>
          <a:xfrm>
            <a:off x="566928" y="1728216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48" name="Text 46"/>
          <p:cNvSpPr txBox="1"/>
          <p:nvPr/>
        </p:nvSpPr>
        <p:spPr>
          <a:xfrm>
            <a:off x="603504" y="174650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Ziad sayed hassan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984248" y="1728216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0" name="Text 48"/>
          <p:cNvSpPr txBox="1"/>
          <p:nvPr/>
        </p:nvSpPr>
        <p:spPr>
          <a:xfrm>
            <a:off x="2020824" y="174650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01568" y="1728216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2" name="Text 50"/>
          <p:cNvSpPr txBox="1"/>
          <p:nvPr/>
        </p:nvSpPr>
        <p:spPr>
          <a:xfrm>
            <a:off x="3438144" y="174650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57.8%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968496" y="1728216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4" name="Text 52"/>
          <p:cNvSpPr txBox="1"/>
          <p:nvPr/>
        </p:nvSpPr>
        <p:spPr>
          <a:xfrm>
            <a:off x="4005072" y="174650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26864" y="1728216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" name="Text 54"/>
          <p:cNvSpPr txBox="1"/>
          <p:nvPr/>
        </p:nvSpPr>
        <p:spPr>
          <a:xfrm>
            <a:off x="4663440" y="174650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285232" y="1728216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8" name="Text 56"/>
          <p:cNvSpPr txBox="1"/>
          <p:nvPr/>
        </p:nvSpPr>
        <p:spPr>
          <a:xfrm>
            <a:off x="5321808" y="174650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 20%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159752" y="1728216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0" name="Text 58"/>
          <p:cNvSpPr txBox="1"/>
          <p:nvPr/>
        </p:nvSpPr>
        <p:spPr>
          <a:xfrm>
            <a:off x="7196328" y="174650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9.0%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845552" y="1728216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2" name="Text 60"/>
          <p:cNvSpPr txBox="1"/>
          <p:nvPr/>
        </p:nvSpPr>
        <p:spPr>
          <a:xfrm>
            <a:off x="7882128" y="174650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531352" y="1728216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4" name="Text 62"/>
          <p:cNvSpPr txBox="1"/>
          <p:nvPr/>
        </p:nvSpPr>
        <p:spPr>
          <a:xfrm>
            <a:off x="8567928" y="174650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585216" y="2039112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6" name="Shape 64"/>
          <p:cNvSpPr/>
          <p:nvPr/>
        </p:nvSpPr>
        <p:spPr>
          <a:xfrm>
            <a:off x="566928" y="2039112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7" name="Text 65"/>
          <p:cNvSpPr txBox="1"/>
          <p:nvPr/>
        </p:nvSpPr>
        <p:spPr>
          <a:xfrm>
            <a:off x="603504" y="205740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Samya Ismail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984248" y="2039112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69" name="Text 67"/>
          <p:cNvSpPr txBox="1"/>
          <p:nvPr/>
        </p:nvSpPr>
        <p:spPr>
          <a:xfrm>
            <a:off x="2020824" y="205740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401568" y="2039112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1" name="Text 69"/>
          <p:cNvSpPr txBox="1"/>
          <p:nvPr/>
        </p:nvSpPr>
        <p:spPr>
          <a:xfrm>
            <a:off x="3438144" y="20574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968496" y="2039112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3" name="Text 71"/>
          <p:cNvSpPr txBox="1"/>
          <p:nvPr/>
        </p:nvSpPr>
        <p:spPr>
          <a:xfrm>
            <a:off x="4005072" y="205740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626864" y="2039112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5" name="Text 73"/>
          <p:cNvSpPr txBox="1"/>
          <p:nvPr/>
        </p:nvSpPr>
        <p:spPr>
          <a:xfrm>
            <a:off x="4663440" y="205740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5285232" y="2039112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7" name="Text 75"/>
          <p:cNvSpPr txBox="1"/>
          <p:nvPr/>
        </p:nvSpPr>
        <p:spPr>
          <a:xfrm>
            <a:off x="5321808" y="205740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159752" y="2039112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79" name="Text 77"/>
          <p:cNvSpPr txBox="1"/>
          <p:nvPr/>
        </p:nvSpPr>
        <p:spPr>
          <a:xfrm>
            <a:off x="7196328" y="205740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7845552" y="2039112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1" name="Text 79"/>
          <p:cNvSpPr txBox="1"/>
          <p:nvPr/>
        </p:nvSpPr>
        <p:spPr>
          <a:xfrm>
            <a:off x="7882128" y="205740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8531352" y="2039112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3" name="Text 81"/>
          <p:cNvSpPr txBox="1"/>
          <p:nvPr/>
        </p:nvSpPr>
        <p:spPr>
          <a:xfrm>
            <a:off x="8567928" y="205740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85216" y="2350008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5" name="Shape 83"/>
          <p:cNvSpPr/>
          <p:nvPr/>
        </p:nvSpPr>
        <p:spPr>
          <a:xfrm>
            <a:off x="566928" y="2350008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6" name="Text 84"/>
          <p:cNvSpPr txBox="1"/>
          <p:nvPr/>
        </p:nvSpPr>
        <p:spPr>
          <a:xfrm>
            <a:off x="603504" y="23682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Mina Nabil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984248" y="2350008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8" name="Text 86"/>
          <p:cNvSpPr txBox="1"/>
          <p:nvPr/>
        </p:nvSpPr>
        <p:spPr>
          <a:xfrm>
            <a:off x="2020824" y="23682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Specialist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3401568" y="2350008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0" name="Text 88"/>
          <p:cNvSpPr txBox="1"/>
          <p:nvPr/>
        </p:nvSpPr>
        <p:spPr>
          <a:xfrm>
            <a:off x="3438144" y="236829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66.6%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3968496" y="2350008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2" name="Text 90"/>
          <p:cNvSpPr txBox="1"/>
          <p:nvPr/>
        </p:nvSpPr>
        <p:spPr>
          <a:xfrm>
            <a:off x="4005072" y="236829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+5.6 %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4626864" y="2350008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4" name="Text 92"/>
          <p:cNvSpPr txBox="1"/>
          <p:nvPr/>
        </p:nvSpPr>
        <p:spPr>
          <a:xfrm>
            <a:off x="4663440" y="236829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5285232" y="2350008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6" name="Text 94"/>
          <p:cNvSpPr txBox="1"/>
          <p:nvPr/>
        </p:nvSpPr>
        <p:spPr>
          <a:xfrm>
            <a:off x="5321808" y="236829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7159752" y="2350008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98" name="Text 96"/>
          <p:cNvSpPr txBox="1"/>
          <p:nvPr/>
        </p:nvSpPr>
        <p:spPr>
          <a:xfrm>
            <a:off x="7196328" y="2368296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7845552" y="2350008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0" name="Text 98"/>
          <p:cNvSpPr txBox="1"/>
          <p:nvPr/>
        </p:nvSpPr>
        <p:spPr>
          <a:xfrm>
            <a:off x="7882128" y="2368296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8531352" y="2350008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2" name="Text 100"/>
          <p:cNvSpPr txBox="1"/>
          <p:nvPr/>
        </p:nvSpPr>
        <p:spPr>
          <a:xfrm>
            <a:off x="8567928" y="236829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585216" y="2660904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4" name="Shape 102"/>
          <p:cNvSpPr/>
          <p:nvPr/>
        </p:nvSpPr>
        <p:spPr>
          <a:xfrm>
            <a:off x="566928" y="2660904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5" name="Text 103"/>
          <p:cNvSpPr txBox="1"/>
          <p:nvPr/>
        </p:nvSpPr>
        <p:spPr>
          <a:xfrm>
            <a:off x="603504" y="267919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Abdelrahman Yousry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984248" y="2660904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7" name="Text 105"/>
          <p:cNvSpPr txBox="1"/>
          <p:nvPr/>
        </p:nvSpPr>
        <p:spPr>
          <a:xfrm>
            <a:off x="2020824" y="267919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Developer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3401568" y="2660904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09" name="Text 107"/>
          <p:cNvSpPr txBox="1"/>
          <p:nvPr/>
        </p:nvSpPr>
        <p:spPr>
          <a:xfrm>
            <a:off x="3438144" y="267919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68.8%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3968496" y="2660904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1" name="Text 109"/>
          <p:cNvSpPr txBox="1"/>
          <p:nvPr/>
        </p:nvSpPr>
        <p:spPr>
          <a:xfrm>
            <a:off x="4005072" y="26791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4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-10.0 %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626864" y="2660904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3" name="Text 111"/>
          <p:cNvSpPr txBox="1"/>
          <p:nvPr/>
        </p:nvSpPr>
        <p:spPr>
          <a:xfrm>
            <a:off x="4663440" y="267919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BELOW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5285232" y="2660904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5" name="Text 113"/>
          <p:cNvSpPr txBox="1"/>
          <p:nvPr/>
        </p:nvSpPr>
        <p:spPr>
          <a:xfrm>
            <a:off x="5321808" y="267919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uptime (%) 50%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7159752" y="2660904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7" name="Text 115"/>
          <p:cNvSpPr txBox="1"/>
          <p:nvPr/>
        </p:nvSpPr>
        <p:spPr>
          <a:xfrm>
            <a:off x="7196328" y="267919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50.0%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7845552" y="2660904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9" name="Text 117"/>
          <p:cNvSpPr txBox="1"/>
          <p:nvPr/>
        </p:nvSpPr>
        <p:spPr>
          <a:xfrm>
            <a:off x="7882128" y="267919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8531352" y="2660904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1" name="Text 119"/>
          <p:cNvSpPr txBox="1"/>
          <p:nvPr/>
        </p:nvSpPr>
        <p:spPr>
          <a:xfrm>
            <a:off x="8567928" y="267919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reliability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585216" y="2971800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3" name="Shape 121"/>
          <p:cNvSpPr/>
          <p:nvPr/>
        </p:nvSpPr>
        <p:spPr>
          <a:xfrm>
            <a:off x="566928" y="2971800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4" name="Text 122"/>
          <p:cNvSpPr txBox="1"/>
          <p:nvPr/>
        </p:nvSpPr>
        <p:spPr>
          <a:xfrm>
            <a:off x="603504" y="29900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Hossam El-Naggar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984248" y="2971800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6" name="Text 124"/>
          <p:cNvSpPr txBox="1"/>
          <p:nvPr/>
        </p:nvSpPr>
        <p:spPr>
          <a:xfrm>
            <a:off x="2020824" y="299008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 Media Head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3401568" y="2971800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28" name="Text 126"/>
          <p:cNvSpPr txBox="1"/>
          <p:nvPr/>
        </p:nvSpPr>
        <p:spPr>
          <a:xfrm>
            <a:off x="3438144" y="299008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84.3%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3968496" y="2971800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0" name="Text 128"/>
          <p:cNvSpPr txBox="1"/>
          <p:nvPr/>
        </p:nvSpPr>
        <p:spPr>
          <a:xfrm>
            <a:off x="4005072" y="29900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+6.8 %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4626864" y="2971800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2" name="Text 130"/>
          <p:cNvSpPr txBox="1"/>
          <p:nvPr/>
        </p:nvSpPr>
        <p:spPr>
          <a:xfrm>
            <a:off x="4663440" y="299008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33" name="Shape 131"/>
          <p:cNvSpPr/>
          <p:nvPr/>
        </p:nvSpPr>
        <p:spPr>
          <a:xfrm>
            <a:off x="5285232" y="2971800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4" name="Text 132"/>
          <p:cNvSpPr txBox="1"/>
          <p:nvPr/>
        </p:nvSpPr>
        <p:spPr>
          <a:xfrm>
            <a:off x="5321808" y="29900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Time 40%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7159752" y="2971800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6" name="Text 134"/>
          <p:cNvSpPr txBox="1"/>
          <p:nvPr/>
        </p:nvSpPr>
        <p:spPr>
          <a:xfrm>
            <a:off x="7196328" y="299008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7845552" y="2971800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8" name="Text 136"/>
          <p:cNvSpPr txBox="1"/>
          <p:nvPr/>
        </p:nvSpPr>
        <p:spPr>
          <a:xfrm>
            <a:off x="7882128" y="299008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8531352" y="2971800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0" name="Text 138"/>
          <p:cNvSpPr txBox="1"/>
          <p:nvPr/>
        </p:nvSpPr>
        <p:spPr>
          <a:xfrm>
            <a:off x="8567928" y="299008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SLA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85216" y="3282696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2" name="Shape 140"/>
          <p:cNvSpPr/>
          <p:nvPr/>
        </p:nvSpPr>
        <p:spPr>
          <a:xfrm>
            <a:off x="566928" y="3282696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3" name="Text 141"/>
          <p:cNvSpPr txBox="1"/>
          <p:nvPr/>
        </p:nvSpPr>
        <p:spPr>
          <a:xfrm>
            <a:off x="603504" y="33009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Ahmed Mohamed Shehata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1984248" y="3282696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5" name="Text 143"/>
          <p:cNvSpPr txBox="1"/>
          <p:nvPr/>
        </p:nvSpPr>
        <p:spPr>
          <a:xfrm>
            <a:off x="2020824" y="330098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Buyer &amp; SEO Manager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3401568" y="3282696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7" name="Text 145"/>
          <p:cNvSpPr txBox="1"/>
          <p:nvPr/>
        </p:nvSpPr>
        <p:spPr>
          <a:xfrm>
            <a:off x="3438144" y="330098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90.7%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3968496" y="3282696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9" name="Text 147"/>
          <p:cNvSpPr txBox="1"/>
          <p:nvPr/>
        </p:nvSpPr>
        <p:spPr>
          <a:xfrm>
            <a:off x="4005072" y="330098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+0.5 %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626864" y="3282696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1" name="Text 149"/>
          <p:cNvSpPr txBox="1"/>
          <p:nvPr/>
        </p:nvSpPr>
        <p:spPr>
          <a:xfrm>
            <a:off x="4663440" y="330098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5285232" y="3282696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3" name="Text 151"/>
          <p:cNvSpPr txBox="1"/>
          <p:nvPr/>
        </p:nvSpPr>
        <p:spPr>
          <a:xfrm>
            <a:off x="5321808" y="330098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Compliance 77%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7159752" y="3282696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5" name="Text 153"/>
          <p:cNvSpPr txBox="1"/>
          <p:nvPr/>
        </p:nvSpPr>
        <p:spPr>
          <a:xfrm>
            <a:off x="7196328" y="33009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69.4%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7845552" y="3282696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7" name="Text 155"/>
          <p:cNvSpPr txBox="1"/>
          <p:nvPr/>
        </p:nvSpPr>
        <p:spPr>
          <a:xfrm>
            <a:off x="7882128" y="33009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90.0%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8531352" y="3282696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9" name="Text 157"/>
          <p:cNvSpPr txBox="1"/>
          <p:nvPr/>
        </p:nvSpPr>
        <p:spPr>
          <a:xfrm>
            <a:off x="8567928" y="33009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Paid media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585216" y="3593592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1" name="Shape 159"/>
          <p:cNvSpPr/>
          <p:nvPr/>
        </p:nvSpPr>
        <p:spPr>
          <a:xfrm>
            <a:off x="566928" y="3593592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2" name="Text 160"/>
          <p:cNvSpPr txBox="1"/>
          <p:nvPr/>
        </p:nvSpPr>
        <p:spPr>
          <a:xfrm>
            <a:off x="603504" y="3611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 Mohamed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1984248" y="3593592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4" name="Text 162"/>
          <p:cNvSpPr txBox="1"/>
          <p:nvPr/>
        </p:nvSpPr>
        <p:spPr>
          <a:xfrm>
            <a:off x="2020824" y="361188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3401568" y="3593592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6" name="Text 164"/>
          <p:cNvSpPr txBox="1"/>
          <p:nvPr/>
        </p:nvSpPr>
        <p:spPr>
          <a:xfrm>
            <a:off x="3438144" y="361188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93.5%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3968496" y="3593592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8" name="Text 166"/>
          <p:cNvSpPr txBox="1"/>
          <p:nvPr/>
        </p:nvSpPr>
        <p:spPr>
          <a:xfrm>
            <a:off x="4005072" y="361188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+0.0 %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4626864" y="3593592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0" name="Text 168"/>
          <p:cNvSpPr txBox="1"/>
          <p:nvPr/>
        </p:nvSpPr>
        <p:spPr>
          <a:xfrm>
            <a:off x="4663440" y="361188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71" name="Shape 169"/>
          <p:cNvSpPr/>
          <p:nvPr/>
        </p:nvSpPr>
        <p:spPr>
          <a:xfrm>
            <a:off x="5285232" y="3593592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2" name="Text 170"/>
          <p:cNvSpPr txBox="1"/>
          <p:nvPr/>
        </p:nvSpPr>
        <p:spPr>
          <a:xfrm>
            <a:off x="5321808" y="361188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Edits Rate 70%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7159752" y="3593592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4" name="Text 172"/>
          <p:cNvSpPr txBox="1"/>
          <p:nvPr/>
        </p:nvSpPr>
        <p:spPr>
          <a:xfrm>
            <a:off x="7196328" y="361188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10.0%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7845552" y="3593592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6" name="Text 174"/>
          <p:cNvSpPr txBox="1"/>
          <p:nvPr/>
        </p:nvSpPr>
        <p:spPr>
          <a:xfrm>
            <a:off x="7882128" y="361188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7.0%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8531352" y="3593592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8" name="Text 176"/>
          <p:cNvSpPr txBox="1"/>
          <p:nvPr/>
        </p:nvSpPr>
        <p:spPr>
          <a:xfrm>
            <a:off x="8567928" y="361188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585216" y="3904488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0" name="Shape 178"/>
          <p:cNvSpPr/>
          <p:nvPr/>
        </p:nvSpPr>
        <p:spPr>
          <a:xfrm>
            <a:off x="566928" y="3904488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1" name="Text 179"/>
          <p:cNvSpPr txBox="1"/>
          <p:nvPr/>
        </p:nvSpPr>
        <p:spPr>
          <a:xfrm>
            <a:off x="603504" y="39227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Mohamed Abdelmegid Diab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1984248" y="3904488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3" name="Text 181"/>
          <p:cNvSpPr txBox="1"/>
          <p:nvPr/>
        </p:nvSpPr>
        <p:spPr>
          <a:xfrm>
            <a:off x="2020824" y="392277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Creative Director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3401568" y="3904488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5" name="Text 183"/>
          <p:cNvSpPr txBox="1"/>
          <p:nvPr/>
        </p:nvSpPr>
        <p:spPr>
          <a:xfrm>
            <a:off x="3438144" y="3922776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97.2%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3968496" y="3904488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7" name="Text 185"/>
          <p:cNvSpPr txBox="1"/>
          <p:nvPr/>
        </p:nvSpPr>
        <p:spPr>
          <a:xfrm>
            <a:off x="4005072" y="392277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+2.7 %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626864" y="3904488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89" name="Text 187"/>
          <p:cNvSpPr txBox="1"/>
          <p:nvPr/>
        </p:nvSpPr>
        <p:spPr>
          <a:xfrm>
            <a:off x="4663440" y="3922776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5285232" y="3904488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1" name="Text 189"/>
          <p:cNvSpPr txBox="1"/>
          <p:nvPr/>
        </p:nvSpPr>
        <p:spPr>
          <a:xfrm>
            <a:off x="5321808" y="3922776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training &amp; development hours 85%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7159752" y="3904488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3" name="Text 191"/>
          <p:cNvSpPr txBox="1"/>
          <p:nvPr/>
        </p:nvSpPr>
        <p:spPr>
          <a:xfrm>
            <a:off x="7196328" y="3922776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7845552" y="3904488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5" name="Text 193"/>
          <p:cNvSpPr txBox="1"/>
          <p:nvPr/>
        </p:nvSpPr>
        <p:spPr>
          <a:xfrm>
            <a:off x="7882128" y="3922776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8531352" y="3904488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7" name="Text 195"/>
          <p:cNvSpPr txBox="1"/>
          <p:nvPr/>
        </p:nvSpPr>
        <p:spPr>
          <a:xfrm>
            <a:off x="8567928" y="3922776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198" name="Shape 196"/>
          <p:cNvSpPr/>
          <p:nvPr/>
        </p:nvSpPr>
        <p:spPr>
          <a:xfrm>
            <a:off x="585216" y="4215384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99" name="Shape 197"/>
          <p:cNvSpPr/>
          <p:nvPr/>
        </p:nvSpPr>
        <p:spPr>
          <a:xfrm>
            <a:off x="566928" y="4215384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0" name="Text 198"/>
          <p:cNvSpPr txBox="1"/>
          <p:nvPr/>
        </p:nvSpPr>
        <p:spPr>
          <a:xfrm>
            <a:off x="603504" y="42336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Nourshan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1984248" y="4215384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2" name="Text 200"/>
          <p:cNvSpPr txBox="1"/>
          <p:nvPr/>
        </p:nvSpPr>
        <p:spPr>
          <a:xfrm>
            <a:off x="2020824" y="4233672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Writer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3401568" y="4215384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4" name="Text 202"/>
          <p:cNvSpPr txBox="1"/>
          <p:nvPr/>
        </p:nvSpPr>
        <p:spPr>
          <a:xfrm>
            <a:off x="3438144" y="4233672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97.5%</a:t>
            </a:r>
            <a:endParaRPr lang="en-US" sz="800" dirty="0"/>
          </a:p>
        </p:txBody>
      </p:sp>
      <p:sp>
        <p:nvSpPr>
          <p:cNvPr id="205" name="Shape 203"/>
          <p:cNvSpPr/>
          <p:nvPr/>
        </p:nvSpPr>
        <p:spPr>
          <a:xfrm>
            <a:off x="3968496" y="4215384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6" name="Text 204"/>
          <p:cNvSpPr txBox="1"/>
          <p:nvPr/>
        </p:nvSpPr>
        <p:spPr>
          <a:xfrm>
            <a:off x="4005072" y="42336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00" dirty="0"/>
          </a:p>
        </p:txBody>
      </p:sp>
      <p:sp>
        <p:nvSpPr>
          <p:cNvPr id="207" name="Shape 205"/>
          <p:cNvSpPr/>
          <p:nvPr/>
        </p:nvSpPr>
        <p:spPr>
          <a:xfrm>
            <a:off x="4626864" y="4215384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08" name="Text 206"/>
          <p:cNvSpPr txBox="1"/>
          <p:nvPr/>
        </p:nvSpPr>
        <p:spPr>
          <a:xfrm>
            <a:off x="4663440" y="4233672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5285232" y="4215384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0" name="Text 208"/>
          <p:cNvSpPr txBox="1"/>
          <p:nvPr/>
        </p:nvSpPr>
        <p:spPr>
          <a:xfrm>
            <a:off x="5321808" y="4233672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Organic traffic from content 97%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7159752" y="4215384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2" name="Text 210"/>
          <p:cNvSpPr txBox="1"/>
          <p:nvPr/>
        </p:nvSpPr>
        <p:spPr>
          <a:xfrm>
            <a:off x="7196328" y="423367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29.0%</a:t>
            </a:r>
            <a:endParaRPr lang="en-US" sz="800" dirty="0"/>
          </a:p>
        </p:txBody>
      </p:sp>
      <p:sp>
        <p:nvSpPr>
          <p:cNvPr id="213" name="Shape 211"/>
          <p:cNvSpPr/>
          <p:nvPr/>
        </p:nvSpPr>
        <p:spPr>
          <a:xfrm>
            <a:off x="7845552" y="4215384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4" name="Text 212"/>
          <p:cNvSpPr txBox="1"/>
          <p:nvPr/>
        </p:nvSpPr>
        <p:spPr>
          <a:xfrm>
            <a:off x="7882128" y="4233672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30.0%</a:t>
            </a:r>
            <a:endParaRPr lang="en-US" sz="800" dirty="0"/>
          </a:p>
        </p:txBody>
      </p:sp>
      <p:sp>
        <p:nvSpPr>
          <p:cNvPr id="215" name="Shape 213"/>
          <p:cNvSpPr/>
          <p:nvPr/>
        </p:nvSpPr>
        <p:spPr>
          <a:xfrm>
            <a:off x="8531352" y="4215384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6" name="Text 214"/>
          <p:cNvSpPr txBox="1"/>
          <p:nvPr/>
        </p:nvSpPr>
        <p:spPr>
          <a:xfrm>
            <a:off x="8567928" y="423367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585216" y="4526280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8" name="Shape 216"/>
          <p:cNvSpPr/>
          <p:nvPr/>
        </p:nvSpPr>
        <p:spPr>
          <a:xfrm>
            <a:off x="566928" y="4526280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9" name="Text 217"/>
          <p:cNvSpPr txBox="1"/>
          <p:nvPr/>
        </p:nvSpPr>
        <p:spPr>
          <a:xfrm>
            <a:off x="603504" y="454456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 Samir</a:t>
            </a:r>
            <a:endParaRPr lang="en-US" sz="800" dirty="0"/>
          </a:p>
        </p:txBody>
      </p:sp>
      <p:sp>
        <p:nvSpPr>
          <p:cNvPr id="220" name="Shape 218"/>
          <p:cNvSpPr/>
          <p:nvPr/>
        </p:nvSpPr>
        <p:spPr>
          <a:xfrm>
            <a:off x="1984248" y="4526280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1" name="Text 219"/>
          <p:cNvSpPr txBox="1"/>
          <p:nvPr/>
        </p:nvSpPr>
        <p:spPr>
          <a:xfrm>
            <a:off x="2020824" y="4544568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Manager</a:t>
            </a:r>
            <a:endParaRPr lang="en-US" sz="800" dirty="0"/>
          </a:p>
        </p:txBody>
      </p:sp>
      <p:sp>
        <p:nvSpPr>
          <p:cNvPr id="222" name="Shape 220"/>
          <p:cNvSpPr/>
          <p:nvPr/>
        </p:nvSpPr>
        <p:spPr>
          <a:xfrm>
            <a:off x="3401568" y="4526280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3" name="Text 221"/>
          <p:cNvSpPr txBox="1"/>
          <p:nvPr/>
        </p:nvSpPr>
        <p:spPr>
          <a:xfrm>
            <a:off x="3438144" y="454456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97.6%</a:t>
            </a:r>
            <a:endParaRPr lang="en-US" sz="800" dirty="0"/>
          </a:p>
        </p:txBody>
      </p:sp>
      <p:sp>
        <p:nvSpPr>
          <p:cNvPr id="224" name="Shape 222"/>
          <p:cNvSpPr/>
          <p:nvPr/>
        </p:nvSpPr>
        <p:spPr>
          <a:xfrm>
            <a:off x="3968496" y="4526280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5" name="Text 223"/>
          <p:cNvSpPr txBox="1"/>
          <p:nvPr/>
        </p:nvSpPr>
        <p:spPr>
          <a:xfrm>
            <a:off x="4005072" y="45445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+3.1 %</a:t>
            </a:r>
            <a:endParaRPr lang="en-US" sz="800" dirty="0"/>
          </a:p>
        </p:txBody>
      </p:sp>
      <p:sp>
        <p:nvSpPr>
          <p:cNvPr id="226" name="Shape 224"/>
          <p:cNvSpPr/>
          <p:nvPr/>
        </p:nvSpPr>
        <p:spPr>
          <a:xfrm>
            <a:off x="4626864" y="4526280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7" name="Text 225"/>
          <p:cNvSpPr txBox="1"/>
          <p:nvPr/>
        </p:nvSpPr>
        <p:spPr>
          <a:xfrm>
            <a:off x="4663440" y="45445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28" name="Shape 226"/>
          <p:cNvSpPr/>
          <p:nvPr/>
        </p:nvSpPr>
        <p:spPr>
          <a:xfrm>
            <a:off x="5285232" y="4526280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9" name="Text 227"/>
          <p:cNvSpPr txBox="1"/>
          <p:nvPr/>
        </p:nvSpPr>
        <p:spPr>
          <a:xfrm>
            <a:off x="5321808" y="454456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 delivery 100%</a:t>
            </a:r>
            <a:endParaRPr lang="en-US" sz="800" dirty="0"/>
          </a:p>
        </p:txBody>
      </p:sp>
      <p:sp>
        <p:nvSpPr>
          <p:cNvPr id="230" name="Shape 228"/>
          <p:cNvSpPr/>
          <p:nvPr/>
        </p:nvSpPr>
        <p:spPr>
          <a:xfrm>
            <a:off x="7159752" y="4526280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1" name="Text 229"/>
          <p:cNvSpPr txBox="1"/>
          <p:nvPr/>
        </p:nvSpPr>
        <p:spPr>
          <a:xfrm>
            <a:off x="7196328" y="454456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232" name="Shape 230"/>
          <p:cNvSpPr/>
          <p:nvPr/>
        </p:nvSpPr>
        <p:spPr>
          <a:xfrm>
            <a:off x="7845552" y="4526280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3" name="Text 231"/>
          <p:cNvSpPr txBox="1"/>
          <p:nvPr/>
        </p:nvSpPr>
        <p:spPr>
          <a:xfrm>
            <a:off x="7882128" y="4544568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8531352" y="4526280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5" name="Text 233"/>
          <p:cNvSpPr txBox="1"/>
          <p:nvPr/>
        </p:nvSpPr>
        <p:spPr>
          <a:xfrm>
            <a:off x="8567928" y="4544568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585216" y="4837176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7" name="Shape 235"/>
          <p:cNvSpPr/>
          <p:nvPr/>
        </p:nvSpPr>
        <p:spPr>
          <a:xfrm>
            <a:off x="566928" y="4837176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8" name="Text 236"/>
          <p:cNvSpPr txBox="1"/>
          <p:nvPr/>
        </p:nvSpPr>
        <p:spPr>
          <a:xfrm>
            <a:off x="603504" y="485546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Abdulwahab</a:t>
            </a:r>
            <a:endParaRPr lang="en-US" sz="800" dirty="0"/>
          </a:p>
        </p:txBody>
      </p:sp>
      <p:sp>
        <p:nvSpPr>
          <p:cNvPr id="239" name="Shape 237"/>
          <p:cNvSpPr/>
          <p:nvPr/>
        </p:nvSpPr>
        <p:spPr>
          <a:xfrm>
            <a:off x="1984248" y="4837176"/>
            <a:ext cx="14173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0" name="Text 238"/>
          <p:cNvSpPr txBox="1"/>
          <p:nvPr/>
        </p:nvSpPr>
        <p:spPr>
          <a:xfrm>
            <a:off x="2020824" y="4855464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 Designer</a:t>
            </a:r>
            <a:endParaRPr lang="en-US" sz="800" dirty="0"/>
          </a:p>
        </p:txBody>
      </p:sp>
      <p:sp>
        <p:nvSpPr>
          <p:cNvPr id="241" name="Shape 239"/>
          <p:cNvSpPr/>
          <p:nvPr/>
        </p:nvSpPr>
        <p:spPr>
          <a:xfrm>
            <a:off x="3401568" y="4837176"/>
            <a:ext cx="56692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2" name="Text 240"/>
          <p:cNvSpPr txBox="1"/>
          <p:nvPr/>
        </p:nvSpPr>
        <p:spPr>
          <a:xfrm>
            <a:off x="3438144" y="4855464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800" dirty="0"/>
          </a:p>
        </p:txBody>
      </p:sp>
      <p:sp>
        <p:nvSpPr>
          <p:cNvPr id="243" name="Shape 241"/>
          <p:cNvSpPr/>
          <p:nvPr/>
        </p:nvSpPr>
        <p:spPr>
          <a:xfrm>
            <a:off x="3968496" y="4837176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4" name="Text 242"/>
          <p:cNvSpPr txBox="1"/>
          <p:nvPr/>
        </p:nvSpPr>
        <p:spPr>
          <a:xfrm>
            <a:off x="4005072" y="48554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+7.8 %</a:t>
            </a:r>
            <a:endParaRPr lang="en-US" sz="800" dirty="0"/>
          </a:p>
        </p:txBody>
      </p:sp>
      <p:sp>
        <p:nvSpPr>
          <p:cNvPr id="245" name="Shape 243"/>
          <p:cNvSpPr/>
          <p:nvPr/>
        </p:nvSpPr>
        <p:spPr>
          <a:xfrm>
            <a:off x="4626864" y="4837176"/>
            <a:ext cx="658368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6" name="Text 244"/>
          <p:cNvSpPr txBox="1"/>
          <p:nvPr/>
        </p:nvSpPr>
        <p:spPr>
          <a:xfrm>
            <a:off x="4663440" y="4855464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47" name="Shape 245"/>
          <p:cNvSpPr/>
          <p:nvPr/>
        </p:nvSpPr>
        <p:spPr>
          <a:xfrm>
            <a:off x="5285232" y="4837176"/>
            <a:ext cx="18745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8" name="Text 246"/>
          <p:cNvSpPr txBox="1"/>
          <p:nvPr/>
        </p:nvSpPr>
        <p:spPr>
          <a:xfrm>
            <a:off x="5321808" y="4855464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with brand guidelines 95%</a:t>
            </a:r>
            <a:endParaRPr lang="en-US" sz="800" dirty="0"/>
          </a:p>
        </p:txBody>
      </p:sp>
      <p:sp>
        <p:nvSpPr>
          <p:cNvPr id="249" name="Shape 247"/>
          <p:cNvSpPr/>
          <p:nvPr/>
        </p:nvSpPr>
        <p:spPr>
          <a:xfrm>
            <a:off x="7159752" y="4837176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0" name="Text 248"/>
          <p:cNvSpPr txBox="1"/>
          <p:nvPr/>
        </p:nvSpPr>
        <p:spPr>
          <a:xfrm>
            <a:off x="7196328" y="485546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95.0%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7845552" y="4837176"/>
            <a:ext cx="68580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2" name="Text 250"/>
          <p:cNvSpPr txBox="1"/>
          <p:nvPr/>
        </p:nvSpPr>
        <p:spPr>
          <a:xfrm>
            <a:off x="7882128" y="485546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253" name="Shape 251"/>
          <p:cNvSpPr/>
          <p:nvPr/>
        </p:nvSpPr>
        <p:spPr>
          <a:xfrm>
            <a:off x="8531352" y="4837176"/>
            <a:ext cx="960120" cy="310896"/>
          </a:xfrm>
          <a:prstGeom prst="rect">
            <a:avLst/>
          </a:prstGeom>
          <a:solidFill>
            <a:srgbClr val="FBFCFE"/>
          </a:solidFill>
          <a:ln w="8890">
            <a:solidFill>
              <a:srgbClr val="FBFCFE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4" name="Text 252"/>
          <p:cNvSpPr txBox="1"/>
          <p:nvPr/>
        </p:nvSpPr>
        <p:spPr>
          <a:xfrm>
            <a:off x="8567928" y="485546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255" name="Shape 253"/>
          <p:cNvSpPr/>
          <p:nvPr/>
        </p:nvSpPr>
        <p:spPr>
          <a:xfrm>
            <a:off x="585216" y="5148072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6" name="Shape 254"/>
          <p:cNvSpPr/>
          <p:nvPr/>
        </p:nvSpPr>
        <p:spPr>
          <a:xfrm>
            <a:off x="566928" y="5148072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7" name="Text 255"/>
          <p:cNvSpPr txBox="1"/>
          <p:nvPr/>
        </p:nvSpPr>
        <p:spPr>
          <a:xfrm>
            <a:off x="603504" y="516636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Osama Fawzy Abdallah</a:t>
            </a:r>
            <a:endParaRPr lang="en-US" sz="800" dirty="0"/>
          </a:p>
        </p:txBody>
      </p:sp>
      <p:sp>
        <p:nvSpPr>
          <p:cNvPr id="258" name="Shape 256"/>
          <p:cNvSpPr/>
          <p:nvPr/>
        </p:nvSpPr>
        <p:spPr>
          <a:xfrm>
            <a:off x="1984248" y="5148072"/>
            <a:ext cx="14173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59" name="Text 257"/>
          <p:cNvSpPr txBox="1"/>
          <p:nvPr/>
        </p:nvSpPr>
        <p:spPr>
          <a:xfrm>
            <a:off x="2020824" y="5166360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Marketing Manager</a:t>
            </a:r>
            <a:endParaRPr lang="en-US" sz="800" dirty="0"/>
          </a:p>
        </p:txBody>
      </p:sp>
      <p:sp>
        <p:nvSpPr>
          <p:cNvPr id="260" name="Shape 258"/>
          <p:cNvSpPr/>
          <p:nvPr/>
        </p:nvSpPr>
        <p:spPr>
          <a:xfrm>
            <a:off x="3401568" y="5148072"/>
            <a:ext cx="56692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1" name="Text 259"/>
          <p:cNvSpPr txBox="1"/>
          <p:nvPr/>
        </p:nvSpPr>
        <p:spPr>
          <a:xfrm>
            <a:off x="3438144" y="516636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7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99.7%</a:t>
            </a:r>
            <a:endParaRPr lang="en-US" sz="800" dirty="0"/>
          </a:p>
        </p:txBody>
      </p:sp>
      <p:sp>
        <p:nvSpPr>
          <p:cNvPr id="262" name="Shape 260"/>
          <p:cNvSpPr/>
          <p:nvPr/>
        </p:nvSpPr>
        <p:spPr>
          <a:xfrm>
            <a:off x="3968496" y="5148072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3" name="Text 261"/>
          <p:cNvSpPr txBox="1"/>
          <p:nvPr/>
        </p:nvSpPr>
        <p:spPr>
          <a:xfrm>
            <a:off x="4005072" y="516636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00" dirty="0"/>
          </a:p>
        </p:txBody>
      </p:sp>
      <p:sp>
        <p:nvSpPr>
          <p:cNvPr id="264" name="Shape 262"/>
          <p:cNvSpPr/>
          <p:nvPr/>
        </p:nvSpPr>
        <p:spPr>
          <a:xfrm>
            <a:off x="4626864" y="5148072"/>
            <a:ext cx="658368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5" name="Text 263"/>
          <p:cNvSpPr txBox="1"/>
          <p:nvPr/>
        </p:nvSpPr>
        <p:spPr>
          <a:xfrm>
            <a:off x="4663440" y="516636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TRACK</a:t>
            </a:r>
            <a:endParaRPr lang="en-US" sz="800" dirty="0"/>
          </a:p>
        </p:txBody>
      </p:sp>
      <p:sp>
        <p:nvSpPr>
          <p:cNvPr id="266" name="Shape 264"/>
          <p:cNvSpPr/>
          <p:nvPr/>
        </p:nvSpPr>
        <p:spPr>
          <a:xfrm>
            <a:off x="5285232" y="5148072"/>
            <a:ext cx="18745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7" name="Text 265"/>
          <p:cNvSpPr txBox="1"/>
          <p:nvPr/>
        </p:nvSpPr>
        <p:spPr>
          <a:xfrm>
            <a:off x="5321808" y="5166360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ROI 99%</a:t>
            </a:r>
            <a:endParaRPr lang="en-US" sz="800" dirty="0"/>
          </a:p>
        </p:txBody>
      </p:sp>
      <p:sp>
        <p:nvSpPr>
          <p:cNvPr id="268" name="Shape 266"/>
          <p:cNvSpPr/>
          <p:nvPr/>
        </p:nvSpPr>
        <p:spPr>
          <a:xfrm>
            <a:off x="7159752" y="5148072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9" name="Text 267"/>
          <p:cNvSpPr txBox="1"/>
          <p:nvPr/>
        </p:nvSpPr>
        <p:spPr>
          <a:xfrm>
            <a:off x="7196328" y="516636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100.0%</a:t>
            </a:r>
            <a:endParaRPr lang="en-US" sz="800" dirty="0"/>
          </a:p>
        </p:txBody>
      </p:sp>
      <p:sp>
        <p:nvSpPr>
          <p:cNvPr id="270" name="Shape 268"/>
          <p:cNvSpPr/>
          <p:nvPr/>
        </p:nvSpPr>
        <p:spPr>
          <a:xfrm>
            <a:off x="7845552" y="5148072"/>
            <a:ext cx="68580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1" name="Text 269"/>
          <p:cNvSpPr txBox="1"/>
          <p:nvPr/>
        </p:nvSpPr>
        <p:spPr>
          <a:xfrm>
            <a:off x="7882128" y="5166360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99.0%</a:t>
            </a:r>
            <a:endParaRPr lang="en-US" sz="800" dirty="0"/>
          </a:p>
        </p:txBody>
      </p:sp>
      <p:sp>
        <p:nvSpPr>
          <p:cNvPr id="272" name="Shape 270"/>
          <p:cNvSpPr/>
          <p:nvPr/>
        </p:nvSpPr>
        <p:spPr>
          <a:xfrm>
            <a:off x="8531352" y="5148072"/>
            <a:ext cx="960120" cy="310896"/>
          </a:xfrm>
          <a:prstGeom prst="rect">
            <a:avLst/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73" name="Text 271"/>
          <p:cNvSpPr txBox="1"/>
          <p:nvPr/>
        </p:nvSpPr>
        <p:spPr>
          <a:xfrm>
            <a:off x="8567928" y="5166360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gap</a:t>
            </a:r>
            <a:endParaRPr lang="en-US" sz="800" dirty="0"/>
          </a:p>
        </p:txBody>
      </p:sp>
      <p:sp>
        <p:nvSpPr>
          <p:cNvPr id="274" name="Shape 272"/>
          <p:cNvSpPr/>
          <p:nvPr/>
        </p:nvSpPr>
        <p:spPr>
          <a:xfrm>
            <a:off x="585216" y="5458968"/>
            <a:ext cx="10158984" cy="0"/>
          </a:xfrm>
          <a:prstGeom prst="line">
            <a:avLst/>
          </a:prstGeom>
          <a:noFill/>
          <a:ln w="5080">
            <a:solidFill>
              <a:srgbClr val="E4E7EC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2547</Words>
  <Application>Microsoft Office PowerPoint</Application>
  <PresentationFormat>Widescreen</PresentationFormat>
  <Paragraphs>786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SGH Hub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PMS July 2026 — Final Hybrid Review</dc:title>
  <dc:subject>Marketing PMS July 2026</dc:subject>
  <dc:creator>OpenAI</dc:creator>
  <cp:lastModifiedBy>Mostafa Zeinhom</cp:lastModifiedBy>
  <cp:revision>12</cp:revision>
  <dcterms:created xsi:type="dcterms:W3CDTF">2026-08-17T16:30:01Z</dcterms:created>
  <dcterms:modified xsi:type="dcterms:W3CDTF">2026-08-17T17:16:56Z</dcterms:modified>
</cp:coreProperties>
</file>