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31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137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Marketing Team Performance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Team Summary — Main Score + Month-over-Month Change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00" y="1645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EEF4FF"/>
          </a:solidFill>
          <a:ln w="12700">
            <a:solidFill>
              <a:srgbClr val="C8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MAIN SCORE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46304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56A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81.8%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1792" y="192024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active employee records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2907792" y="111556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E8F8EF"/>
          </a:solidFill>
          <a:ln w="12700">
            <a:solidFill>
              <a:srgbClr val="C4E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72384" y="123444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COMPARABLE MOM CHANGE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072384" y="146304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A0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+0.5 </a:t>
            </a:r>
            <a:r>
              <a:rPr lang="ar-EG" sz="2400" b="1" dirty="0">
                <a:solidFill>
                  <a:srgbClr val="22A0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72384" y="192024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80.4% Jun  →  80.8% Jul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5358384" y="111556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DEDED"/>
          </a:solidFill>
          <a:ln w="12700">
            <a:solidFill>
              <a:srgbClr val="F3C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22976" y="123444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BELOW 70%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522976" y="146304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548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22976" y="192024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employees require attention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808976" y="111556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E8F8EF"/>
          </a:solidFill>
          <a:ln w="12700">
            <a:solidFill>
              <a:srgbClr val="C4E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73568" y="123444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CURRENT SCORE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73568" y="146304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A0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99.7%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973568" y="192024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Osama Fawzy Abdallah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10259568" y="1115568"/>
            <a:ext cx="1472184" cy="1143000"/>
          </a:xfrm>
          <a:prstGeom prst="roundRect">
            <a:avLst>
              <a:gd name="adj" fmla="val 6400"/>
            </a:avLst>
          </a:prstGeom>
          <a:solidFill>
            <a:srgbClr val="F5F6F8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405872" y="124358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DECLINE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10405872" y="151790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-17.3 %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360152" y="187452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457200" y="2450592"/>
            <a:ext cx="11274552" cy="402336"/>
          </a:xfrm>
          <a:prstGeom prst="roundRect">
            <a:avLst>
              <a:gd name="adj" fmla="val 18182"/>
            </a:avLst>
          </a:prstGeom>
          <a:solidFill>
            <a:srgbClr val="FDEDED"/>
          </a:solidFill>
          <a:ln w="12700">
            <a:solidFill>
              <a:srgbClr val="F3C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" y="2551176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alert: Bahy Hamed Amer has the largest MoM decline (-17.3 %) and a 43.8% main score. Paid-media CR / Leads / CPV are the first recovery focus.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457200" y="3063240"/>
            <a:ext cx="731520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" y="32461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Performance — Main Score &amp; MoM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363931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Marketing Manager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2852928" y="3666744"/>
            <a:ext cx="3063240" cy="100584"/>
          </a:xfrm>
          <a:prstGeom prst="roundRect">
            <a:avLst>
              <a:gd name="adj" fmla="val 3636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852928" y="3666744"/>
            <a:ext cx="3054050" cy="100584"/>
          </a:xfrm>
          <a:prstGeom prst="roundRect">
            <a:avLst>
              <a:gd name="adj" fmla="val 3636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16752" y="363931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99.7%</a:t>
            </a:r>
            <a:endParaRPr lang="en-US" sz="710" dirty="0"/>
          </a:p>
        </p:txBody>
      </p:sp>
      <p:sp>
        <p:nvSpPr>
          <p:cNvPr id="34" name="Shape 32"/>
          <p:cNvSpPr/>
          <p:nvPr/>
        </p:nvSpPr>
        <p:spPr>
          <a:xfrm>
            <a:off x="6656832" y="3611880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84264" y="365760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85800" y="392277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Manager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2852928" y="3950208"/>
            <a:ext cx="3063240" cy="100584"/>
          </a:xfrm>
          <a:prstGeom prst="roundRect">
            <a:avLst>
              <a:gd name="adj" fmla="val 3636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852928" y="3950208"/>
            <a:ext cx="2991164" cy="100584"/>
          </a:xfrm>
          <a:prstGeom prst="roundRect">
            <a:avLst>
              <a:gd name="adj" fmla="val 3636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16752" y="392277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97.6%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6656832" y="3895344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84264" y="3941064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+3.1 %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85800" y="420624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Writer</a:t>
            </a:r>
            <a:endParaRPr lang="en-US" sz="710" dirty="0"/>
          </a:p>
        </p:txBody>
      </p:sp>
      <p:sp>
        <p:nvSpPr>
          <p:cNvPr id="43" name="Shape 41"/>
          <p:cNvSpPr/>
          <p:nvPr/>
        </p:nvSpPr>
        <p:spPr>
          <a:xfrm>
            <a:off x="2852928" y="4233672"/>
            <a:ext cx="3063240" cy="100584"/>
          </a:xfrm>
          <a:prstGeom prst="roundRect">
            <a:avLst>
              <a:gd name="adj" fmla="val 3636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852928" y="4233672"/>
            <a:ext cx="2985694" cy="100584"/>
          </a:xfrm>
          <a:prstGeom prst="roundRect">
            <a:avLst>
              <a:gd name="adj" fmla="val 3636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016752" y="420624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97.5%</a:t>
            </a:r>
            <a:endParaRPr lang="en-US" sz="710" dirty="0"/>
          </a:p>
        </p:txBody>
      </p:sp>
      <p:sp>
        <p:nvSpPr>
          <p:cNvPr id="46" name="Shape 44"/>
          <p:cNvSpPr/>
          <p:nvPr/>
        </p:nvSpPr>
        <p:spPr>
          <a:xfrm>
            <a:off x="6656832" y="4178808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684264" y="422452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85800" y="4489704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Director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2852928" y="4517136"/>
            <a:ext cx="3063240" cy="100584"/>
          </a:xfrm>
          <a:prstGeom prst="roundRect">
            <a:avLst>
              <a:gd name="adj" fmla="val 3636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852928" y="4517136"/>
            <a:ext cx="2979001" cy="100584"/>
          </a:xfrm>
          <a:prstGeom prst="roundRect">
            <a:avLst>
              <a:gd name="adj" fmla="val 3636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016752" y="4489704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97.2%</a:t>
            </a:r>
            <a:endParaRPr lang="en-US" sz="710" dirty="0"/>
          </a:p>
        </p:txBody>
      </p:sp>
      <p:sp>
        <p:nvSpPr>
          <p:cNvPr id="52" name="Shape 50"/>
          <p:cNvSpPr/>
          <p:nvPr/>
        </p:nvSpPr>
        <p:spPr>
          <a:xfrm>
            <a:off x="6656832" y="4462272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684264" y="4507992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+2.7 %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85800" y="477316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710" dirty="0"/>
          </a:p>
        </p:txBody>
      </p:sp>
      <p:sp>
        <p:nvSpPr>
          <p:cNvPr id="55" name="Shape 53"/>
          <p:cNvSpPr/>
          <p:nvPr/>
        </p:nvSpPr>
        <p:spPr>
          <a:xfrm>
            <a:off x="2852928" y="4800600"/>
            <a:ext cx="3063240" cy="100584"/>
          </a:xfrm>
          <a:prstGeom prst="roundRect">
            <a:avLst>
              <a:gd name="adj" fmla="val 3636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852928" y="4800600"/>
            <a:ext cx="2948369" cy="100584"/>
          </a:xfrm>
          <a:prstGeom prst="roundRect">
            <a:avLst>
              <a:gd name="adj" fmla="val 3636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016752" y="4773168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96.3%</a:t>
            </a:r>
            <a:endParaRPr lang="en-US" sz="710" dirty="0"/>
          </a:p>
        </p:txBody>
      </p:sp>
      <p:sp>
        <p:nvSpPr>
          <p:cNvPr id="58" name="Shape 56"/>
          <p:cNvSpPr/>
          <p:nvPr/>
        </p:nvSpPr>
        <p:spPr>
          <a:xfrm>
            <a:off x="6656832" y="4745736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684264" y="479145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+3.9 %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85800" y="5056632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Buyer&amp;SEO Manager</a:t>
            </a:r>
            <a:endParaRPr lang="en-US" sz="710" dirty="0"/>
          </a:p>
        </p:txBody>
      </p:sp>
      <p:sp>
        <p:nvSpPr>
          <p:cNvPr id="61" name="Shape 59"/>
          <p:cNvSpPr/>
          <p:nvPr/>
        </p:nvSpPr>
        <p:spPr>
          <a:xfrm>
            <a:off x="2852928" y="5084064"/>
            <a:ext cx="3063240" cy="100584"/>
          </a:xfrm>
          <a:prstGeom prst="roundRect">
            <a:avLst>
              <a:gd name="adj" fmla="val 3636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852928" y="5084064"/>
            <a:ext cx="2778759" cy="100584"/>
          </a:xfrm>
          <a:prstGeom prst="roundRect">
            <a:avLst>
              <a:gd name="adj" fmla="val 3636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016752" y="5056632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710" dirty="0"/>
          </a:p>
        </p:txBody>
      </p:sp>
      <p:sp>
        <p:nvSpPr>
          <p:cNvPr id="64" name="Shape 62"/>
          <p:cNvSpPr/>
          <p:nvPr/>
        </p:nvSpPr>
        <p:spPr>
          <a:xfrm>
            <a:off x="6656832" y="5029200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684264" y="507492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+0.5 %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85800" y="534009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710" dirty="0"/>
          </a:p>
        </p:txBody>
      </p:sp>
      <p:sp>
        <p:nvSpPr>
          <p:cNvPr id="67" name="Shape 65"/>
          <p:cNvSpPr/>
          <p:nvPr/>
        </p:nvSpPr>
        <p:spPr>
          <a:xfrm>
            <a:off x="2852928" y="5367528"/>
            <a:ext cx="3063240" cy="100584"/>
          </a:xfrm>
          <a:prstGeom prst="roundRect">
            <a:avLst>
              <a:gd name="adj" fmla="val 3636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852928" y="5367528"/>
            <a:ext cx="2582311" cy="100584"/>
          </a:xfrm>
          <a:prstGeom prst="roundRect">
            <a:avLst>
              <a:gd name="adj" fmla="val 3636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016752" y="5340096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710" dirty="0"/>
          </a:p>
        </p:txBody>
      </p:sp>
      <p:sp>
        <p:nvSpPr>
          <p:cNvPr id="70" name="Shape 68"/>
          <p:cNvSpPr/>
          <p:nvPr/>
        </p:nvSpPr>
        <p:spPr>
          <a:xfrm>
            <a:off x="6656832" y="5312664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684264" y="5358384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+6.8 %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85800" y="56235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710" dirty="0"/>
          </a:p>
        </p:txBody>
      </p:sp>
      <p:sp>
        <p:nvSpPr>
          <p:cNvPr id="73" name="Shape 71"/>
          <p:cNvSpPr/>
          <p:nvPr/>
        </p:nvSpPr>
        <p:spPr>
          <a:xfrm>
            <a:off x="2852928" y="5650992"/>
            <a:ext cx="3063240" cy="100584"/>
          </a:xfrm>
          <a:prstGeom prst="roundRect">
            <a:avLst>
              <a:gd name="adj" fmla="val 3636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2852928" y="5650992"/>
            <a:ext cx="2107509" cy="100584"/>
          </a:xfrm>
          <a:prstGeom prst="roundRect">
            <a:avLst>
              <a:gd name="adj" fmla="val 36364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016752" y="5623560"/>
            <a:ext cx="512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710" dirty="0"/>
          </a:p>
        </p:txBody>
      </p:sp>
      <p:sp>
        <p:nvSpPr>
          <p:cNvPr id="76" name="Shape 74"/>
          <p:cNvSpPr/>
          <p:nvPr/>
        </p:nvSpPr>
        <p:spPr>
          <a:xfrm>
            <a:off x="6656832" y="5596128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DEDED"/>
          </a:solidFill>
          <a:ln w="12700">
            <a:solidFill>
              <a:srgbClr val="F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684264" y="564184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-10.0 %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7973568" y="3063240"/>
            <a:ext cx="3758184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183880" y="3246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Insights &amp; Next Steps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8183880" y="3675888"/>
            <a:ext cx="3273552" cy="548640"/>
          </a:xfrm>
          <a:prstGeom prst="roundRect">
            <a:avLst>
              <a:gd name="adj" fmla="val 13333"/>
            </a:avLst>
          </a:prstGeom>
          <a:solidFill>
            <a:srgbClr val="FDEDED"/>
          </a:solidFill>
          <a:ln w="12700">
            <a:solidFill>
              <a:srgbClr val="F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8339328" y="3749040"/>
            <a:ext cx="2907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 is the largest decline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339328" y="3941064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43.8% score, -17.3 % MoM.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8183880" y="4389120"/>
            <a:ext cx="3273552" cy="548640"/>
          </a:xfrm>
          <a:prstGeom prst="roundRect">
            <a:avLst>
              <a:gd name="adj" fmla="val 13333"/>
            </a:avLst>
          </a:prstGeom>
          <a:solidFill>
            <a:srgbClr val="FEF3E0"/>
          </a:solidFill>
          <a:ln w="12700">
            <a:solidFill>
              <a:srgbClr val="FEF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8339328" y="4462272"/>
            <a:ext cx="2907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employees are below target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339328" y="4654296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Bahy, Ziad, Samya, Mina, Abdelrahman.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8183880" y="5102352"/>
            <a:ext cx="3273552" cy="548640"/>
          </a:xfrm>
          <a:prstGeom prst="roundRect">
            <a:avLst>
              <a:gd name="adj" fmla="val 13333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8339328" y="5175504"/>
            <a:ext cx="2907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Abdulwahab has the strongest gain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339328" y="536752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+7.8 % MoM; preserve the current operating model.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9509760" y="656539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137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KPI Loss Breakdown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KPI gaps are costing the most score points?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00" y="1645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EEF4FF"/>
          </a:solidFill>
          <a:ln w="12700">
            <a:solidFill>
              <a:srgbClr val="C8D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4630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56A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81.8%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1792" y="192024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overall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2862072" y="1115568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E8F8EF"/>
          </a:solidFill>
          <a:ln w="12700">
            <a:solidFill>
              <a:srgbClr val="C4E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26664" y="123444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CHANGE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3026664" y="14630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A0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+0.5 %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26664" y="192024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Comparable employee base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5266944" y="1115568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DEDED"/>
          </a:solidFill>
          <a:ln w="12700">
            <a:solidFill>
              <a:srgbClr val="F3C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31536" y="123444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LOSS KPI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431536" y="14630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548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 Time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31536" y="192024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57.0 weighted points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671816" y="1115568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DEDED"/>
          </a:solidFill>
          <a:ln w="12700">
            <a:solidFill>
              <a:srgbClr val="F3C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36408" y="1234440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PAID MEDIA LOSS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836408" y="14630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548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836408" y="192024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41.7 weighted points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457200" y="2487168"/>
            <a:ext cx="11274552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2670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score loss by KPI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" y="3054096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880360" y="3076956"/>
            <a:ext cx="5166360" cy="109728"/>
          </a:xfrm>
          <a:prstGeom prst="roundRect">
            <a:avLst>
              <a:gd name="adj" fmla="val 33333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880360" y="3076956"/>
            <a:ext cx="5166360" cy="109728"/>
          </a:xfrm>
          <a:prstGeom prst="roundRect">
            <a:avLst>
              <a:gd name="adj" fmla="val 33333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83880" y="3054096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57.0 %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9006840" y="3054096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3/3 &lt;70%</a:t>
            </a:r>
            <a:endParaRPr lang="en-US" sz="690" dirty="0"/>
          </a:p>
        </p:txBody>
      </p:sp>
      <p:sp>
        <p:nvSpPr>
          <p:cNvPr id="29" name="Text 27"/>
          <p:cNvSpPr/>
          <p:nvPr/>
        </p:nvSpPr>
        <p:spPr>
          <a:xfrm>
            <a:off x="676656" y="331927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2880360" y="3342132"/>
            <a:ext cx="5166360" cy="109728"/>
          </a:xfrm>
          <a:prstGeom prst="roundRect">
            <a:avLst>
              <a:gd name="adj" fmla="val 33333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880360" y="3342132"/>
            <a:ext cx="3780169" cy="109728"/>
          </a:xfrm>
          <a:prstGeom prst="roundRect">
            <a:avLst>
              <a:gd name="adj" fmla="val 33333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83880" y="3319272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41.7 %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9006840" y="331927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 &lt;70%</a:t>
            </a:r>
            <a:endParaRPr lang="en-US" sz="690" dirty="0"/>
          </a:p>
        </p:txBody>
      </p:sp>
      <p:sp>
        <p:nvSpPr>
          <p:cNvPr id="34" name="Text 32"/>
          <p:cNvSpPr/>
          <p:nvPr/>
        </p:nvSpPr>
        <p:spPr>
          <a:xfrm>
            <a:off x="676656" y="3584448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2880360" y="3607308"/>
            <a:ext cx="5166360" cy="109728"/>
          </a:xfrm>
          <a:prstGeom prst="roundRect">
            <a:avLst>
              <a:gd name="adj" fmla="val 33333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880360" y="3607308"/>
            <a:ext cx="2236917" cy="109728"/>
          </a:xfrm>
          <a:prstGeom prst="roundRect">
            <a:avLst>
              <a:gd name="adj" fmla="val 33333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183880" y="358444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24.7 %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9006840" y="358444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1/3 &lt;70%</a:t>
            </a:r>
            <a:endParaRPr lang="en-US" sz="690" dirty="0"/>
          </a:p>
        </p:txBody>
      </p:sp>
      <p:sp>
        <p:nvSpPr>
          <p:cNvPr id="39" name="Text 37"/>
          <p:cNvSpPr/>
          <p:nvPr/>
        </p:nvSpPr>
        <p:spPr>
          <a:xfrm>
            <a:off x="676656" y="3849624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2880360" y="3872484"/>
            <a:ext cx="5166360" cy="109728"/>
          </a:xfrm>
          <a:prstGeom prst="roundRect">
            <a:avLst>
              <a:gd name="adj" fmla="val 33333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880360" y="3872484"/>
            <a:ext cx="1384466" cy="109728"/>
          </a:xfrm>
          <a:prstGeom prst="roundRect">
            <a:avLst>
              <a:gd name="adj" fmla="val 33333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183880" y="3849624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15.3 %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9006840" y="3849624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 &lt;70%</a:t>
            </a:r>
            <a:endParaRPr lang="en-US" sz="690" dirty="0"/>
          </a:p>
        </p:txBody>
      </p:sp>
      <p:sp>
        <p:nvSpPr>
          <p:cNvPr id="44" name="Text 42"/>
          <p:cNvSpPr/>
          <p:nvPr/>
        </p:nvSpPr>
        <p:spPr>
          <a:xfrm>
            <a:off x="676656" y="411480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2880360" y="4137660"/>
            <a:ext cx="5166360" cy="109728"/>
          </a:xfrm>
          <a:prstGeom prst="roundRect">
            <a:avLst>
              <a:gd name="adj" fmla="val 33333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880360" y="4137660"/>
            <a:ext cx="1359568" cy="109728"/>
          </a:xfrm>
          <a:prstGeom prst="roundRect">
            <a:avLst>
              <a:gd name="adj" fmla="val 33333"/>
            </a:avLst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183880" y="4114800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56A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15.0 %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9006840" y="411480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0/3 &lt;70%</a:t>
            </a:r>
            <a:endParaRPr lang="en-US" sz="690" dirty="0"/>
          </a:p>
        </p:txBody>
      </p:sp>
      <p:sp>
        <p:nvSpPr>
          <p:cNvPr id="49" name="Text 47"/>
          <p:cNvSpPr/>
          <p:nvPr/>
        </p:nvSpPr>
        <p:spPr>
          <a:xfrm>
            <a:off x="676656" y="4379976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2880360" y="4402836"/>
            <a:ext cx="5166360" cy="109728"/>
          </a:xfrm>
          <a:prstGeom prst="roundRect">
            <a:avLst>
              <a:gd name="adj" fmla="val 33333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880360" y="4402836"/>
            <a:ext cx="1256045" cy="109728"/>
          </a:xfrm>
          <a:prstGeom prst="roundRect">
            <a:avLst>
              <a:gd name="adj" fmla="val 33333"/>
            </a:avLst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183880" y="4379976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56A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13.9 %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9006840" y="4379976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2/3 &lt;70%</a:t>
            </a:r>
            <a:endParaRPr lang="en-US" sz="690" dirty="0"/>
          </a:p>
        </p:txBody>
      </p:sp>
      <p:sp>
        <p:nvSpPr>
          <p:cNvPr id="54" name="Text 52"/>
          <p:cNvSpPr/>
          <p:nvPr/>
        </p:nvSpPr>
        <p:spPr>
          <a:xfrm>
            <a:off x="676656" y="4645152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2880360" y="4668012"/>
            <a:ext cx="5166360" cy="109728"/>
          </a:xfrm>
          <a:prstGeom prst="roundRect">
            <a:avLst>
              <a:gd name="adj" fmla="val 33333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880360" y="4668012"/>
            <a:ext cx="1132974" cy="109728"/>
          </a:xfrm>
          <a:prstGeom prst="roundRect">
            <a:avLst>
              <a:gd name="adj" fmla="val 33333"/>
            </a:avLst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183880" y="4645152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56A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12.5 %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9006840" y="4645152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 &lt;70%</a:t>
            </a:r>
            <a:endParaRPr lang="en-US" sz="690" dirty="0"/>
          </a:p>
        </p:txBody>
      </p:sp>
      <p:sp>
        <p:nvSpPr>
          <p:cNvPr id="59" name="Text 57"/>
          <p:cNvSpPr/>
          <p:nvPr/>
        </p:nvSpPr>
        <p:spPr>
          <a:xfrm>
            <a:off x="676656" y="4910328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load speed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2880360" y="4933188"/>
            <a:ext cx="5166360" cy="109728"/>
          </a:xfrm>
          <a:prstGeom prst="roundRect">
            <a:avLst>
              <a:gd name="adj" fmla="val 33333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2880360" y="4933188"/>
            <a:ext cx="1132974" cy="109728"/>
          </a:xfrm>
          <a:prstGeom prst="roundRect">
            <a:avLst>
              <a:gd name="adj" fmla="val 33333"/>
            </a:avLst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183880" y="4910328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56A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12.5 %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9006840" y="491032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 &lt;70%</a:t>
            </a:r>
            <a:endParaRPr lang="en-US" sz="690" dirty="0"/>
          </a:p>
        </p:txBody>
      </p:sp>
      <p:sp>
        <p:nvSpPr>
          <p:cNvPr id="64" name="Text 62"/>
          <p:cNvSpPr/>
          <p:nvPr/>
        </p:nvSpPr>
        <p:spPr>
          <a:xfrm>
            <a:off x="676656" y="5175504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rate (%)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2880360" y="5198364"/>
            <a:ext cx="5166360" cy="109728"/>
          </a:xfrm>
          <a:prstGeom prst="roundRect">
            <a:avLst>
              <a:gd name="adj" fmla="val 33333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880360" y="5198364"/>
            <a:ext cx="799426" cy="109728"/>
          </a:xfrm>
          <a:prstGeom prst="roundRect">
            <a:avLst>
              <a:gd name="adj" fmla="val 33333"/>
            </a:avLst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183880" y="5175504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56A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8.8 %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9006840" y="5175504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0/3 &lt;70%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658368" y="5797296"/>
            <a:ext cx="10826496" cy="438912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59536" y="5916168"/>
            <a:ext cx="10442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rule: use weighted loss to choose the action order. Do not treat every KPI gap equally; solve the highest score-impact drivers first.</a:t>
            </a:r>
            <a:endParaRPr lang="en-US" sz="840" dirty="0"/>
          </a:p>
        </p:txBody>
      </p:sp>
      <p:sp>
        <p:nvSpPr>
          <p:cNvPr id="71" name="Shape 69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9509760" y="656539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137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Team / Employee Impact Ranking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row shows the current Main Score and the MoM Change — same logic as the dashboard.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00" y="1645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74552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1051560" y="1298448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3246120" y="12984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532120" y="12984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6537960" y="12984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Change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7726680" y="1298448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KPI gap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640080" y="1572768"/>
            <a:ext cx="1083564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7512" y="1746504"/>
            <a:ext cx="219456" cy="192024"/>
          </a:xfrm>
          <a:prstGeom prst="roundRect">
            <a:avLst>
              <a:gd name="adj" fmla="val 19048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177850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1051560" y="1737360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3246120" y="1737360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532120" y="1773936"/>
            <a:ext cx="658368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532120" y="1773936"/>
            <a:ext cx="288114" cy="9144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73736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43.8%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6784848" y="1719072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DEDED"/>
          </a:solidFill>
          <a:ln w="12700">
            <a:solidFill>
              <a:srgbClr val="F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12280" y="1764792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-17.3 %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726680" y="1737360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 — 35%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667512" y="2002536"/>
            <a:ext cx="1065276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7512" y="2084832"/>
            <a:ext cx="219456" cy="192024"/>
          </a:xfrm>
          <a:prstGeom prst="roundRect">
            <a:avLst>
              <a:gd name="adj" fmla="val 19048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2116836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1051560" y="207568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3246120" y="2075688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532120" y="2112264"/>
            <a:ext cx="658368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32120" y="2112264"/>
            <a:ext cx="380848" cy="9144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207568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57.8%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6784848" y="2057400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12280" y="210312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726680" y="207568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 — 20%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667512" y="2340864"/>
            <a:ext cx="1065276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67512" y="2423160"/>
            <a:ext cx="219456" cy="192024"/>
          </a:xfrm>
          <a:prstGeom prst="roundRect">
            <a:avLst>
              <a:gd name="adj" fmla="val 19048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" y="245516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1051560" y="2414016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3246120" y="2414016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 (S)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532120" y="2450592"/>
            <a:ext cx="658368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532120" y="2450592"/>
            <a:ext cx="438736" cy="9144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217920" y="241401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784848" y="2395728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12280" y="244144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+5.6 %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726680" y="2414016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— 40%</a:t>
            </a:r>
            <a:endParaRPr lang="en-US" sz="710" dirty="0"/>
          </a:p>
        </p:txBody>
      </p:sp>
      <p:sp>
        <p:nvSpPr>
          <p:cNvPr id="46" name="Shape 44"/>
          <p:cNvSpPr/>
          <p:nvPr/>
        </p:nvSpPr>
        <p:spPr>
          <a:xfrm>
            <a:off x="667512" y="2679192"/>
            <a:ext cx="1065276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67512" y="2761488"/>
            <a:ext cx="219456" cy="192024"/>
          </a:xfrm>
          <a:prstGeom prst="roundRect">
            <a:avLst>
              <a:gd name="adj" fmla="val 19048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5800" y="2793492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1051560" y="2752344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3246120" y="2752344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 (S)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532120" y="2788920"/>
            <a:ext cx="658368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532120" y="2788920"/>
            <a:ext cx="438736" cy="9144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217920" y="275234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6784848" y="2734056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812280" y="277977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+5.6 %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726680" y="275234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— 40%</a:t>
            </a:r>
            <a:endParaRPr lang="en-US" sz="710" dirty="0"/>
          </a:p>
        </p:txBody>
      </p:sp>
      <p:sp>
        <p:nvSpPr>
          <p:cNvPr id="57" name="Shape 55"/>
          <p:cNvSpPr/>
          <p:nvPr/>
        </p:nvSpPr>
        <p:spPr>
          <a:xfrm>
            <a:off x="667512" y="3017520"/>
            <a:ext cx="1065276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67512" y="3099816"/>
            <a:ext cx="219456" cy="192024"/>
          </a:xfrm>
          <a:prstGeom prst="roundRect">
            <a:avLst>
              <a:gd name="adj" fmla="val 19048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85800" y="313182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60" dirty="0"/>
          </a:p>
        </p:txBody>
      </p:sp>
      <p:sp>
        <p:nvSpPr>
          <p:cNvPr id="60" name="Text 58"/>
          <p:cNvSpPr/>
          <p:nvPr/>
        </p:nvSpPr>
        <p:spPr>
          <a:xfrm>
            <a:off x="1051560" y="3090672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740" dirty="0"/>
          </a:p>
        </p:txBody>
      </p:sp>
      <p:sp>
        <p:nvSpPr>
          <p:cNvPr id="61" name="Text 59"/>
          <p:cNvSpPr/>
          <p:nvPr/>
        </p:nvSpPr>
        <p:spPr>
          <a:xfrm>
            <a:off x="3246120" y="309067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532120" y="3127248"/>
            <a:ext cx="658368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532120" y="3127248"/>
            <a:ext cx="452957" cy="9144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217920" y="309067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6784848" y="3072384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DEDED"/>
          </a:solidFill>
          <a:ln w="12700">
            <a:solidFill>
              <a:srgbClr val="F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812280" y="3118104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-10.0 %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7726680" y="3090672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 — 50%</a:t>
            </a:r>
            <a:endParaRPr lang="en-US" sz="710" dirty="0"/>
          </a:p>
        </p:txBody>
      </p:sp>
      <p:sp>
        <p:nvSpPr>
          <p:cNvPr id="68" name="Shape 66"/>
          <p:cNvSpPr/>
          <p:nvPr/>
        </p:nvSpPr>
        <p:spPr>
          <a:xfrm>
            <a:off x="667512" y="3355848"/>
            <a:ext cx="1065276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67512" y="3438144"/>
            <a:ext cx="219456" cy="192024"/>
          </a:xfrm>
          <a:prstGeom prst="roundRect">
            <a:avLst>
              <a:gd name="adj" fmla="val 19048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85800" y="347014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60" dirty="0"/>
          </a:p>
        </p:txBody>
      </p:sp>
      <p:sp>
        <p:nvSpPr>
          <p:cNvPr id="71" name="Text 69"/>
          <p:cNvSpPr/>
          <p:nvPr/>
        </p:nvSpPr>
        <p:spPr>
          <a:xfrm>
            <a:off x="1051560" y="3429000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El-Naggar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3246120" y="3429000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5532120" y="3465576"/>
            <a:ext cx="658368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532120" y="3465576"/>
            <a:ext cx="555004" cy="91440"/>
          </a:xfrm>
          <a:prstGeom prst="roundRect">
            <a:avLst>
              <a:gd name="adj" fmla="val 40000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217920" y="342900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740" dirty="0"/>
          </a:p>
        </p:txBody>
      </p:sp>
      <p:sp>
        <p:nvSpPr>
          <p:cNvPr id="76" name="Shape 74"/>
          <p:cNvSpPr/>
          <p:nvPr/>
        </p:nvSpPr>
        <p:spPr>
          <a:xfrm>
            <a:off x="6784848" y="3410712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812280" y="3456432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+6.8 %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7726680" y="3429000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— 40%</a:t>
            </a:r>
            <a:endParaRPr lang="en-US" sz="710" dirty="0"/>
          </a:p>
        </p:txBody>
      </p:sp>
      <p:sp>
        <p:nvSpPr>
          <p:cNvPr id="79" name="Shape 77"/>
          <p:cNvSpPr/>
          <p:nvPr/>
        </p:nvSpPr>
        <p:spPr>
          <a:xfrm>
            <a:off x="667512" y="3694176"/>
            <a:ext cx="1065276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67512" y="3776472"/>
            <a:ext cx="219456" cy="192024"/>
          </a:xfrm>
          <a:prstGeom prst="roundRect">
            <a:avLst>
              <a:gd name="adj" fmla="val 19048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85800" y="3808476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660" dirty="0"/>
          </a:p>
        </p:txBody>
      </p:sp>
      <p:sp>
        <p:nvSpPr>
          <p:cNvPr id="82" name="Text 80"/>
          <p:cNvSpPr/>
          <p:nvPr/>
        </p:nvSpPr>
        <p:spPr>
          <a:xfrm>
            <a:off x="1051560" y="376732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Ahmed Mohamed Shehata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3246120" y="3767328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Buyer&amp;SEO Manager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5532120" y="3803904"/>
            <a:ext cx="658368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5532120" y="3803904"/>
            <a:ext cx="597226" cy="91440"/>
          </a:xfrm>
          <a:prstGeom prst="roundRect">
            <a:avLst>
              <a:gd name="adj" fmla="val 40000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217920" y="376732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740" dirty="0"/>
          </a:p>
        </p:txBody>
      </p:sp>
      <p:sp>
        <p:nvSpPr>
          <p:cNvPr id="87" name="Shape 85"/>
          <p:cNvSpPr/>
          <p:nvPr/>
        </p:nvSpPr>
        <p:spPr>
          <a:xfrm>
            <a:off x="6784848" y="3749040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812280" y="379476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+0.5 %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7726680" y="376732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Compliance — 77%</a:t>
            </a:r>
            <a:endParaRPr lang="en-US" sz="710" dirty="0"/>
          </a:p>
        </p:txBody>
      </p:sp>
      <p:sp>
        <p:nvSpPr>
          <p:cNvPr id="90" name="Shape 88"/>
          <p:cNvSpPr/>
          <p:nvPr/>
        </p:nvSpPr>
        <p:spPr>
          <a:xfrm>
            <a:off x="667512" y="4032504"/>
            <a:ext cx="1065276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667512" y="4114800"/>
            <a:ext cx="219456" cy="192024"/>
          </a:xfrm>
          <a:prstGeom prst="roundRect">
            <a:avLst>
              <a:gd name="adj" fmla="val 19048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685800" y="414680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660" dirty="0"/>
          </a:p>
        </p:txBody>
      </p:sp>
      <p:sp>
        <p:nvSpPr>
          <p:cNvPr id="93" name="Text 91"/>
          <p:cNvSpPr/>
          <p:nvPr/>
        </p:nvSpPr>
        <p:spPr>
          <a:xfrm>
            <a:off x="1051560" y="4105656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 Mohamed</a:t>
            </a:r>
            <a:endParaRPr lang="en-US" sz="740" dirty="0"/>
          </a:p>
        </p:txBody>
      </p:sp>
      <p:sp>
        <p:nvSpPr>
          <p:cNvPr id="94" name="Text 92"/>
          <p:cNvSpPr/>
          <p:nvPr/>
        </p:nvSpPr>
        <p:spPr>
          <a:xfrm>
            <a:off x="3246120" y="4105656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5532120" y="4142232"/>
            <a:ext cx="658368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5532120" y="4142232"/>
            <a:ext cx="615574" cy="91440"/>
          </a:xfrm>
          <a:prstGeom prst="roundRect">
            <a:avLst>
              <a:gd name="adj" fmla="val 40000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6217920" y="410565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93.5%</a:t>
            </a:r>
            <a:endParaRPr lang="en-US" sz="740" dirty="0"/>
          </a:p>
        </p:txBody>
      </p:sp>
      <p:sp>
        <p:nvSpPr>
          <p:cNvPr id="98" name="Shape 96"/>
          <p:cNvSpPr/>
          <p:nvPr/>
        </p:nvSpPr>
        <p:spPr>
          <a:xfrm>
            <a:off x="6784848" y="4087368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812280" y="413308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+0.0 %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7726680" y="4105656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Edits Rate — 70%</a:t>
            </a:r>
            <a:endParaRPr lang="en-US" sz="710" dirty="0"/>
          </a:p>
        </p:txBody>
      </p:sp>
      <p:sp>
        <p:nvSpPr>
          <p:cNvPr id="101" name="Shape 99"/>
          <p:cNvSpPr/>
          <p:nvPr/>
        </p:nvSpPr>
        <p:spPr>
          <a:xfrm>
            <a:off x="667512" y="4370832"/>
            <a:ext cx="1065276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667512" y="4453128"/>
            <a:ext cx="219456" cy="192024"/>
          </a:xfrm>
          <a:prstGeom prst="roundRect">
            <a:avLst>
              <a:gd name="adj" fmla="val 19048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685800" y="4485132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660" dirty="0"/>
          </a:p>
        </p:txBody>
      </p:sp>
      <p:sp>
        <p:nvSpPr>
          <p:cNvPr id="104" name="Text 102"/>
          <p:cNvSpPr/>
          <p:nvPr/>
        </p:nvSpPr>
        <p:spPr>
          <a:xfrm>
            <a:off x="1051560" y="4443984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Mohamed Abdelmegid Diab</a:t>
            </a:r>
            <a:endParaRPr lang="en-US" sz="740" dirty="0"/>
          </a:p>
        </p:txBody>
      </p:sp>
      <p:sp>
        <p:nvSpPr>
          <p:cNvPr id="105" name="Text 103"/>
          <p:cNvSpPr/>
          <p:nvPr/>
        </p:nvSpPr>
        <p:spPr>
          <a:xfrm>
            <a:off x="3246120" y="4443984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Director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5532120" y="4480560"/>
            <a:ext cx="658368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5532120" y="4480560"/>
            <a:ext cx="640263" cy="91440"/>
          </a:xfrm>
          <a:prstGeom prst="roundRect">
            <a:avLst>
              <a:gd name="adj" fmla="val 40000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6217920" y="444398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97.2%</a:t>
            </a:r>
            <a:endParaRPr lang="en-US" sz="740" dirty="0"/>
          </a:p>
        </p:txBody>
      </p:sp>
      <p:sp>
        <p:nvSpPr>
          <p:cNvPr id="109" name="Shape 107"/>
          <p:cNvSpPr/>
          <p:nvPr/>
        </p:nvSpPr>
        <p:spPr>
          <a:xfrm>
            <a:off x="6784848" y="4425696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6812280" y="447141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+2.7 %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7726680" y="444398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training &amp; development hours — 85%</a:t>
            </a:r>
            <a:endParaRPr lang="en-US" sz="710" dirty="0"/>
          </a:p>
        </p:txBody>
      </p:sp>
      <p:sp>
        <p:nvSpPr>
          <p:cNvPr id="112" name="Shape 110"/>
          <p:cNvSpPr/>
          <p:nvPr/>
        </p:nvSpPr>
        <p:spPr>
          <a:xfrm>
            <a:off x="667512" y="4709160"/>
            <a:ext cx="1065276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667512" y="4791456"/>
            <a:ext cx="219456" cy="192024"/>
          </a:xfrm>
          <a:prstGeom prst="roundRect">
            <a:avLst>
              <a:gd name="adj" fmla="val 19048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85800" y="482346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60" dirty="0"/>
          </a:p>
        </p:txBody>
      </p:sp>
      <p:sp>
        <p:nvSpPr>
          <p:cNvPr id="115" name="Text 113"/>
          <p:cNvSpPr/>
          <p:nvPr/>
        </p:nvSpPr>
        <p:spPr>
          <a:xfrm>
            <a:off x="1051560" y="4782312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Nourshan</a:t>
            </a:r>
            <a:endParaRPr lang="en-US" sz="740" dirty="0"/>
          </a:p>
        </p:txBody>
      </p:sp>
      <p:sp>
        <p:nvSpPr>
          <p:cNvPr id="116" name="Text 114"/>
          <p:cNvSpPr/>
          <p:nvPr/>
        </p:nvSpPr>
        <p:spPr>
          <a:xfrm>
            <a:off x="3246120" y="478231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Writer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5532120" y="4818888"/>
            <a:ext cx="658368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5532120" y="4818888"/>
            <a:ext cx="641701" cy="91440"/>
          </a:xfrm>
          <a:prstGeom prst="roundRect">
            <a:avLst>
              <a:gd name="adj" fmla="val 40000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6217920" y="478231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97.5%</a:t>
            </a:r>
            <a:endParaRPr lang="en-US" sz="740" dirty="0"/>
          </a:p>
        </p:txBody>
      </p:sp>
      <p:sp>
        <p:nvSpPr>
          <p:cNvPr id="120" name="Shape 118"/>
          <p:cNvSpPr/>
          <p:nvPr/>
        </p:nvSpPr>
        <p:spPr>
          <a:xfrm>
            <a:off x="6784848" y="4764024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6812280" y="4809744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7726680" y="4782312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Organic traffic from content — 97%</a:t>
            </a:r>
            <a:endParaRPr lang="en-US" sz="710" dirty="0"/>
          </a:p>
        </p:txBody>
      </p:sp>
      <p:sp>
        <p:nvSpPr>
          <p:cNvPr id="123" name="Shape 121"/>
          <p:cNvSpPr/>
          <p:nvPr/>
        </p:nvSpPr>
        <p:spPr>
          <a:xfrm>
            <a:off x="667512" y="5047488"/>
            <a:ext cx="1065276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667512" y="5129784"/>
            <a:ext cx="219456" cy="192024"/>
          </a:xfrm>
          <a:prstGeom prst="roundRect">
            <a:avLst>
              <a:gd name="adj" fmla="val 19048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685800" y="5161788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60" dirty="0"/>
          </a:p>
        </p:txBody>
      </p:sp>
      <p:sp>
        <p:nvSpPr>
          <p:cNvPr id="126" name="Text 124"/>
          <p:cNvSpPr/>
          <p:nvPr/>
        </p:nvSpPr>
        <p:spPr>
          <a:xfrm>
            <a:off x="1051560" y="5120640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Dina Samir</a:t>
            </a:r>
            <a:endParaRPr lang="en-US" sz="740" dirty="0"/>
          </a:p>
        </p:txBody>
      </p:sp>
      <p:sp>
        <p:nvSpPr>
          <p:cNvPr id="127" name="Text 125"/>
          <p:cNvSpPr/>
          <p:nvPr/>
        </p:nvSpPr>
        <p:spPr>
          <a:xfrm>
            <a:off x="3246120" y="5120640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Manager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5532120" y="5157216"/>
            <a:ext cx="658368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5532120" y="5157216"/>
            <a:ext cx="642877" cy="91440"/>
          </a:xfrm>
          <a:prstGeom prst="roundRect">
            <a:avLst>
              <a:gd name="adj" fmla="val 40000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6217920" y="51206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97.6%</a:t>
            </a:r>
            <a:endParaRPr lang="en-US" sz="740" dirty="0"/>
          </a:p>
        </p:txBody>
      </p:sp>
      <p:sp>
        <p:nvSpPr>
          <p:cNvPr id="131" name="Shape 129"/>
          <p:cNvSpPr/>
          <p:nvPr/>
        </p:nvSpPr>
        <p:spPr>
          <a:xfrm>
            <a:off x="6784848" y="5102352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6812280" y="5148072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+3.1 %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7726680" y="5120640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delivery — 100%</a:t>
            </a:r>
            <a:endParaRPr lang="en-US" sz="710" dirty="0"/>
          </a:p>
        </p:txBody>
      </p:sp>
      <p:sp>
        <p:nvSpPr>
          <p:cNvPr id="134" name="Shape 132"/>
          <p:cNvSpPr/>
          <p:nvPr/>
        </p:nvSpPr>
        <p:spPr>
          <a:xfrm>
            <a:off x="667512" y="5385816"/>
            <a:ext cx="1065276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667512" y="5468112"/>
            <a:ext cx="219456" cy="192024"/>
          </a:xfrm>
          <a:prstGeom prst="roundRect">
            <a:avLst>
              <a:gd name="adj" fmla="val 19048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685800" y="5500116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60" dirty="0"/>
          </a:p>
        </p:txBody>
      </p:sp>
      <p:sp>
        <p:nvSpPr>
          <p:cNvPr id="137" name="Text 135"/>
          <p:cNvSpPr/>
          <p:nvPr/>
        </p:nvSpPr>
        <p:spPr>
          <a:xfrm>
            <a:off x="1051560" y="5458968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Abdulwahab</a:t>
            </a:r>
            <a:endParaRPr lang="en-US" sz="740" dirty="0"/>
          </a:p>
        </p:txBody>
      </p:sp>
      <p:sp>
        <p:nvSpPr>
          <p:cNvPr id="138" name="Text 136"/>
          <p:cNvSpPr/>
          <p:nvPr/>
        </p:nvSpPr>
        <p:spPr>
          <a:xfrm>
            <a:off x="3246120" y="5458968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5532120" y="5495544"/>
            <a:ext cx="658368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5532120" y="5495544"/>
            <a:ext cx="651784" cy="91440"/>
          </a:xfrm>
          <a:prstGeom prst="roundRect">
            <a:avLst>
              <a:gd name="adj" fmla="val 40000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6217920" y="545896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99.0%</a:t>
            </a:r>
            <a:endParaRPr lang="en-US" sz="740" dirty="0"/>
          </a:p>
        </p:txBody>
      </p:sp>
      <p:sp>
        <p:nvSpPr>
          <p:cNvPr id="142" name="Shape 140"/>
          <p:cNvSpPr/>
          <p:nvPr/>
        </p:nvSpPr>
        <p:spPr>
          <a:xfrm>
            <a:off x="6784848" y="5440680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6812280" y="548640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+7.8 %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7726680" y="54589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with brand guidelines — 95%</a:t>
            </a:r>
            <a:endParaRPr lang="en-US" sz="710" dirty="0"/>
          </a:p>
        </p:txBody>
      </p:sp>
      <p:sp>
        <p:nvSpPr>
          <p:cNvPr id="145" name="Shape 143"/>
          <p:cNvSpPr/>
          <p:nvPr/>
        </p:nvSpPr>
        <p:spPr>
          <a:xfrm>
            <a:off x="667512" y="5724144"/>
            <a:ext cx="1065276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667512" y="5806440"/>
            <a:ext cx="219456" cy="192024"/>
          </a:xfrm>
          <a:prstGeom prst="roundRect">
            <a:avLst>
              <a:gd name="adj" fmla="val 19048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685800" y="583844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660" dirty="0"/>
          </a:p>
        </p:txBody>
      </p:sp>
      <p:sp>
        <p:nvSpPr>
          <p:cNvPr id="148" name="Text 146"/>
          <p:cNvSpPr/>
          <p:nvPr/>
        </p:nvSpPr>
        <p:spPr>
          <a:xfrm>
            <a:off x="1051560" y="5797296"/>
            <a:ext cx="2048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Osama Fawzy Abdallah</a:t>
            </a:r>
            <a:endParaRPr lang="en-US" sz="740" dirty="0"/>
          </a:p>
        </p:txBody>
      </p:sp>
      <p:sp>
        <p:nvSpPr>
          <p:cNvPr id="149" name="Text 147"/>
          <p:cNvSpPr/>
          <p:nvPr/>
        </p:nvSpPr>
        <p:spPr>
          <a:xfrm>
            <a:off x="3246120" y="5797296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Marketing Manager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5532120" y="5833872"/>
            <a:ext cx="658368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5532120" y="5833872"/>
            <a:ext cx="656393" cy="91440"/>
          </a:xfrm>
          <a:prstGeom prst="roundRect">
            <a:avLst>
              <a:gd name="adj" fmla="val 40000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/>
          <p:nvPr/>
        </p:nvSpPr>
        <p:spPr>
          <a:xfrm>
            <a:off x="6217920" y="579729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99.7%</a:t>
            </a:r>
            <a:endParaRPr lang="en-US" sz="740" dirty="0"/>
          </a:p>
        </p:txBody>
      </p:sp>
      <p:sp>
        <p:nvSpPr>
          <p:cNvPr id="153" name="Shape 151"/>
          <p:cNvSpPr/>
          <p:nvPr/>
        </p:nvSpPr>
        <p:spPr>
          <a:xfrm>
            <a:off x="6784848" y="5779008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/>
          <p:nvPr/>
        </p:nvSpPr>
        <p:spPr>
          <a:xfrm>
            <a:off x="6812280" y="582472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700" dirty="0"/>
          </a:p>
        </p:txBody>
      </p:sp>
      <p:sp>
        <p:nvSpPr>
          <p:cNvPr id="155" name="Text 153"/>
          <p:cNvSpPr/>
          <p:nvPr/>
        </p:nvSpPr>
        <p:spPr>
          <a:xfrm>
            <a:off x="7726680" y="5797296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ROI — 99%</a:t>
            </a:r>
            <a:endParaRPr lang="en-US" sz="710" dirty="0"/>
          </a:p>
        </p:txBody>
      </p:sp>
      <p:sp>
        <p:nvSpPr>
          <p:cNvPr id="156" name="Shape 154"/>
          <p:cNvSpPr/>
          <p:nvPr/>
        </p:nvSpPr>
        <p:spPr>
          <a:xfrm>
            <a:off x="658368" y="6135624"/>
            <a:ext cx="10826496" cy="256032"/>
          </a:xfrm>
          <a:prstGeom prst="roundRect">
            <a:avLst>
              <a:gd name="adj" fmla="val 28571"/>
            </a:avLst>
          </a:prstGeom>
          <a:solidFill>
            <a:srgbClr val="FDEDED"/>
          </a:solidFill>
          <a:ln w="12700">
            <a:solidFill>
              <a:srgbClr val="F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859536" y="6195060"/>
            <a:ext cx="104058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focus: the bottom 5. MoM tells us urgency; Main Score tells us severity. Bahy has both the lowest score and the largest decline.</a:t>
            </a:r>
            <a:endParaRPr lang="en-US" sz="780" dirty="0"/>
          </a:p>
        </p:txBody>
      </p:sp>
      <p:sp>
        <p:nvSpPr>
          <p:cNvPr id="158" name="Shape 156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9509760" y="656539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137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Root Cause Evidence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first: current result, score impact, and observed / previously identified operating issue.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00" y="1645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2121408" y="120700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3520440" y="120700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4846320" y="1207008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5760720" y="120700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601968" y="1207008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Ach.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7498080" y="1207008"/>
            <a:ext cx="786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%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8439912" y="1207008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/ operating issue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566928" y="1472184"/>
            <a:ext cx="11000232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1673352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710" dirty="0"/>
          </a:p>
        </p:txBody>
      </p:sp>
      <p:sp>
        <p:nvSpPr>
          <p:cNvPr id="16" name="Text 14"/>
          <p:cNvSpPr/>
          <p:nvPr/>
        </p:nvSpPr>
        <p:spPr>
          <a:xfrm>
            <a:off x="2121408" y="1673352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70" dirty="0"/>
          </a:p>
        </p:txBody>
      </p:sp>
      <p:sp>
        <p:nvSpPr>
          <p:cNvPr id="17" name="Text 15"/>
          <p:cNvSpPr/>
          <p:nvPr/>
        </p:nvSpPr>
        <p:spPr>
          <a:xfrm>
            <a:off x="3520440" y="1673352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846320" y="1673352"/>
            <a:ext cx="749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9.0%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5760720" y="1673352"/>
            <a:ext cx="694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46.0%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6601968" y="1673352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19.5%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498080" y="1673352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24.1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439912" y="1673352"/>
            <a:ext cx="3127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Conversion-quality gap; paid traffic not converting to required rate.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566928" y="2029968"/>
            <a:ext cx="11000232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214884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710" dirty="0"/>
          </a:p>
        </p:txBody>
      </p:sp>
      <p:sp>
        <p:nvSpPr>
          <p:cNvPr id="25" name="Text 23"/>
          <p:cNvSpPr/>
          <p:nvPr/>
        </p:nvSpPr>
        <p:spPr>
          <a:xfrm>
            <a:off x="2121408" y="214884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 (S)</a:t>
            </a:r>
            <a:endParaRPr lang="en-US" sz="670" dirty="0"/>
          </a:p>
        </p:txBody>
      </p:sp>
      <p:sp>
        <p:nvSpPr>
          <p:cNvPr id="26" name="Text 24"/>
          <p:cNvSpPr/>
          <p:nvPr/>
        </p:nvSpPr>
        <p:spPr>
          <a:xfrm>
            <a:off x="3520440" y="214884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46320" y="2148840"/>
            <a:ext cx="749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5760720" y="2148840"/>
            <a:ext cx="694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6601968" y="2148840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498080" y="214884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439912" y="2148840"/>
            <a:ext cx="3127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/ slow first response; SLA routing needs automation.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66928" y="2505456"/>
            <a:ext cx="11000232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262432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710" dirty="0"/>
          </a:p>
        </p:txBody>
      </p:sp>
      <p:sp>
        <p:nvSpPr>
          <p:cNvPr id="34" name="Text 32"/>
          <p:cNvSpPr/>
          <p:nvPr/>
        </p:nvSpPr>
        <p:spPr>
          <a:xfrm>
            <a:off x="2121408" y="262432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 (S)</a:t>
            </a:r>
            <a:endParaRPr lang="en-US" sz="670" dirty="0"/>
          </a:p>
        </p:txBody>
      </p:sp>
      <p:sp>
        <p:nvSpPr>
          <p:cNvPr id="35" name="Text 33"/>
          <p:cNvSpPr/>
          <p:nvPr/>
        </p:nvSpPr>
        <p:spPr>
          <a:xfrm>
            <a:off x="3520440" y="262432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846320" y="2624328"/>
            <a:ext cx="749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5760720" y="2624328"/>
            <a:ext cx="694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6601968" y="262432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498080" y="2624328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439912" y="2624328"/>
            <a:ext cx="3127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/ slow first response; SLA routing needs automation.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566928" y="2980944"/>
            <a:ext cx="11000232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" y="3099816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710" dirty="0"/>
          </a:p>
        </p:txBody>
      </p:sp>
      <p:sp>
        <p:nvSpPr>
          <p:cNvPr id="43" name="Text 41"/>
          <p:cNvSpPr/>
          <p:nvPr/>
        </p:nvSpPr>
        <p:spPr>
          <a:xfrm>
            <a:off x="2121408" y="3099816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70" dirty="0"/>
          </a:p>
        </p:txBody>
      </p:sp>
      <p:sp>
        <p:nvSpPr>
          <p:cNvPr id="44" name="Text 42"/>
          <p:cNvSpPr/>
          <p:nvPr/>
        </p:nvSpPr>
        <p:spPr>
          <a:xfrm>
            <a:off x="3520440" y="309981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846320" y="3099816"/>
            <a:ext cx="749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2302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5760720" y="3099816"/>
            <a:ext cx="694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6492.6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601968" y="3099816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35.5%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498080" y="3099816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439912" y="3099816"/>
            <a:ext cx="3127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volume substantially below target; paid-media recovery needed.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566928" y="3456432"/>
            <a:ext cx="11000232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94360" y="357530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710" dirty="0"/>
          </a:p>
        </p:txBody>
      </p:sp>
      <p:sp>
        <p:nvSpPr>
          <p:cNvPr id="52" name="Text 50"/>
          <p:cNvSpPr/>
          <p:nvPr/>
        </p:nvSpPr>
        <p:spPr>
          <a:xfrm>
            <a:off x="2121408" y="3575304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70" dirty="0"/>
          </a:p>
        </p:txBody>
      </p:sp>
      <p:sp>
        <p:nvSpPr>
          <p:cNvPr id="53" name="Text 51"/>
          <p:cNvSpPr/>
          <p:nvPr/>
        </p:nvSpPr>
        <p:spPr>
          <a:xfrm>
            <a:off x="3520440" y="357530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846320" y="3575304"/>
            <a:ext cx="749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33.4%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5760720" y="3575304"/>
            <a:ext cx="694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80.5%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6601968" y="3575304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41.5%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498080" y="3575304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17.6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439912" y="3575304"/>
            <a:ext cx="3127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Conversion-quality gap; paid traffic not converting to required rate.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566928" y="3931920"/>
            <a:ext cx="11000232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94360" y="4050792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710" dirty="0"/>
          </a:p>
        </p:txBody>
      </p:sp>
      <p:sp>
        <p:nvSpPr>
          <p:cNvPr id="61" name="Text 59"/>
          <p:cNvSpPr/>
          <p:nvPr/>
        </p:nvSpPr>
        <p:spPr>
          <a:xfrm>
            <a:off x="2121408" y="4050792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670" dirty="0"/>
          </a:p>
        </p:txBody>
      </p:sp>
      <p:sp>
        <p:nvSpPr>
          <p:cNvPr id="62" name="Text 60"/>
          <p:cNvSpPr/>
          <p:nvPr/>
        </p:nvSpPr>
        <p:spPr>
          <a:xfrm>
            <a:off x="3520440" y="4050792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846320" y="4050792"/>
            <a:ext cx="749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5760720" y="4050792"/>
            <a:ext cx="694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6601968" y="4050792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7498080" y="4050792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56A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8439912" y="4050792"/>
            <a:ext cx="3127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reliability issue; uptime achievement at only 50%.</a:t>
            </a:r>
            <a:endParaRPr lang="en-US" sz="680" dirty="0"/>
          </a:p>
        </p:txBody>
      </p:sp>
      <p:sp>
        <p:nvSpPr>
          <p:cNvPr id="68" name="Shape 66"/>
          <p:cNvSpPr/>
          <p:nvPr/>
        </p:nvSpPr>
        <p:spPr>
          <a:xfrm>
            <a:off x="566928" y="4407408"/>
            <a:ext cx="11000232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94360" y="4526280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710" dirty="0"/>
          </a:p>
        </p:txBody>
      </p:sp>
      <p:sp>
        <p:nvSpPr>
          <p:cNvPr id="70" name="Text 68"/>
          <p:cNvSpPr/>
          <p:nvPr/>
        </p:nvSpPr>
        <p:spPr>
          <a:xfrm>
            <a:off x="2121408" y="452628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670" dirty="0"/>
          </a:p>
        </p:txBody>
      </p:sp>
      <p:sp>
        <p:nvSpPr>
          <p:cNvPr id="71" name="Text 69"/>
          <p:cNvSpPr/>
          <p:nvPr/>
        </p:nvSpPr>
        <p:spPr>
          <a:xfrm>
            <a:off x="3520440" y="45262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load speed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846320" y="4526280"/>
            <a:ext cx="749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sec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5760720" y="4526280"/>
            <a:ext cx="694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sec</a:t>
            </a:r>
            <a:endParaRPr lang="en-US" sz="680" dirty="0"/>
          </a:p>
        </p:txBody>
      </p:sp>
      <p:sp>
        <p:nvSpPr>
          <p:cNvPr id="74" name="Text 72"/>
          <p:cNvSpPr/>
          <p:nvPr/>
        </p:nvSpPr>
        <p:spPr>
          <a:xfrm>
            <a:off x="6601968" y="4526280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498080" y="452628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56A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8439912" y="4526280"/>
            <a:ext cx="3127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time is 6 sec vs 3 sec target; technical remediation required.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566928" y="4882896"/>
            <a:ext cx="11000232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94360" y="5001768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El-Naggar</a:t>
            </a:r>
            <a:endParaRPr lang="en-US" sz="710" dirty="0"/>
          </a:p>
        </p:txBody>
      </p:sp>
      <p:sp>
        <p:nvSpPr>
          <p:cNvPr id="79" name="Text 77"/>
          <p:cNvSpPr/>
          <p:nvPr/>
        </p:nvSpPr>
        <p:spPr>
          <a:xfrm>
            <a:off x="2121408" y="5001768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670" dirty="0"/>
          </a:p>
        </p:txBody>
      </p:sp>
      <p:sp>
        <p:nvSpPr>
          <p:cNvPr id="80" name="Text 78"/>
          <p:cNvSpPr/>
          <p:nvPr/>
        </p:nvSpPr>
        <p:spPr>
          <a:xfrm>
            <a:off x="3520440" y="500176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4846320" y="5001768"/>
            <a:ext cx="749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680" dirty="0"/>
          </a:p>
        </p:txBody>
      </p:sp>
      <p:sp>
        <p:nvSpPr>
          <p:cNvPr id="82" name="Text 80"/>
          <p:cNvSpPr/>
          <p:nvPr/>
        </p:nvSpPr>
        <p:spPr>
          <a:xfrm>
            <a:off x="5760720" y="5001768"/>
            <a:ext cx="694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680" dirty="0"/>
          </a:p>
        </p:txBody>
      </p:sp>
      <p:sp>
        <p:nvSpPr>
          <p:cNvPr id="83" name="Text 81"/>
          <p:cNvSpPr/>
          <p:nvPr/>
        </p:nvSpPr>
        <p:spPr>
          <a:xfrm>
            <a:off x="6601968" y="5001768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7498080" y="5001768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8439912" y="5001768"/>
            <a:ext cx="3127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/ slow first response; SLA routing needs automation.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594360" y="5742432"/>
            <a:ext cx="10954512" cy="493776"/>
          </a:xfrm>
          <a:prstGeom prst="roundRect">
            <a:avLst>
              <a:gd name="adj" fmla="val 14815"/>
            </a:avLst>
          </a:prstGeom>
          <a:solidFill>
            <a:srgbClr val="FEF3E0"/>
          </a:solidFill>
          <a:ln w="12700">
            <a:solidFill>
              <a:srgbClr val="FEF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804672" y="5879592"/>
            <a:ext cx="10561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this slide separates evidence from assumption. Where the Excel only shows a gap, we label the operational issue rather than claiming an unproven root cause.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9509760" y="656539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137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Action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by score impact. Owners, execution, success measure, and timing are explicit.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00" y="1645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22529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051560" y="12252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Workstream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2816352" y="1225296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4617720" y="122529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7772400" y="122529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Measure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10195560" y="122529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548640" y="1490472"/>
            <a:ext cx="10991088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" y="1773936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1815084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51560" y="17190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Media Recovery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2816352" y="17190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+ Ziad / Media Buying Lead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617720" y="171907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low-efficiency ad sets; reallocate budget to top converting audiences; review landing-page conversion daily.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7772400" y="171907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 ≥70% achievement, CPV/CPL ≤ target, leads gap closed by 50%.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10195560" y="17190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working days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48640" y="2432304"/>
            <a:ext cx="10991088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6928" y="2734056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2775204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51560" y="26791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SLA Fix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2816352" y="267919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+ Samya + Mina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17720" y="26791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auto-reply with ETA, assign live queue owner, route tickets instantly, exclude off-hours from SLA.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7772400" y="267919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response time ≤30 minutes.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0195560" y="267919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working days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48640" y="3392424"/>
            <a:ext cx="10991088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66928" y="3694176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3735324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051560" y="36393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Speed &amp; Uptime</a:t>
            </a:r>
            <a:endParaRPr lang="en-US" sz="810" dirty="0"/>
          </a:p>
        </p:txBody>
      </p:sp>
      <p:sp>
        <p:nvSpPr>
          <p:cNvPr id="32" name="Text 30"/>
          <p:cNvSpPr/>
          <p:nvPr/>
        </p:nvSpPr>
        <p:spPr>
          <a:xfrm>
            <a:off x="2816352" y="363931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617720" y="36393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uptime monitoring; compress images; cache/CDN; minify CSS/JS; fix slow </a:t>
            </a:r>
            <a:r>
              <a:rPr lang="en-US" sz="680" dirty="0" err="1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</a:t>
            </a: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%.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7772400" y="363931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Uptime ≥90% and load speed ≤3 sec.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0195560" y="363931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working days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48640" y="4352544"/>
            <a:ext cx="10991088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66928" y="4654296"/>
            <a:ext cx="365760" cy="237744"/>
          </a:xfrm>
          <a:prstGeom prst="roundRect">
            <a:avLst>
              <a:gd name="adj" fmla="val 15385"/>
            </a:avLst>
          </a:prstGeom>
          <a:solidFill>
            <a:srgbClr val="356AE6"/>
          </a:solidFill>
          <a:ln w="12700">
            <a:solidFill>
              <a:srgbClr val="356A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" y="4695444"/>
            <a:ext cx="310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051560" y="45994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Split &amp; KPI Calibration</a:t>
            </a:r>
            <a:endParaRPr lang="en-US" sz="810" dirty="0"/>
          </a:p>
        </p:txBody>
      </p:sp>
      <p:sp>
        <p:nvSpPr>
          <p:cNvPr id="40" name="Text 38"/>
          <p:cNvSpPr/>
          <p:nvPr/>
        </p:nvSpPr>
        <p:spPr>
          <a:xfrm>
            <a:off x="2816352" y="459943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Ops / Team Leads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617720" y="45994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Samya/Mina tracking; confirm Ziad baseline and expected volume; update individual KPI ownership.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7772400" y="45994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employee-level KPI attribution.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10195560" y="45994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working days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66928" y="5715000"/>
            <a:ext cx="10972800" cy="530352"/>
          </a:xfrm>
          <a:prstGeom prst="roundRect">
            <a:avLst>
              <a:gd name="adj" fmla="val 13793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04672" y="5879592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3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Governance: daily P1 check, twice-weekly owner review, and end-of-month validation on both Main Score and MoM Change.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509760" y="656539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137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Employee Detail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A%endix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— Below Target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card keeps the same hierarchy: Main Score → MoM → key KPI drivers → action focus.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00" y="1645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28930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7512" y="1499616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3337560" y="130759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630" dirty="0"/>
          </a:p>
        </p:txBody>
      </p:sp>
      <p:sp>
        <p:nvSpPr>
          <p:cNvPr id="10" name="Text 8"/>
          <p:cNvSpPr/>
          <p:nvPr/>
        </p:nvSpPr>
        <p:spPr>
          <a:xfrm>
            <a:off x="3337560" y="1481328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43.8%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16552" y="1307592"/>
            <a:ext cx="685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4370832" y="1481328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DEDED"/>
          </a:solidFill>
          <a:ln w="12700">
            <a:solidFill>
              <a:srgbClr val="F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98264" y="152704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-17.3 %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67512" y="1746504"/>
            <a:ext cx="4434840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67512" y="1746504"/>
            <a:ext cx="1940767" cy="9144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" y="1938528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KPIs</a:t>
            </a:r>
            <a:endParaRPr lang="en-US" sz="670" dirty="0"/>
          </a:p>
        </p:txBody>
      </p:sp>
      <p:sp>
        <p:nvSpPr>
          <p:cNvPr id="17" name="Text 15"/>
          <p:cNvSpPr/>
          <p:nvPr/>
        </p:nvSpPr>
        <p:spPr>
          <a:xfrm>
            <a:off x="685800" y="2121408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Leads: 35%  |  loss 19.4 %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85800" y="2286000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CR: 41%  |  loss 17.6 %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685800" y="2450592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CPV: 21%  |  loss 7.9 %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4206240" y="1975104"/>
            <a:ext cx="1481328" cy="411480"/>
          </a:xfrm>
          <a:prstGeom prst="roundRect">
            <a:avLst>
              <a:gd name="adj" fmla="val 17778"/>
            </a:avLst>
          </a:prstGeom>
          <a:solidFill>
            <a:srgbClr val="FEF3E0"/>
          </a:solidFill>
          <a:ln w="12700">
            <a:solidFill>
              <a:srgbClr val="FEF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06824" y="203911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4270248" y="217627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Paid-media recovery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217920" y="1170432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82512" y="128930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82512" y="1499616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9052560" y="130759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9052560" y="1481328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57.8%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131552" y="1307592"/>
            <a:ext cx="685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10085832" y="1481328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113264" y="152704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382512" y="1746504"/>
            <a:ext cx="4434840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82512" y="1746504"/>
            <a:ext cx="2565437" cy="9144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82512" y="1938528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KPIs</a:t>
            </a:r>
            <a:endParaRPr lang="en-US" sz="670" dirty="0"/>
          </a:p>
        </p:txBody>
      </p:sp>
      <p:sp>
        <p:nvSpPr>
          <p:cNvPr id="34" name="Text 32"/>
          <p:cNvSpPr/>
          <p:nvPr/>
        </p:nvSpPr>
        <p:spPr>
          <a:xfrm>
            <a:off x="6400800" y="2121408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CR: 20%  |  loss 24.1 %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6400800" y="2286000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CPV: 26%  |  loss 7.4 %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6400800" y="2450592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Revenue: 27%  |  loss 7.3 %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9921240" y="1975104"/>
            <a:ext cx="1481328" cy="411480"/>
          </a:xfrm>
          <a:prstGeom prst="roundRect">
            <a:avLst>
              <a:gd name="adj" fmla="val 17778"/>
            </a:avLst>
          </a:prstGeom>
          <a:solidFill>
            <a:srgbClr val="FEF3E0"/>
          </a:solidFill>
          <a:ln w="12700">
            <a:solidFill>
              <a:srgbClr val="FEF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021824" y="2039112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</a:t>
            </a:r>
            <a:endParaRPr lang="en-US" sz="580" dirty="0"/>
          </a:p>
        </p:txBody>
      </p:sp>
      <p:sp>
        <p:nvSpPr>
          <p:cNvPr id="39" name="Text 37"/>
          <p:cNvSpPr/>
          <p:nvPr/>
        </p:nvSpPr>
        <p:spPr>
          <a:xfrm>
            <a:off x="9985248" y="2176272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Paid-media recovery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502920" y="2871216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67512" y="29900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7512" y="320040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 (S)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3337560" y="300837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630" dirty="0"/>
          </a:p>
        </p:txBody>
      </p:sp>
      <p:sp>
        <p:nvSpPr>
          <p:cNvPr id="44" name="Text 42"/>
          <p:cNvSpPr/>
          <p:nvPr/>
        </p:nvSpPr>
        <p:spPr>
          <a:xfrm>
            <a:off x="3337560" y="3182112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4416552" y="3008376"/>
            <a:ext cx="685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630" dirty="0"/>
          </a:p>
        </p:txBody>
      </p:sp>
      <p:sp>
        <p:nvSpPr>
          <p:cNvPr id="46" name="Shape 44"/>
          <p:cNvSpPr/>
          <p:nvPr/>
        </p:nvSpPr>
        <p:spPr>
          <a:xfrm>
            <a:off x="4370832" y="3182112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398264" y="3227832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+5.6 %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67512" y="3447288"/>
            <a:ext cx="4434840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67512" y="3447288"/>
            <a:ext cx="2955377" cy="9144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67512" y="3639312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KPIs</a:t>
            </a:r>
            <a:endParaRPr lang="en-US" sz="670" dirty="0"/>
          </a:p>
        </p:txBody>
      </p:sp>
      <p:sp>
        <p:nvSpPr>
          <p:cNvPr id="51" name="Text 49"/>
          <p:cNvSpPr/>
          <p:nvPr/>
        </p:nvSpPr>
        <p:spPr>
          <a:xfrm>
            <a:off x="685800" y="3822192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Time: 40%  |  loss 24.0 %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85800" y="3986784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rate: 70%  |  loss 6.0 %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685800" y="4151376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rate (%): 92%  |  loss 3.4 %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4206240" y="3675888"/>
            <a:ext cx="1481328" cy="411480"/>
          </a:xfrm>
          <a:prstGeom prst="roundRect">
            <a:avLst>
              <a:gd name="adj" fmla="val 17778"/>
            </a:avLst>
          </a:prstGeom>
          <a:solidFill>
            <a:srgbClr val="FEF3E0"/>
          </a:solidFill>
          <a:ln w="12700">
            <a:solidFill>
              <a:srgbClr val="FEF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306824" y="3739896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</a:t>
            </a:r>
            <a:endParaRPr lang="en-US" sz="580" dirty="0"/>
          </a:p>
        </p:txBody>
      </p:sp>
      <p:sp>
        <p:nvSpPr>
          <p:cNvPr id="56" name="Text 54"/>
          <p:cNvSpPr/>
          <p:nvPr/>
        </p:nvSpPr>
        <p:spPr>
          <a:xfrm>
            <a:off x="4270248" y="387705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response SLA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6217920" y="2871216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82512" y="299008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382512" y="320040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 (S)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9052560" y="300837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630" dirty="0"/>
          </a:p>
        </p:txBody>
      </p:sp>
      <p:sp>
        <p:nvSpPr>
          <p:cNvPr id="61" name="Text 59"/>
          <p:cNvSpPr/>
          <p:nvPr/>
        </p:nvSpPr>
        <p:spPr>
          <a:xfrm>
            <a:off x="9052560" y="3182112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10131552" y="3008376"/>
            <a:ext cx="685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630" dirty="0"/>
          </a:p>
        </p:txBody>
      </p:sp>
      <p:sp>
        <p:nvSpPr>
          <p:cNvPr id="63" name="Shape 61"/>
          <p:cNvSpPr/>
          <p:nvPr/>
        </p:nvSpPr>
        <p:spPr>
          <a:xfrm>
            <a:off x="10085832" y="3182112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113264" y="3227832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+5.6 %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382512" y="3447288"/>
            <a:ext cx="4434840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382512" y="3447288"/>
            <a:ext cx="2955377" cy="9144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382512" y="3639312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KPIs</a:t>
            </a:r>
            <a:endParaRPr lang="en-US" sz="670" dirty="0"/>
          </a:p>
        </p:txBody>
      </p:sp>
      <p:sp>
        <p:nvSpPr>
          <p:cNvPr id="68" name="Text 66"/>
          <p:cNvSpPr/>
          <p:nvPr/>
        </p:nvSpPr>
        <p:spPr>
          <a:xfrm>
            <a:off x="6400800" y="3822192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Time: 40%  |  loss 24.0 %</a:t>
            </a:r>
            <a:endParaRPr lang="en-US" sz="680" dirty="0"/>
          </a:p>
        </p:txBody>
      </p:sp>
      <p:sp>
        <p:nvSpPr>
          <p:cNvPr id="69" name="Text 67"/>
          <p:cNvSpPr/>
          <p:nvPr/>
        </p:nvSpPr>
        <p:spPr>
          <a:xfrm>
            <a:off x="6400800" y="3986784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rate: 70%  |  loss 6.0 %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6400800" y="4151376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rate (%): 92%  |  loss 3.4 %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9921240" y="3675888"/>
            <a:ext cx="1481328" cy="411480"/>
          </a:xfrm>
          <a:prstGeom prst="roundRect">
            <a:avLst>
              <a:gd name="adj" fmla="val 17778"/>
            </a:avLst>
          </a:prstGeom>
          <a:solidFill>
            <a:srgbClr val="FEF3E0"/>
          </a:solidFill>
          <a:ln w="12700">
            <a:solidFill>
              <a:srgbClr val="FEF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0021824" y="3739896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</a:t>
            </a:r>
            <a:endParaRPr lang="en-US" sz="580" dirty="0"/>
          </a:p>
        </p:txBody>
      </p:sp>
      <p:sp>
        <p:nvSpPr>
          <p:cNvPr id="73" name="Text 71"/>
          <p:cNvSpPr/>
          <p:nvPr/>
        </p:nvSpPr>
        <p:spPr>
          <a:xfrm>
            <a:off x="9985248" y="3877056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response SLA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502920" y="4572000"/>
            <a:ext cx="5440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67512" y="46908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67512" y="4901184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3337560" y="4709160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630" dirty="0"/>
          </a:p>
        </p:txBody>
      </p:sp>
      <p:sp>
        <p:nvSpPr>
          <p:cNvPr id="78" name="Text 76"/>
          <p:cNvSpPr/>
          <p:nvPr/>
        </p:nvSpPr>
        <p:spPr>
          <a:xfrm>
            <a:off x="3337560" y="4882896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1700" dirty="0"/>
          </a:p>
        </p:txBody>
      </p:sp>
      <p:sp>
        <p:nvSpPr>
          <p:cNvPr id="79" name="Text 77"/>
          <p:cNvSpPr/>
          <p:nvPr/>
        </p:nvSpPr>
        <p:spPr>
          <a:xfrm>
            <a:off x="4416552" y="4709160"/>
            <a:ext cx="685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630" dirty="0"/>
          </a:p>
        </p:txBody>
      </p:sp>
      <p:sp>
        <p:nvSpPr>
          <p:cNvPr id="80" name="Shape 78"/>
          <p:cNvSpPr/>
          <p:nvPr/>
        </p:nvSpPr>
        <p:spPr>
          <a:xfrm>
            <a:off x="4370832" y="4882896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DEDED"/>
          </a:solidFill>
          <a:ln w="12700">
            <a:solidFill>
              <a:srgbClr val="F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4398264" y="492861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-10.0 %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667512" y="5148072"/>
            <a:ext cx="4434840" cy="91440"/>
          </a:xfrm>
          <a:prstGeom prst="roundRect">
            <a:avLst>
              <a:gd name="adj" fmla="val 40000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67512" y="5148072"/>
            <a:ext cx="3051170" cy="91440"/>
          </a:xfrm>
          <a:prstGeom prst="roundRect">
            <a:avLst>
              <a:gd name="adj" fmla="val 4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67512" y="5340096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KPIs</a:t>
            </a:r>
            <a:endParaRPr lang="en-US" sz="670" dirty="0"/>
          </a:p>
        </p:txBody>
      </p:sp>
      <p:sp>
        <p:nvSpPr>
          <p:cNvPr id="85" name="Text 83"/>
          <p:cNvSpPr/>
          <p:nvPr/>
        </p:nvSpPr>
        <p:spPr>
          <a:xfrm>
            <a:off x="685800" y="5522976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(%): 50%  |  loss 12.5 %</a:t>
            </a:r>
            <a:endParaRPr lang="en-US" sz="680" dirty="0"/>
          </a:p>
        </p:txBody>
      </p:sp>
      <p:sp>
        <p:nvSpPr>
          <p:cNvPr id="86" name="Text 84"/>
          <p:cNvSpPr/>
          <p:nvPr/>
        </p:nvSpPr>
        <p:spPr>
          <a:xfrm>
            <a:off x="685800" y="5687568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load speed: 50%  |  loss 12.5 %</a:t>
            </a:r>
            <a:endParaRPr lang="en-US" sz="680" dirty="0"/>
          </a:p>
        </p:txBody>
      </p:sp>
      <p:sp>
        <p:nvSpPr>
          <p:cNvPr id="87" name="Text 85"/>
          <p:cNvSpPr/>
          <p:nvPr/>
        </p:nvSpPr>
        <p:spPr>
          <a:xfrm>
            <a:off x="685800" y="5852160"/>
            <a:ext cx="2971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/ bug resolution rate: 85%  |  loss 3.8 %</a:t>
            </a:r>
            <a:endParaRPr lang="en-US" sz="680" dirty="0"/>
          </a:p>
        </p:txBody>
      </p:sp>
      <p:sp>
        <p:nvSpPr>
          <p:cNvPr id="88" name="Shape 86"/>
          <p:cNvSpPr/>
          <p:nvPr/>
        </p:nvSpPr>
        <p:spPr>
          <a:xfrm>
            <a:off x="4206240" y="5376672"/>
            <a:ext cx="1481328" cy="411480"/>
          </a:xfrm>
          <a:prstGeom prst="roundRect">
            <a:avLst>
              <a:gd name="adj" fmla="val 17778"/>
            </a:avLst>
          </a:prstGeom>
          <a:solidFill>
            <a:srgbClr val="FEF3E0"/>
          </a:solidFill>
          <a:ln w="12700">
            <a:solidFill>
              <a:srgbClr val="FEF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306824" y="5440680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</a:t>
            </a:r>
            <a:endParaRPr lang="en-US" sz="580" dirty="0"/>
          </a:p>
        </p:txBody>
      </p:sp>
      <p:sp>
        <p:nvSpPr>
          <p:cNvPr id="90" name="Text 88"/>
          <p:cNvSpPr/>
          <p:nvPr/>
        </p:nvSpPr>
        <p:spPr>
          <a:xfrm>
            <a:off x="4270248" y="5577840"/>
            <a:ext cx="13350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reliability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9509760" y="656539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137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Employee Detail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A%endix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— Stable / Strong Performers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MoM to spot momentum; use Main Score to confirm whether performance is sustainable.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00" y="1645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161288"/>
            <a:ext cx="3547872" cy="1261872"/>
          </a:xfrm>
          <a:prstGeom prst="roundRect">
            <a:avLst>
              <a:gd name="adj" fmla="val 5797"/>
            </a:avLst>
          </a:prstGeom>
          <a:solidFill>
            <a:srgbClr val="E8F8EF"/>
          </a:solidFill>
          <a:ln w="12700">
            <a:solidFill>
              <a:srgbClr val="C4E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9224" y="12710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Osama Fawzy Abdallah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49224" y="1463040"/>
            <a:ext cx="2148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Marketing Manager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2807208" y="127101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99.7%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99232" y="1554480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26664" y="160020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49224" y="1773936"/>
            <a:ext cx="3127248" cy="82296"/>
          </a:xfrm>
          <a:prstGeom prst="roundRect">
            <a:avLst>
              <a:gd name="adj" fmla="val 4444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9224" y="1773936"/>
            <a:ext cx="3117866" cy="82296"/>
          </a:xfrm>
          <a:prstGeom prst="roundRect">
            <a:avLst>
              <a:gd name="adj" fmla="val 4444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" y="196596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Watch: Marketing ROI (99%)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49224" y="214884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Momentum: stable / new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4325112" y="1161288"/>
            <a:ext cx="3547872" cy="1261872"/>
          </a:xfrm>
          <a:prstGeom prst="roundRect">
            <a:avLst>
              <a:gd name="adj" fmla="val 5797"/>
            </a:avLst>
          </a:prstGeom>
          <a:solidFill>
            <a:srgbClr val="E8F8EF"/>
          </a:solidFill>
          <a:ln w="12700">
            <a:solidFill>
              <a:srgbClr val="C4E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71416" y="12710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Abdulwahab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471416" y="1463040"/>
            <a:ext cx="2148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620" dirty="0"/>
          </a:p>
        </p:txBody>
      </p:sp>
      <p:sp>
        <p:nvSpPr>
          <p:cNvPr id="19" name="Text 17"/>
          <p:cNvSpPr/>
          <p:nvPr/>
        </p:nvSpPr>
        <p:spPr>
          <a:xfrm>
            <a:off x="6629400" y="127101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99.0%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21424" y="1554480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48856" y="160020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+7.8 %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471416" y="1773936"/>
            <a:ext cx="3127248" cy="82296"/>
          </a:xfrm>
          <a:prstGeom prst="roundRect">
            <a:avLst>
              <a:gd name="adj" fmla="val 4444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71416" y="1773936"/>
            <a:ext cx="3095976" cy="82296"/>
          </a:xfrm>
          <a:prstGeom prst="roundRect">
            <a:avLst>
              <a:gd name="adj" fmla="val 4444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71416" y="196596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Watch: Consistency with brand guidelines (95%)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4471416" y="214884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Momentum: improving</a:t>
            </a:r>
            <a:endParaRPr lang="en-US" sz="640" dirty="0"/>
          </a:p>
        </p:txBody>
      </p:sp>
      <p:sp>
        <p:nvSpPr>
          <p:cNvPr id="26" name="Shape 24"/>
          <p:cNvSpPr/>
          <p:nvPr/>
        </p:nvSpPr>
        <p:spPr>
          <a:xfrm>
            <a:off x="8147304" y="1161288"/>
            <a:ext cx="3547872" cy="1261872"/>
          </a:xfrm>
          <a:prstGeom prst="roundRect">
            <a:avLst>
              <a:gd name="adj" fmla="val 5797"/>
            </a:avLst>
          </a:prstGeom>
          <a:solidFill>
            <a:srgbClr val="E8F8EF"/>
          </a:solidFill>
          <a:ln w="12700">
            <a:solidFill>
              <a:srgbClr val="C4E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93608" y="12710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Dina Samir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8293608" y="1463040"/>
            <a:ext cx="2148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Manager</a:t>
            </a:r>
            <a:endParaRPr lang="en-US" sz="620" dirty="0"/>
          </a:p>
        </p:txBody>
      </p:sp>
      <p:sp>
        <p:nvSpPr>
          <p:cNvPr id="29" name="Text 27"/>
          <p:cNvSpPr/>
          <p:nvPr/>
        </p:nvSpPr>
        <p:spPr>
          <a:xfrm>
            <a:off x="10451592" y="127101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97.6%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643616" y="1554480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671048" y="160020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+3.1 %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293608" y="1773936"/>
            <a:ext cx="3127248" cy="82296"/>
          </a:xfrm>
          <a:prstGeom prst="roundRect">
            <a:avLst>
              <a:gd name="adj" fmla="val 4444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93608" y="1773936"/>
            <a:ext cx="3053666" cy="82296"/>
          </a:xfrm>
          <a:prstGeom prst="roundRect">
            <a:avLst>
              <a:gd name="adj" fmla="val 4444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93608" y="196596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Watch: Requests delivery (100%)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8293608" y="2148840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Momentum: improving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502920" y="2642616"/>
            <a:ext cx="3547872" cy="1261872"/>
          </a:xfrm>
          <a:prstGeom prst="roundRect">
            <a:avLst>
              <a:gd name="adj" fmla="val 5797"/>
            </a:avLst>
          </a:prstGeom>
          <a:solidFill>
            <a:srgbClr val="E8F8EF"/>
          </a:solidFill>
          <a:ln w="12700">
            <a:solidFill>
              <a:srgbClr val="C4E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9224" y="275234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Nourshan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649224" y="2944368"/>
            <a:ext cx="2148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Writer</a:t>
            </a:r>
            <a:endParaRPr lang="en-US" sz="620" dirty="0"/>
          </a:p>
        </p:txBody>
      </p:sp>
      <p:sp>
        <p:nvSpPr>
          <p:cNvPr id="39" name="Text 37"/>
          <p:cNvSpPr/>
          <p:nvPr/>
        </p:nvSpPr>
        <p:spPr>
          <a:xfrm>
            <a:off x="2807208" y="27523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97.5%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999232" y="3035808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026664" y="308152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49224" y="3255264"/>
            <a:ext cx="3127248" cy="82296"/>
          </a:xfrm>
          <a:prstGeom prst="roundRect">
            <a:avLst>
              <a:gd name="adj" fmla="val 4444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9224" y="3255264"/>
            <a:ext cx="3048081" cy="82296"/>
          </a:xfrm>
          <a:prstGeom prst="roundRect">
            <a:avLst>
              <a:gd name="adj" fmla="val 4444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9224" y="3447288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Watch: Organic traffic from content (97%)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49224" y="3630168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Momentum: stable / new</a:t>
            </a:r>
            <a:endParaRPr lang="en-US" sz="640" dirty="0"/>
          </a:p>
        </p:txBody>
      </p:sp>
      <p:sp>
        <p:nvSpPr>
          <p:cNvPr id="46" name="Shape 44"/>
          <p:cNvSpPr/>
          <p:nvPr/>
        </p:nvSpPr>
        <p:spPr>
          <a:xfrm>
            <a:off x="4325112" y="2642616"/>
            <a:ext cx="3547872" cy="1261872"/>
          </a:xfrm>
          <a:prstGeom prst="roundRect">
            <a:avLst>
              <a:gd name="adj" fmla="val 5797"/>
            </a:avLst>
          </a:prstGeom>
          <a:solidFill>
            <a:srgbClr val="E8F8EF"/>
          </a:solidFill>
          <a:ln w="12700">
            <a:solidFill>
              <a:srgbClr val="C4E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471416" y="275234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Mohamed Abdelmegid Diab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4471416" y="2944368"/>
            <a:ext cx="2148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Director</a:t>
            </a:r>
            <a:endParaRPr lang="en-US" sz="620" dirty="0"/>
          </a:p>
        </p:txBody>
      </p:sp>
      <p:sp>
        <p:nvSpPr>
          <p:cNvPr id="49" name="Text 47"/>
          <p:cNvSpPr/>
          <p:nvPr/>
        </p:nvSpPr>
        <p:spPr>
          <a:xfrm>
            <a:off x="6629400" y="27523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97.2%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821424" y="3035808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48856" y="308152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+2.7 %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471416" y="3255264"/>
            <a:ext cx="3127248" cy="82296"/>
          </a:xfrm>
          <a:prstGeom prst="roundRect">
            <a:avLst>
              <a:gd name="adj" fmla="val 4444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471416" y="3255264"/>
            <a:ext cx="3041249" cy="82296"/>
          </a:xfrm>
          <a:prstGeom prst="roundRect">
            <a:avLst>
              <a:gd name="adj" fmla="val 4444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471416" y="3447288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Watch: Team training &amp; development hours (85%)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471416" y="3630168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Momentum: improving</a:t>
            </a:r>
            <a:endParaRPr lang="en-US" sz="640" dirty="0"/>
          </a:p>
        </p:txBody>
      </p:sp>
      <p:sp>
        <p:nvSpPr>
          <p:cNvPr id="56" name="Shape 54"/>
          <p:cNvSpPr/>
          <p:nvPr/>
        </p:nvSpPr>
        <p:spPr>
          <a:xfrm>
            <a:off x="8147304" y="2642616"/>
            <a:ext cx="3547872" cy="1261872"/>
          </a:xfrm>
          <a:prstGeom prst="roundRect">
            <a:avLst>
              <a:gd name="adj" fmla="val 5797"/>
            </a:avLst>
          </a:prstGeom>
          <a:solidFill>
            <a:srgbClr val="E8F8EF"/>
          </a:solidFill>
          <a:ln w="12700">
            <a:solidFill>
              <a:srgbClr val="C4E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293608" y="275234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 Mohamed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8293608" y="2944368"/>
            <a:ext cx="2148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620" dirty="0"/>
          </a:p>
        </p:txBody>
      </p:sp>
      <p:sp>
        <p:nvSpPr>
          <p:cNvPr id="59" name="Text 57"/>
          <p:cNvSpPr/>
          <p:nvPr/>
        </p:nvSpPr>
        <p:spPr>
          <a:xfrm>
            <a:off x="10451592" y="275234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93.5%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10643616" y="3035808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0671048" y="3081528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+0.0 %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8293608" y="3255264"/>
            <a:ext cx="3127248" cy="82296"/>
          </a:xfrm>
          <a:prstGeom prst="roundRect">
            <a:avLst>
              <a:gd name="adj" fmla="val 4444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293608" y="3255264"/>
            <a:ext cx="2923977" cy="82296"/>
          </a:xfrm>
          <a:prstGeom prst="roundRect">
            <a:avLst>
              <a:gd name="adj" fmla="val 4444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293608" y="3447288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Watch: Edits Rate (70%)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8293608" y="3630168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Momentum: stable / new</a:t>
            </a:r>
            <a:endParaRPr lang="en-US" sz="640" dirty="0"/>
          </a:p>
        </p:txBody>
      </p:sp>
      <p:sp>
        <p:nvSpPr>
          <p:cNvPr id="66" name="Shape 64"/>
          <p:cNvSpPr/>
          <p:nvPr/>
        </p:nvSpPr>
        <p:spPr>
          <a:xfrm>
            <a:off x="502920" y="4123944"/>
            <a:ext cx="3547872" cy="1261872"/>
          </a:xfrm>
          <a:prstGeom prst="roundRect">
            <a:avLst>
              <a:gd name="adj" fmla="val 5797"/>
            </a:avLst>
          </a:prstGeom>
          <a:solidFill>
            <a:srgbClr val="E8F8EF"/>
          </a:solidFill>
          <a:ln w="12700">
            <a:solidFill>
              <a:srgbClr val="C4E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49224" y="423367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Ahmed Mohamed Shehata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649224" y="4425696"/>
            <a:ext cx="2148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Buyer&amp;SEO Manager</a:t>
            </a:r>
            <a:endParaRPr lang="en-US" sz="620" dirty="0"/>
          </a:p>
        </p:txBody>
      </p:sp>
      <p:sp>
        <p:nvSpPr>
          <p:cNvPr id="69" name="Text 67"/>
          <p:cNvSpPr/>
          <p:nvPr/>
        </p:nvSpPr>
        <p:spPr>
          <a:xfrm>
            <a:off x="2807208" y="42336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2999232" y="4517136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026664" y="456285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+0.5 %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649224" y="4736592"/>
            <a:ext cx="3127248" cy="82296"/>
          </a:xfrm>
          <a:prstGeom prst="roundRect">
            <a:avLst>
              <a:gd name="adj" fmla="val 4444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49224" y="4736592"/>
            <a:ext cx="2836822" cy="82296"/>
          </a:xfrm>
          <a:prstGeom prst="roundRect">
            <a:avLst>
              <a:gd name="adj" fmla="val 4444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49224" y="4928616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Watch: Budget Compliance (77%)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649224" y="5111496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Momentum: improving</a:t>
            </a:r>
            <a:endParaRPr lang="en-US" sz="640" dirty="0"/>
          </a:p>
        </p:txBody>
      </p:sp>
      <p:sp>
        <p:nvSpPr>
          <p:cNvPr id="76" name="Shape 74"/>
          <p:cNvSpPr/>
          <p:nvPr/>
        </p:nvSpPr>
        <p:spPr>
          <a:xfrm>
            <a:off x="4325112" y="4123944"/>
            <a:ext cx="354787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471416" y="423367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El-Naggar</a:t>
            </a:r>
            <a:endParaRPr lang="en-US" sz="780" dirty="0"/>
          </a:p>
        </p:txBody>
      </p:sp>
      <p:sp>
        <p:nvSpPr>
          <p:cNvPr id="78" name="Text 76"/>
          <p:cNvSpPr/>
          <p:nvPr/>
        </p:nvSpPr>
        <p:spPr>
          <a:xfrm>
            <a:off x="4471416" y="4425696"/>
            <a:ext cx="2148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620" dirty="0"/>
          </a:p>
        </p:txBody>
      </p:sp>
      <p:sp>
        <p:nvSpPr>
          <p:cNvPr id="79" name="Text 77"/>
          <p:cNvSpPr/>
          <p:nvPr/>
        </p:nvSpPr>
        <p:spPr>
          <a:xfrm>
            <a:off x="6629400" y="42336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6821424" y="4517136"/>
            <a:ext cx="749808" cy="246888"/>
          </a:xfrm>
          <a:prstGeom prst="roundRect">
            <a:avLst>
              <a:gd name="adj" fmla="val 18519"/>
            </a:avLst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848856" y="456285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+6.8 %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471416" y="4736592"/>
            <a:ext cx="3127248" cy="82296"/>
          </a:xfrm>
          <a:prstGeom prst="roundRect">
            <a:avLst>
              <a:gd name="adj" fmla="val 44444"/>
            </a:avLst>
          </a:prstGeom>
          <a:solidFill>
            <a:srgbClr val="E4E7E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471416" y="4736592"/>
            <a:ext cx="2636270" cy="82296"/>
          </a:xfrm>
          <a:prstGeom prst="roundRect">
            <a:avLst>
              <a:gd name="adj" fmla="val 44444"/>
            </a:avLst>
          </a:prstGeom>
          <a:solidFill>
            <a:srgbClr val="22A05A"/>
          </a:solidFill>
          <a:ln w="12700">
            <a:solidFill>
              <a:srgbClr val="22A0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471416" y="4928616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Watch: Response Time (40%)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4471416" y="5111496"/>
            <a:ext cx="2926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Momentum: improving</a:t>
            </a:r>
            <a:endParaRPr lang="en-US" sz="640" dirty="0"/>
          </a:p>
        </p:txBody>
      </p:sp>
      <p:sp>
        <p:nvSpPr>
          <p:cNvPr id="86" name="Shape 84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9509760" y="656539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137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Employee Detail </a:t>
            </a:r>
            <a:r>
              <a:rPr lang="en-US" sz="22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A%endix</a:t>
            </a: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— Full Scorecard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51206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One-page reference: Main Score, MoM Change, status, and first KPI to review.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00" y="1645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7DF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670" dirty="0"/>
          </a:p>
        </p:txBody>
      </p:sp>
      <p:sp>
        <p:nvSpPr>
          <p:cNvPr id="7" name="Text 5"/>
          <p:cNvSpPr/>
          <p:nvPr/>
        </p:nvSpPr>
        <p:spPr>
          <a:xfrm>
            <a:off x="2697480" y="120700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5074920" y="120700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5989320" y="1207008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670" dirty="0"/>
          </a:p>
        </p:txBody>
      </p:sp>
      <p:sp>
        <p:nvSpPr>
          <p:cNvPr id="10" name="Text 8"/>
          <p:cNvSpPr/>
          <p:nvPr/>
        </p:nvSpPr>
        <p:spPr>
          <a:xfrm>
            <a:off x="6995160" y="1207008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670" dirty="0"/>
          </a:p>
        </p:txBody>
      </p:sp>
      <p:sp>
        <p:nvSpPr>
          <p:cNvPr id="11" name="Text 9"/>
          <p:cNvSpPr/>
          <p:nvPr/>
        </p:nvSpPr>
        <p:spPr>
          <a:xfrm>
            <a:off x="8092440" y="120700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KPI Gap</a:t>
            </a:r>
            <a:endParaRPr lang="en-US" sz="670" dirty="0"/>
          </a:p>
        </p:txBody>
      </p:sp>
      <p:sp>
        <p:nvSpPr>
          <p:cNvPr id="12" name="Text 10"/>
          <p:cNvSpPr/>
          <p:nvPr/>
        </p:nvSpPr>
        <p:spPr>
          <a:xfrm>
            <a:off x="9528048" y="120700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7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Focus</a:t>
            </a:r>
            <a:endParaRPr lang="en-US" sz="670" dirty="0"/>
          </a:p>
        </p:txBody>
      </p:sp>
      <p:sp>
        <p:nvSpPr>
          <p:cNvPr id="13" name="Shape 11"/>
          <p:cNvSpPr/>
          <p:nvPr/>
        </p:nvSpPr>
        <p:spPr>
          <a:xfrm>
            <a:off x="566928" y="1472184"/>
            <a:ext cx="109728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164592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2697480" y="164592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074920" y="164592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43.8%</a:t>
            </a:r>
            <a:endParaRPr lang="en-US" sz="690" dirty="0"/>
          </a:p>
        </p:txBody>
      </p:sp>
      <p:sp>
        <p:nvSpPr>
          <p:cNvPr id="17" name="Text 15"/>
          <p:cNvSpPr/>
          <p:nvPr/>
        </p:nvSpPr>
        <p:spPr>
          <a:xfrm>
            <a:off x="5989320" y="1645920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-17.3 %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6995160" y="1645920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640" dirty="0"/>
          </a:p>
        </p:txBody>
      </p:sp>
      <p:sp>
        <p:nvSpPr>
          <p:cNvPr id="19" name="Text 17"/>
          <p:cNvSpPr/>
          <p:nvPr/>
        </p:nvSpPr>
        <p:spPr>
          <a:xfrm>
            <a:off x="8092440" y="164592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 35%</a:t>
            </a:r>
            <a:endParaRPr lang="en-US" sz="640" dirty="0"/>
          </a:p>
        </p:txBody>
      </p:sp>
      <p:sp>
        <p:nvSpPr>
          <p:cNvPr id="20" name="Text 18"/>
          <p:cNvSpPr/>
          <p:nvPr/>
        </p:nvSpPr>
        <p:spPr>
          <a:xfrm>
            <a:off x="9528048" y="164592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media</a:t>
            </a:r>
            <a:endParaRPr lang="en-US" sz="640" dirty="0"/>
          </a:p>
        </p:txBody>
      </p:sp>
      <p:sp>
        <p:nvSpPr>
          <p:cNvPr id="21" name="Shape 19"/>
          <p:cNvSpPr/>
          <p:nvPr/>
        </p:nvSpPr>
        <p:spPr>
          <a:xfrm>
            <a:off x="566928" y="1892808"/>
            <a:ext cx="1097280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1984248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2697480" y="198424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074920" y="19842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57.8%</a:t>
            </a:r>
            <a:endParaRPr lang="en-US" sz="690" dirty="0"/>
          </a:p>
        </p:txBody>
      </p:sp>
      <p:sp>
        <p:nvSpPr>
          <p:cNvPr id="25" name="Text 23"/>
          <p:cNvSpPr/>
          <p:nvPr/>
        </p:nvSpPr>
        <p:spPr>
          <a:xfrm>
            <a:off x="5989320" y="1984248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6995160" y="1984248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640" dirty="0"/>
          </a:p>
        </p:txBody>
      </p:sp>
      <p:sp>
        <p:nvSpPr>
          <p:cNvPr id="27" name="Text 25"/>
          <p:cNvSpPr/>
          <p:nvPr/>
        </p:nvSpPr>
        <p:spPr>
          <a:xfrm>
            <a:off x="8092440" y="198424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 20%</a:t>
            </a:r>
            <a:endParaRPr lang="en-US" sz="640" dirty="0"/>
          </a:p>
        </p:txBody>
      </p:sp>
      <p:sp>
        <p:nvSpPr>
          <p:cNvPr id="28" name="Text 26"/>
          <p:cNvSpPr/>
          <p:nvPr/>
        </p:nvSpPr>
        <p:spPr>
          <a:xfrm>
            <a:off x="9528048" y="198424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media</a:t>
            </a:r>
            <a:endParaRPr lang="en-US" sz="640" dirty="0"/>
          </a:p>
        </p:txBody>
      </p:sp>
      <p:sp>
        <p:nvSpPr>
          <p:cNvPr id="29" name="Shape 27"/>
          <p:cNvSpPr/>
          <p:nvPr/>
        </p:nvSpPr>
        <p:spPr>
          <a:xfrm>
            <a:off x="566928" y="2231136"/>
            <a:ext cx="1097280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2322576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697480" y="2322576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 (S)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074920" y="232257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690" dirty="0"/>
          </a:p>
        </p:txBody>
      </p:sp>
      <p:sp>
        <p:nvSpPr>
          <p:cNvPr id="33" name="Text 31"/>
          <p:cNvSpPr/>
          <p:nvPr/>
        </p:nvSpPr>
        <p:spPr>
          <a:xfrm>
            <a:off x="5989320" y="2322576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+5.6 %</a:t>
            </a:r>
            <a:endParaRPr lang="en-US" sz="660" dirty="0"/>
          </a:p>
        </p:txBody>
      </p:sp>
      <p:sp>
        <p:nvSpPr>
          <p:cNvPr id="34" name="Text 32"/>
          <p:cNvSpPr/>
          <p:nvPr/>
        </p:nvSpPr>
        <p:spPr>
          <a:xfrm>
            <a:off x="6995160" y="2322576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640" dirty="0"/>
          </a:p>
        </p:txBody>
      </p:sp>
      <p:sp>
        <p:nvSpPr>
          <p:cNvPr id="35" name="Text 33"/>
          <p:cNvSpPr/>
          <p:nvPr/>
        </p:nvSpPr>
        <p:spPr>
          <a:xfrm>
            <a:off x="8092440" y="232257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40%</a:t>
            </a:r>
            <a:endParaRPr lang="en-US" sz="640" dirty="0"/>
          </a:p>
        </p:txBody>
      </p:sp>
      <p:sp>
        <p:nvSpPr>
          <p:cNvPr id="36" name="Text 34"/>
          <p:cNvSpPr/>
          <p:nvPr/>
        </p:nvSpPr>
        <p:spPr>
          <a:xfrm>
            <a:off x="9528048" y="232257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SLA</a:t>
            </a:r>
            <a:endParaRPr lang="en-US" sz="640" dirty="0"/>
          </a:p>
        </p:txBody>
      </p:sp>
      <p:sp>
        <p:nvSpPr>
          <p:cNvPr id="37" name="Shape 35"/>
          <p:cNvSpPr/>
          <p:nvPr/>
        </p:nvSpPr>
        <p:spPr>
          <a:xfrm>
            <a:off x="566928" y="2569464"/>
            <a:ext cx="1097280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94360" y="266090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2697480" y="2660904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 (S)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5074920" y="266090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690" dirty="0"/>
          </a:p>
        </p:txBody>
      </p:sp>
      <p:sp>
        <p:nvSpPr>
          <p:cNvPr id="41" name="Text 39"/>
          <p:cNvSpPr/>
          <p:nvPr/>
        </p:nvSpPr>
        <p:spPr>
          <a:xfrm>
            <a:off x="5989320" y="266090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+5.6 %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6995160" y="2660904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640" dirty="0"/>
          </a:p>
        </p:txBody>
      </p:sp>
      <p:sp>
        <p:nvSpPr>
          <p:cNvPr id="43" name="Text 41"/>
          <p:cNvSpPr/>
          <p:nvPr/>
        </p:nvSpPr>
        <p:spPr>
          <a:xfrm>
            <a:off x="8092440" y="2660904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40%</a:t>
            </a:r>
            <a:endParaRPr lang="en-US" sz="640" dirty="0"/>
          </a:p>
        </p:txBody>
      </p:sp>
      <p:sp>
        <p:nvSpPr>
          <p:cNvPr id="44" name="Text 42"/>
          <p:cNvSpPr/>
          <p:nvPr/>
        </p:nvSpPr>
        <p:spPr>
          <a:xfrm>
            <a:off x="9528048" y="266090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SLA</a:t>
            </a:r>
            <a:endParaRPr lang="en-US" sz="640" dirty="0"/>
          </a:p>
        </p:txBody>
      </p:sp>
      <p:sp>
        <p:nvSpPr>
          <p:cNvPr id="45" name="Shape 43"/>
          <p:cNvSpPr/>
          <p:nvPr/>
        </p:nvSpPr>
        <p:spPr>
          <a:xfrm>
            <a:off x="566928" y="2907792"/>
            <a:ext cx="1097280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4360" y="299923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2697480" y="299923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5074920" y="29992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690" dirty="0"/>
          </a:p>
        </p:txBody>
      </p:sp>
      <p:sp>
        <p:nvSpPr>
          <p:cNvPr id="49" name="Text 47"/>
          <p:cNvSpPr/>
          <p:nvPr/>
        </p:nvSpPr>
        <p:spPr>
          <a:xfrm>
            <a:off x="5989320" y="2999232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-10.0 %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6995160" y="2999232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8092440" y="299923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 50%</a:t>
            </a:r>
            <a:endParaRPr lang="en-US" sz="640" dirty="0"/>
          </a:p>
        </p:txBody>
      </p:sp>
      <p:sp>
        <p:nvSpPr>
          <p:cNvPr id="52" name="Text 50"/>
          <p:cNvSpPr/>
          <p:nvPr/>
        </p:nvSpPr>
        <p:spPr>
          <a:xfrm>
            <a:off x="9528048" y="299923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reliability</a:t>
            </a:r>
            <a:endParaRPr lang="en-US" sz="640" dirty="0"/>
          </a:p>
        </p:txBody>
      </p:sp>
      <p:sp>
        <p:nvSpPr>
          <p:cNvPr id="53" name="Shape 51"/>
          <p:cNvSpPr/>
          <p:nvPr/>
        </p:nvSpPr>
        <p:spPr>
          <a:xfrm>
            <a:off x="566928" y="3246120"/>
            <a:ext cx="1097280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94360" y="333756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El-Naggar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2697480" y="333756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074920" y="333756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690" dirty="0"/>
          </a:p>
        </p:txBody>
      </p:sp>
      <p:sp>
        <p:nvSpPr>
          <p:cNvPr id="57" name="Text 55"/>
          <p:cNvSpPr/>
          <p:nvPr/>
        </p:nvSpPr>
        <p:spPr>
          <a:xfrm>
            <a:off x="5989320" y="3337560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+6.8 %</a:t>
            </a:r>
            <a:endParaRPr lang="en-US" sz="660" dirty="0"/>
          </a:p>
        </p:txBody>
      </p:sp>
      <p:sp>
        <p:nvSpPr>
          <p:cNvPr id="58" name="Text 56"/>
          <p:cNvSpPr/>
          <p:nvPr/>
        </p:nvSpPr>
        <p:spPr>
          <a:xfrm>
            <a:off x="6995160" y="3337560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640" dirty="0"/>
          </a:p>
        </p:txBody>
      </p:sp>
      <p:sp>
        <p:nvSpPr>
          <p:cNvPr id="59" name="Text 57"/>
          <p:cNvSpPr/>
          <p:nvPr/>
        </p:nvSpPr>
        <p:spPr>
          <a:xfrm>
            <a:off x="8092440" y="333756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E54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40%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9528048" y="333756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SLA</a:t>
            </a:r>
            <a:endParaRPr lang="en-US" sz="640" dirty="0"/>
          </a:p>
        </p:txBody>
      </p:sp>
      <p:sp>
        <p:nvSpPr>
          <p:cNvPr id="61" name="Shape 59"/>
          <p:cNvSpPr/>
          <p:nvPr/>
        </p:nvSpPr>
        <p:spPr>
          <a:xfrm>
            <a:off x="566928" y="3584448"/>
            <a:ext cx="1097280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94360" y="3675888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Ahmed Mohamed Shehata</a:t>
            </a:r>
            <a:endParaRPr lang="en-US" sz="680" dirty="0"/>
          </a:p>
        </p:txBody>
      </p:sp>
      <p:sp>
        <p:nvSpPr>
          <p:cNvPr id="63" name="Text 61"/>
          <p:cNvSpPr/>
          <p:nvPr/>
        </p:nvSpPr>
        <p:spPr>
          <a:xfrm>
            <a:off x="2697480" y="367588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Buyer&amp;SEO Manager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5074920" y="367588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690" dirty="0"/>
          </a:p>
        </p:txBody>
      </p:sp>
      <p:sp>
        <p:nvSpPr>
          <p:cNvPr id="65" name="Text 63"/>
          <p:cNvSpPr/>
          <p:nvPr/>
        </p:nvSpPr>
        <p:spPr>
          <a:xfrm>
            <a:off x="5989320" y="3675888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+0.5 %</a:t>
            </a:r>
            <a:endParaRPr lang="en-US" sz="660" dirty="0"/>
          </a:p>
        </p:txBody>
      </p:sp>
      <p:sp>
        <p:nvSpPr>
          <p:cNvPr id="66" name="Text 64"/>
          <p:cNvSpPr/>
          <p:nvPr/>
        </p:nvSpPr>
        <p:spPr>
          <a:xfrm>
            <a:off x="6995160" y="3675888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640" dirty="0"/>
          </a:p>
        </p:txBody>
      </p:sp>
      <p:sp>
        <p:nvSpPr>
          <p:cNvPr id="67" name="Text 65"/>
          <p:cNvSpPr/>
          <p:nvPr/>
        </p:nvSpPr>
        <p:spPr>
          <a:xfrm>
            <a:off x="8092440" y="367588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Compliance 77%</a:t>
            </a:r>
            <a:endParaRPr lang="en-US" sz="640" dirty="0"/>
          </a:p>
        </p:txBody>
      </p:sp>
      <p:sp>
        <p:nvSpPr>
          <p:cNvPr id="68" name="Text 66"/>
          <p:cNvSpPr/>
          <p:nvPr/>
        </p:nvSpPr>
        <p:spPr>
          <a:xfrm>
            <a:off x="9528048" y="367588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primary gap</a:t>
            </a:r>
            <a:endParaRPr lang="en-US" sz="640" dirty="0"/>
          </a:p>
        </p:txBody>
      </p:sp>
      <p:sp>
        <p:nvSpPr>
          <p:cNvPr id="69" name="Shape 67"/>
          <p:cNvSpPr/>
          <p:nvPr/>
        </p:nvSpPr>
        <p:spPr>
          <a:xfrm>
            <a:off x="566928" y="3922776"/>
            <a:ext cx="1097280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94360" y="4014216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 Mohamed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697480" y="4014216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5074920" y="401421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93.5%</a:t>
            </a:r>
            <a:endParaRPr lang="en-US" sz="690" dirty="0"/>
          </a:p>
        </p:txBody>
      </p:sp>
      <p:sp>
        <p:nvSpPr>
          <p:cNvPr id="73" name="Text 71"/>
          <p:cNvSpPr/>
          <p:nvPr/>
        </p:nvSpPr>
        <p:spPr>
          <a:xfrm>
            <a:off x="5989320" y="4014216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+0.0 %</a:t>
            </a:r>
            <a:endParaRPr lang="en-US" sz="660" dirty="0"/>
          </a:p>
        </p:txBody>
      </p:sp>
      <p:sp>
        <p:nvSpPr>
          <p:cNvPr id="74" name="Text 72"/>
          <p:cNvSpPr/>
          <p:nvPr/>
        </p:nvSpPr>
        <p:spPr>
          <a:xfrm>
            <a:off x="6995160" y="4014216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640" dirty="0"/>
          </a:p>
        </p:txBody>
      </p:sp>
      <p:sp>
        <p:nvSpPr>
          <p:cNvPr id="75" name="Text 73"/>
          <p:cNvSpPr/>
          <p:nvPr/>
        </p:nvSpPr>
        <p:spPr>
          <a:xfrm>
            <a:off x="8092440" y="401421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Edits Rate 70%</a:t>
            </a:r>
            <a:endParaRPr lang="en-US" sz="640" dirty="0"/>
          </a:p>
        </p:txBody>
      </p:sp>
      <p:sp>
        <p:nvSpPr>
          <p:cNvPr id="76" name="Text 74"/>
          <p:cNvSpPr/>
          <p:nvPr/>
        </p:nvSpPr>
        <p:spPr>
          <a:xfrm>
            <a:off x="9528048" y="401421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/ edits control</a:t>
            </a:r>
            <a:endParaRPr lang="en-US" sz="640" dirty="0"/>
          </a:p>
        </p:txBody>
      </p:sp>
      <p:sp>
        <p:nvSpPr>
          <p:cNvPr id="77" name="Shape 75"/>
          <p:cNvSpPr/>
          <p:nvPr/>
        </p:nvSpPr>
        <p:spPr>
          <a:xfrm>
            <a:off x="566928" y="4261104"/>
            <a:ext cx="1097280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94360" y="435254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Mohamed Abdelmegid Diab</a:t>
            </a:r>
            <a:endParaRPr lang="en-US" sz="680" dirty="0"/>
          </a:p>
        </p:txBody>
      </p:sp>
      <p:sp>
        <p:nvSpPr>
          <p:cNvPr id="79" name="Text 77"/>
          <p:cNvSpPr/>
          <p:nvPr/>
        </p:nvSpPr>
        <p:spPr>
          <a:xfrm>
            <a:off x="2697480" y="4352544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Director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5074920" y="43525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97.2%</a:t>
            </a:r>
            <a:endParaRPr lang="en-US" sz="690" dirty="0"/>
          </a:p>
        </p:txBody>
      </p:sp>
      <p:sp>
        <p:nvSpPr>
          <p:cNvPr id="81" name="Text 79"/>
          <p:cNvSpPr/>
          <p:nvPr/>
        </p:nvSpPr>
        <p:spPr>
          <a:xfrm>
            <a:off x="5989320" y="4352544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+2.7 %</a:t>
            </a:r>
            <a:endParaRPr lang="en-US" sz="660" dirty="0"/>
          </a:p>
        </p:txBody>
      </p:sp>
      <p:sp>
        <p:nvSpPr>
          <p:cNvPr id="82" name="Text 80"/>
          <p:cNvSpPr/>
          <p:nvPr/>
        </p:nvSpPr>
        <p:spPr>
          <a:xfrm>
            <a:off x="6995160" y="4352544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640" dirty="0"/>
          </a:p>
        </p:txBody>
      </p:sp>
      <p:sp>
        <p:nvSpPr>
          <p:cNvPr id="83" name="Text 81"/>
          <p:cNvSpPr/>
          <p:nvPr/>
        </p:nvSpPr>
        <p:spPr>
          <a:xfrm>
            <a:off x="8092440" y="4352544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training &amp; development hours 85%</a:t>
            </a:r>
            <a:endParaRPr lang="en-US" sz="640" dirty="0"/>
          </a:p>
        </p:txBody>
      </p:sp>
      <p:sp>
        <p:nvSpPr>
          <p:cNvPr id="84" name="Text 82"/>
          <p:cNvSpPr/>
          <p:nvPr/>
        </p:nvSpPr>
        <p:spPr>
          <a:xfrm>
            <a:off x="9528048" y="435254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primary gap</a:t>
            </a:r>
            <a:endParaRPr lang="en-US" sz="640" dirty="0"/>
          </a:p>
        </p:txBody>
      </p:sp>
      <p:sp>
        <p:nvSpPr>
          <p:cNvPr id="85" name="Shape 83"/>
          <p:cNvSpPr/>
          <p:nvPr/>
        </p:nvSpPr>
        <p:spPr>
          <a:xfrm>
            <a:off x="566928" y="4599432"/>
            <a:ext cx="1097280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594360" y="469087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Nourshan</a:t>
            </a:r>
            <a:endParaRPr lang="en-US" sz="680" dirty="0"/>
          </a:p>
        </p:txBody>
      </p:sp>
      <p:sp>
        <p:nvSpPr>
          <p:cNvPr id="87" name="Text 85"/>
          <p:cNvSpPr/>
          <p:nvPr/>
        </p:nvSpPr>
        <p:spPr>
          <a:xfrm>
            <a:off x="2697480" y="4690872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Writer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5074920" y="469087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97.5%</a:t>
            </a:r>
            <a:endParaRPr lang="en-US" sz="690" dirty="0"/>
          </a:p>
        </p:txBody>
      </p:sp>
      <p:sp>
        <p:nvSpPr>
          <p:cNvPr id="89" name="Text 87"/>
          <p:cNvSpPr/>
          <p:nvPr/>
        </p:nvSpPr>
        <p:spPr>
          <a:xfrm>
            <a:off x="5989320" y="4690872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660" dirty="0"/>
          </a:p>
        </p:txBody>
      </p:sp>
      <p:sp>
        <p:nvSpPr>
          <p:cNvPr id="90" name="Text 88"/>
          <p:cNvSpPr/>
          <p:nvPr/>
        </p:nvSpPr>
        <p:spPr>
          <a:xfrm>
            <a:off x="6995160" y="4690872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640" dirty="0"/>
          </a:p>
        </p:txBody>
      </p:sp>
      <p:sp>
        <p:nvSpPr>
          <p:cNvPr id="91" name="Text 89"/>
          <p:cNvSpPr/>
          <p:nvPr/>
        </p:nvSpPr>
        <p:spPr>
          <a:xfrm>
            <a:off x="8092440" y="4690872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Organic traffic from content 97%</a:t>
            </a:r>
            <a:endParaRPr lang="en-US" sz="640" dirty="0"/>
          </a:p>
        </p:txBody>
      </p:sp>
      <p:sp>
        <p:nvSpPr>
          <p:cNvPr id="92" name="Text 90"/>
          <p:cNvSpPr/>
          <p:nvPr/>
        </p:nvSpPr>
        <p:spPr>
          <a:xfrm>
            <a:off x="9528048" y="469087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primary gap</a:t>
            </a:r>
            <a:endParaRPr lang="en-US" sz="640" dirty="0"/>
          </a:p>
        </p:txBody>
      </p:sp>
      <p:sp>
        <p:nvSpPr>
          <p:cNvPr id="93" name="Shape 91"/>
          <p:cNvSpPr/>
          <p:nvPr/>
        </p:nvSpPr>
        <p:spPr>
          <a:xfrm>
            <a:off x="566928" y="4937760"/>
            <a:ext cx="1097280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594360" y="5029200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Dina Samir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2697480" y="502920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Manager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5074920" y="502920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97.6%</a:t>
            </a:r>
            <a:endParaRPr lang="en-US" sz="690" dirty="0"/>
          </a:p>
        </p:txBody>
      </p:sp>
      <p:sp>
        <p:nvSpPr>
          <p:cNvPr id="97" name="Text 95"/>
          <p:cNvSpPr/>
          <p:nvPr/>
        </p:nvSpPr>
        <p:spPr>
          <a:xfrm>
            <a:off x="5989320" y="5029200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+3.1 %</a:t>
            </a:r>
            <a:endParaRPr lang="en-US" sz="660" dirty="0"/>
          </a:p>
        </p:txBody>
      </p:sp>
      <p:sp>
        <p:nvSpPr>
          <p:cNvPr id="98" name="Text 96"/>
          <p:cNvSpPr/>
          <p:nvPr/>
        </p:nvSpPr>
        <p:spPr>
          <a:xfrm>
            <a:off x="6995160" y="5029200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640" dirty="0"/>
          </a:p>
        </p:txBody>
      </p:sp>
      <p:sp>
        <p:nvSpPr>
          <p:cNvPr id="99" name="Text 97"/>
          <p:cNvSpPr/>
          <p:nvPr/>
        </p:nvSpPr>
        <p:spPr>
          <a:xfrm>
            <a:off x="8092440" y="502920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delivery 100%</a:t>
            </a:r>
            <a:endParaRPr lang="en-US" sz="640" dirty="0"/>
          </a:p>
        </p:txBody>
      </p:sp>
      <p:sp>
        <p:nvSpPr>
          <p:cNvPr id="100" name="Text 98"/>
          <p:cNvSpPr/>
          <p:nvPr/>
        </p:nvSpPr>
        <p:spPr>
          <a:xfrm>
            <a:off x="9528048" y="502920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primary gap</a:t>
            </a:r>
            <a:endParaRPr lang="en-US" sz="640" dirty="0"/>
          </a:p>
        </p:txBody>
      </p:sp>
      <p:sp>
        <p:nvSpPr>
          <p:cNvPr id="101" name="Shape 99"/>
          <p:cNvSpPr/>
          <p:nvPr/>
        </p:nvSpPr>
        <p:spPr>
          <a:xfrm>
            <a:off x="566928" y="5276088"/>
            <a:ext cx="1097280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94360" y="5367528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Abdulwahab</a:t>
            </a:r>
            <a:endParaRPr lang="en-US" sz="680" dirty="0"/>
          </a:p>
        </p:txBody>
      </p:sp>
      <p:sp>
        <p:nvSpPr>
          <p:cNvPr id="103" name="Text 101"/>
          <p:cNvSpPr/>
          <p:nvPr/>
        </p:nvSpPr>
        <p:spPr>
          <a:xfrm>
            <a:off x="2697480" y="5367528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5074920" y="53675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99.0%</a:t>
            </a:r>
            <a:endParaRPr lang="en-US" sz="690" dirty="0"/>
          </a:p>
        </p:txBody>
      </p:sp>
      <p:sp>
        <p:nvSpPr>
          <p:cNvPr id="105" name="Text 103"/>
          <p:cNvSpPr/>
          <p:nvPr/>
        </p:nvSpPr>
        <p:spPr>
          <a:xfrm>
            <a:off x="5989320" y="5367528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+7.8 %</a:t>
            </a:r>
            <a:endParaRPr lang="en-US" sz="660" dirty="0"/>
          </a:p>
        </p:txBody>
      </p:sp>
      <p:sp>
        <p:nvSpPr>
          <p:cNvPr id="106" name="Text 104"/>
          <p:cNvSpPr/>
          <p:nvPr/>
        </p:nvSpPr>
        <p:spPr>
          <a:xfrm>
            <a:off x="6995160" y="5367528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640" dirty="0"/>
          </a:p>
        </p:txBody>
      </p:sp>
      <p:sp>
        <p:nvSpPr>
          <p:cNvPr id="107" name="Text 105"/>
          <p:cNvSpPr/>
          <p:nvPr/>
        </p:nvSpPr>
        <p:spPr>
          <a:xfrm>
            <a:off x="8092440" y="536752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with brand guidelines 95%</a:t>
            </a:r>
            <a:endParaRPr lang="en-US" sz="640" dirty="0"/>
          </a:p>
        </p:txBody>
      </p:sp>
      <p:sp>
        <p:nvSpPr>
          <p:cNvPr id="108" name="Text 106"/>
          <p:cNvSpPr/>
          <p:nvPr/>
        </p:nvSpPr>
        <p:spPr>
          <a:xfrm>
            <a:off x="9528048" y="53675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primary gap</a:t>
            </a:r>
            <a:endParaRPr lang="en-US" sz="640" dirty="0"/>
          </a:p>
        </p:txBody>
      </p:sp>
      <p:sp>
        <p:nvSpPr>
          <p:cNvPr id="109" name="Shape 107"/>
          <p:cNvSpPr/>
          <p:nvPr/>
        </p:nvSpPr>
        <p:spPr>
          <a:xfrm>
            <a:off x="566928" y="5614416"/>
            <a:ext cx="10972800" cy="0"/>
          </a:xfrm>
          <a:prstGeom prst="line">
            <a:avLst/>
          </a:prstGeom>
          <a:noFill/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594360" y="5705856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Osama Fawzy Abdallah</a:t>
            </a:r>
            <a:endParaRPr lang="en-US" sz="680" dirty="0"/>
          </a:p>
        </p:txBody>
      </p:sp>
      <p:sp>
        <p:nvSpPr>
          <p:cNvPr id="111" name="Text 109"/>
          <p:cNvSpPr/>
          <p:nvPr/>
        </p:nvSpPr>
        <p:spPr>
          <a:xfrm>
            <a:off x="2697480" y="5705856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Marketing Manager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074920" y="570585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9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99.7%</a:t>
            </a:r>
            <a:endParaRPr lang="en-US" sz="690" dirty="0"/>
          </a:p>
        </p:txBody>
      </p:sp>
      <p:sp>
        <p:nvSpPr>
          <p:cNvPr id="113" name="Text 111"/>
          <p:cNvSpPr/>
          <p:nvPr/>
        </p:nvSpPr>
        <p:spPr>
          <a:xfrm>
            <a:off x="5989320" y="5705856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660" dirty="0"/>
          </a:p>
        </p:txBody>
      </p:sp>
      <p:sp>
        <p:nvSpPr>
          <p:cNvPr id="114" name="Text 112"/>
          <p:cNvSpPr/>
          <p:nvPr/>
        </p:nvSpPr>
        <p:spPr>
          <a:xfrm>
            <a:off x="6995160" y="5705856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b="1" dirty="0">
                <a:solidFill>
                  <a:srgbClr val="22A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640" dirty="0"/>
          </a:p>
        </p:txBody>
      </p:sp>
      <p:sp>
        <p:nvSpPr>
          <p:cNvPr id="115" name="Text 113"/>
          <p:cNvSpPr/>
          <p:nvPr/>
        </p:nvSpPr>
        <p:spPr>
          <a:xfrm>
            <a:off x="8092440" y="570585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ROI 99%</a:t>
            </a:r>
            <a:endParaRPr lang="en-US" sz="640" dirty="0"/>
          </a:p>
        </p:txBody>
      </p:sp>
      <p:sp>
        <p:nvSpPr>
          <p:cNvPr id="116" name="Text 114"/>
          <p:cNvSpPr/>
          <p:nvPr/>
        </p:nvSpPr>
        <p:spPr>
          <a:xfrm>
            <a:off x="9528048" y="570585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4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primary gap</a:t>
            </a:r>
            <a:endParaRPr lang="en-US" sz="640" dirty="0"/>
          </a:p>
        </p:txBody>
      </p:sp>
      <p:sp>
        <p:nvSpPr>
          <p:cNvPr id="117" name="Shape 115"/>
          <p:cNvSpPr/>
          <p:nvPr/>
        </p:nvSpPr>
        <p:spPr>
          <a:xfrm>
            <a:off x="457200" y="6519672"/>
            <a:ext cx="112928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9509760" y="6565392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8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1929</Words>
  <Application>Microsoft Office PowerPoint</Application>
  <PresentationFormat>Widescreen</PresentationFormat>
  <Paragraphs>524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PMS July 2026 — Main Score &amp; MoM Review</dc:title>
  <dc:subject>Marketing PMS July 2026</dc:subject>
  <dc:creator>OpenAI</dc:creator>
  <cp:lastModifiedBy>Mostafa Zeinhom</cp:lastModifiedBy>
  <cp:revision>3</cp:revision>
  <dcterms:created xsi:type="dcterms:W3CDTF">2026-08-17T14:32:30Z</dcterms:created>
  <dcterms:modified xsi:type="dcterms:W3CDTF">2026-08-17T15:04:51Z</dcterms:modified>
</cp:coreProperties>
</file>