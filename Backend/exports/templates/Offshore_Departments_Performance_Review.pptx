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097280"/>
            <a:ext cx="6949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Offshore Departments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03504" y="1664208"/>
            <a:ext cx="7223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Combined Performance Review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40080" y="23957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2026  |  SGH Offshore Branch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8163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495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RCM – Approvals  •  Call Center – Inbound  •  Call Center – Outbound  •  Marketing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909560" y="123444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123456"/>
          </a:solidFill>
          <a:ln w="9525">
            <a:solidFill>
              <a:srgbClr val="2F6A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0" y="15361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Flow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0" y="1938528"/>
            <a:ext cx="278892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D6E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performance summary, KPI cards with baseline and MoM change, then employee details and corrective action plans.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8229600" y="3017520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04958F"/>
          </a:solidFill>
          <a:ln w="9525">
            <a:solidFill>
              <a:srgbClr val="0495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30723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Departments</a:t>
            </a:r>
            <a:endParaRPr lang="en-US" sz="580" dirty="0"/>
          </a:p>
        </p:txBody>
      </p:sp>
      <p:sp>
        <p:nvSpPr>
          <p:cNvPr id="14" name="Shape 12"/>
          <p:cNvSpPr/>
          <p:nvPr/>
        </p:nvSpPr>
        <p:spPr>
          <a:xfrm>
            <a:off x="9921240" y="3017520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E2A100"/>
          </a:solidFill>
          <a:ln w="9525">
            <a:solidFill>
              <a:srgbClr val="E2A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0" y="307238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Exceptions First</a:t>
            </a:r>
            <a:endParaRPr lang="en-US" sz="580" dirty="0"/>
          </a:p>
        </p:txBody>
      </p:sp>
      <p:sp>
        <p:nvSpPr>
          <p:cNvPr id="16" name="Shape 14"/>
          <p:cNvSpPr/>
          <p:nvPr/>
        </p:nvSpPr>
        <p:spPr>
          <a:xfrm>
            <a:off x="8229600" y="3429000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22A66F"/>
          </a:solidFill>
          <a:ln w="9525">
            <a:solidFill>
              <a:srgbClr val="22A6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348386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Focused</a:t>
            </a:r>
            <a:endParaRPr lang="en-US" sz="580" dirty="0"/>
          </a:p>
        </p:txBody>
      </p:sp>
      <p:sp>
        <p:nvSpPr>
          <p:cNvPr id="18" name="Text 16"/>
          <p:cNvSpPr/>
          <p:nvPr/>
        </p:nvSpPr>
        <p:spPr>
          <a:xfrm>
            <a:off x="640080" y="6272784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8F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– INTERNAL USE ONLY</a:t>
            </a:r>
            <a:endParaRPr lang="en-US" sz="6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2801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Combined Monthly Performance Overview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56616" y="512064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Offshore view now includes Marketing as a team inside the branch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8854135" y="22860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2026  |  SGH Offshore Branch  |  02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EF5"/>
          </a:solidFill>
          <a:ln w="8890">
            <a:solidFill>
              <a:srgbClr val="E8EE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6693408"/>
            <a:ext cx="228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— INTERNAL USE ONLY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61343" y="6693408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>
            <a:off x="502920" y="1042416"/>
            <a:ext cx="2606040" cy="1719072"/>
          </a:xfrm>
          <a:prstGeom prst="roundRect">
            <a:avLst>
              <a:gd name="adj" fmla="val 4255"/>
            </a:avLst>
          </a:prstGeom>
          <a:solidFill>
            <a:srgbClr val="E8F6EF"/>
          </a:solidFill>
          <a:ln w="12700">
            <a:solidFill>
              <a:srgbClr val="22A66F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042416"/>
            <a:ext cx="2606040" cy="64008"/>
          </a:xfrm>
          <a:prstGeom prst="rect">
            <a:avLst/>
          </a:prstGeom>
          <a:solidFill>
            <a:srgbClr val="22A66F"/>
          </a:solidFill>
          <a:ln w="8890">
            <a:solidFill>
              <a:srgbClr val="22A6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1261872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Center – Inbound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667512" y="1664208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91.7%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85800" y="201168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performance</a:t>
            </a:r>
            <a:endParaRPr lang="en-US" sz="670" dirty="0"/>
          </a:p>
        </p:txBody>
      </p:sp>
      <p:sp>
        <p:nvSpPr>
          <p:cNvPr id="15" name="Text 13"/>
          <p:cNvSpPr/>
          <p:nvPr/>
        </p:nvSpPr>
        <p:spPr>
          <a:xfrm>
            <a:off x="2103120" y="1645920"/>
            <a:ext cx="8595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9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Baseline: 92.1%</a:t>
            </a:r>
            <a:endParaRPr lang="en-US" sz="590" dirty="0"/>
          </a:p>
        </p:txBody>
      </p:sp>
      <p:sp>
        <p:nvSpPr>
          <p:cNvPr id="16" name="Text 14"/>
          <p:cNvSpPr/>
          <p:nvPr/>
        </p:nvSpPr>
        <p:spPr>
          <a:xfrm>
            <a:off x="2103120" y="1883664"/>
            <a:ext cx="8595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9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MoM: -0.5%</a:t>
            </a:r>
            <a:endParaRPr lang="en-US" sz="590" dirty="0"/>
          </a:p>
        </p:txBody>
      </p:sp>
      <p:sp>
        <p:nvSpPr>
          <p:cNvPr id="17" name="Text 15"/>
          <p:cNvSpPr/>
          <p:nvPr/>
        </p:nvSpPr>
        <p:spPr>
          <a:xfrm>
            <a:off x="1874520" y="2377440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6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Team Avg</a:t>
            </a:r>
            <a:endParaRPr lang="en-US" sz="560" dirty="0"/>
          </a:p>
        </p:txBody>
      </p:sp>
      <p:sp>
        <p:nvSpPr>
          <p:cNvPr id="18" name="Shape 16"/>
          <p:cNvSpPr/>
          <p:nvPr/>
        </p:nvSpPr>
        <p:spPr>
          <a:xfrm>
            <a:off x="685800" y="2267712"/>
            <a:ext cx="987552" cy="292608"/>
          </a:xfrm>
          <a:prstGeom prst="roundRect">
            <a:avLst>
              <a:gd name="adj" fmla="val 18750"/>
            </a:avLst>
          </a:prstGeom>
          <a:solidFill>
            <a:srgbClr val="22A66F"/>
          </a:solidFill>
          <a:ln w="9525">
            <a:solidFill>
              <a:srgbClr val="22A6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322576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MEETS EXPECTATIONS</a:t>
            </a:r>
            <a:endParaRPr lang="en-US" sz="580" dirty="0"/>
          </a:p>
        </p:txBody>
      </p:sp>
      <p:sp>
        <p:nvSpPr>
          <p:cNvPr id="20" name="Shape 18"/>
          <p:cNvSpPr/>
          <p:nvPr/>
        </p:nvSpPr>
        <p:spPr>
          <a:xfrm>
            <a:off x="3383280" y="1042416"/>
            <a:ext cx="2606040" cy="1719072"/>
          </a:xfrm>
          <a:prstGeom prst="roundRect">
            <a:avLst>
              <a:gd name="adj" fmla="val 4255"/>
            </a:avLst>
          </a:prstGeom>
          <a:solidFill>
            <a:srgbClr val="FFF5D9"/>
          </a:solidFill>
          <a:ln w="12700">
            <a:solidFill>
              <a:srgbClr val="E2A100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83280" y="1042416"/>
            <a:ext cx="2606040" cy="64008"/>
          </a:xfrm>
          <a:prstGeom prst="rect">
            <a:avLst/>
          </a:prstGeom>
          <a:solidFill>
            <a:srgbClr val="E2A100"/>
          </a:solidFill>
          <a:ln w="8890">
            <a:solidFill>
              <a:srgbClr val="E2A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7872" y="1261872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n-US" sz="1140" dirty="0"/>
          </a:p>
        </p:txBody>
      </p:sp>
      <p:sp>
        <p:nvSpPr>
          <p:cNvPr id="23" name="Text 21"/>
          <p:cNvSpPr/>
          <p:nvPr/>
        </p:nvSpPr>
        <p:spPr>
          <a:xfrm>
            <a:off x="3547872" y="1664208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80.3%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3566160" y="201168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performance</a:t>
            </a:r>
            <a:endParaRPr lang="en-US" sz="670" dirty="0"/>
          </a:p>
        </p:txBody>
      </p:sp>
      <p:sp>
        <p:nvSpPr>
          <p:cNvPr id="25" name="Text 23"/>
          <p:cNvSpPr/>
          <p:nvPr/>
        </p:nvSpPr>
        <p:spPr>
          <a:xfrm>
            <a:off x="4983480" y="1645920"/>
            <a:ext cx="8595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9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Baseline: 80.4%</a:t>
            </a:r>
            <a:endParaRPr lang="en-US" sz="590" dirty="0"/>
          </a:p>
        </p:txBody>
      </p:sp>
      <p:sp>
        <p:nvSpPr>
          <p:cNvPr id="26" name="Text 24"/>
          <p:cNvSpPr/>
          <p:nvPr/>
        </p:nvSpPr>
        <p:spPr>
          <a:xfrm>
            <a:off x="4983480" y="1883664"/>
            <a:ext cx="8595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9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MoM: +0.5%</a:t>
            </a:r>
            <a:endParaRPr lang="en-US" sz="590" dirty="0"/>
          </a:p>
        </p:txBody>
      </p:sp>
      <p:sp>
        <p:nvSpPr>
          <p:cNvPr id="27" name="Text 25"/>
          <p:cNvSpPr/>
          <p:nvPr/>
        </p:nvSpPr>
        <p:spPr>
          <a:xfrm>
            <a:off x="4754880" y="2377440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6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100.0%</a:t>
            </a:r>
            <a:endParaRPr lang="en-US" sz="560" dirty="0"/>
          </a:p>
        </p:txBody>
      </p:sp>
      <p:sp>
        <p:nvSpPr>
          <p:cNvPr id="28" name="Shape 26"/>
          <p:cNvSpPr/>
          <p:nvPr/>
        </p:nvSpPr>
        <p:spPr>
          <a:xfrm>
            <a:off x="3566160" y="2267712"/>
            <a:ext cx="987552" cy="292608"/>
          </a:xfrm>
          <a:prstGeom prst="roundRect">
            <a:avLst>
              <a:gd name="adj" fmla="val 18750"/>
            </a:avLst>
          </a:prstGeom>
          <a:solidFill>
            <a:srgbClr val="E2A100"/>
          </a:solidFill>
          <a:ln w="9525">
            <a:solidFill>
              <a:srgbClr val="E2A1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11880" y="2322576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</a:t>
            </a:r>
            <a:endParaRPr lang="en-US" sz="580" dirty="0"/>
          </a:p>
        </p:txBody>
      </p:sp>
      <p:sp>
        <p:nvSpPr>
          <p:cNvPr id="30" name="Shape 28"/>
          <p:cNvSpPr/>
          <p:nvPr/>
        </p:nvSpPr>
        <p:spPr>
          <a:xfrm>
            <a:off x="6263640" y="1042416"/>
            <a:ext cx="2606040" cy="1719072"/>
          </a:xfrm>
          <a:prstGeom prst="roundRect">
            <a:avLst>
              <a:gd name="adj" fmla="val 4255"/>
            </a:avLst>
          </a:prstGeom>
          <a:solidFill>
            <a:srgbClr val="FFF5D9"/>
          </a:solidFill>
          <a:ln w="12700">
            <a:solidFill>
              <a:srgbClr val="E2A100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63640" y="1042416"/>
            <a:ext cx="2606040" cy="64008"/>
          </a:xfrm>
          <a:prstGeom prst="rect">
            <a:avLst/>
          </a:prstGeom>
          <a:solidFill>
            <a:srgbClr val="E2A100"/>
          </a:solidFill>
          <a:ln w="8890">
            <a:solidFill>
              <a:srgbClr val="E2A1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1261872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Center – Outbound</a:t>
            </a:r>
            <a:endParaRPr lang="en-US" sz="1140" dirty="0"/>
          </a:p>
        </p:txBody>
      </p:sp>
      <p:sp>
        <p:nvSpPr>
          <p:cNvPr id="33" name="Text 31"/>
          <p:cNvSpPr/>
          <p:nvPr/>
        </p:nvSpPr>
        <p:spPr>
          <a:xfrm>
            <a:off x="6428232" y="1664208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80.1%</a:t>
            </a:r>
            <a:endParaRPr lang="en-US" sz="1850" dirty="0"/>
          </a:p>
        </p:txBody>
      </p:sp>
      <p:sp>
        <p:nvSpPr>
          <p:cNvPr id="34" name="Text 32"/>
          <p:cNvSpPr/>
          <p:nvPr/>
        </p:nvSpPr>
        <p:spPr>
          <a:xfrm>
            <a:off x="6446520" y="201168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performance</a:t>
            </a:r>
            <a:endParaRPr lang="en-US" sz="670" dirty="0"/>
          </a:p>
        </p:txBody>
      </p:sp>
      <p:sp>
        <p:nvSpPr>
          <p:cNvPr id="35" name="Text 33"/>
          <p:cNvSpPr/>
          <p:nvPr/>
        </p:nvSpPr>
        <p:spPr>
          <a:xfrm>
            <a:off x="7863840" y="1645920"/>
            <a:ext cx="8595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9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Baseline: 76.77%</a:t>
            </a:r>
            <a:endParaRPr lang="en-US" sz="590" dirty="0"/>
          </a:p>
        </p:txBody>
      </p:sp>
      <p:sp>
        <p:nvSpPr>
          <p:cNvPr id="36" name="Text 34"/>
          <p:cNvSpPr/>
          <p:nvPr/>
        </p:nvSpPr>
        <p:spPr>
          <a:xfrm>
            <a:off x="7863840" y="1883664"/>
            <a:ext cx="8595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9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MoM: +3.3%</a:t>
            </a:r>
            <a:endParaRPr lang="en-US" sz="590" dirty="0"/>
          </a:p>
        </p:txBody>
      </p:sp>
      <p:sp>
        <p:nvSpPr>
          <p:cNvPr id="37" name="Text 35"/>
          <p:cNvSpPr/>
          <p:nvPr/>
        </p:nvSpPr>
        <p:spPr>
          <a:xfrm>
            <a:off x="7635240" y="2377440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6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Team Avg</a:t>
            </a:r>
            <a:endParaRPr lang="en-US" sz="560" dirty="0"/>
          </a:p>
        </p:txBody>
      </p:sp>
      <p:sp>
        <p:nvSpPr>
          <p:cNvPr id="38" name="Shape 36"/>
          <p:cNvSpPr/>
          <p:nvPr/>
        </p:nvSpPr>
        <p:spPr>
          <a:xfrm>
            <a:off x="6446520" y="2267712"/>
            <a:ext cx="987552" cy="292608"/>
          </a:xfrm>
          <a:prstGeom prst="roundRect">
            <a:avLst>
              <a:gd name="adj" fmla="val 18750"/>
            </a:avLst>
          </a:prstGeom>
          <a:solidFill>
            <a:srgbClr val="E2A100"/>
          </a:solidFill>
          <a:ln w="9525">
            <a:solidFill>
              <a:srgbClr val="E2A1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2322576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</a:t>
            </a:r>
            <a:endParaRPr lang="en-US" sz="580" dirty="0"/>
          </a:p>
        </p:txBody>
      </p:sp>
      <p:sp>
        <p:nvSpPr>
          <p:cNvPr id="40" name="Shape 38"/>
          <p:cNvSpPr/>
          <p:nvPr/>
        </p:nvSpPr>
        <p:spPr>
          <a:xfrm>
            <a:off x="9144000" y="1042416"/>
            <a:ext cx="2606040" cy="1719072"/>
          </a:xfrm>
          <a:prstGeom prst="roundRect">
            <a:avLst>
              <a:gd name="adj" fmla="val 4255"/>
            </a:avLst>
          </a:prstGeom>
          <a:solidFill>
            <a:srgbClr val="FCE8EA"/>
          </a:solidFill>
          <a:ln w="12700">
            <a:solidFill>
              <a:srgbClr val="D53F49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144000" y="1042416"/>
            <a:ext cx="2606040" cy="64008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308592" y="1261872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RCM – Approvals</a:t>
            </a:r>
            <a:endParaRPr lang="en-US" sz="1140" dirty="0"/>
          </a:p>
        </p:txBody>
      </p:sp>
      <p:sp>
        <p:nvSpPr>
          <p:cNvPr id="43" name="Text 41"/>
          <p:cNvSpPr/>
          <p:nvPr/>
        </p:nvSpPr>
        <p:spPr>
          <a:xfrm>
            <a:off x="9308592" y="1664208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64.0%</a:t>
            </a:r>
            <a:endParaRPr lang="en-US" sz="1850" dirty="0"/>
          </a:p>
        </p:txBody>
      </p:sp>
      <p:sp>
        <p:nvSpPr>
          <p:cNvPr id="44" name="Text 42"/>
          <p:cNvSpPr/>
          <p:nvPr/>
        </p:nvSpPr>
        <p:spPr>
          <a:xfrm>
            <a:off x="9326880" y="201168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performance</a:t>
            </a:r>
            <a:endParaRPr lang="en-US" sz="670" dirty="0"/>
          </a:p>
        </p:txBody>
      </p:sp>
      <p:sp>
        <p:nvSpPr>
          <p:cNvPr id="45" name="Text 43"/>
          <p:cNvSpPr/>
          <p:nvPr/>
        </p:nvSpPr>
        <p:spPr>
          <a:xfrm>
            <a:off x="10744200" y="1645920"/>
            <a:ext cx="8595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9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Baseline: 68.5%</a:t>
            </a:r>
            <a:endParaRPr lang="en-US" sz="590" dirty="0"/>
          </a:p>
        </p:txBody>
      </p:sp>
      <p:sp>
        <p:nvSpPr>
          <p:cNvPr id="46" name="Text 44"/>
          <p:cNvSpPr/>
          <p:nvPr/>
        </p:nvSpPr>
        <p:spPr>
          <a:xfrm>
            <a:off x="10744200" y="1883664"/>
            <a:ext cx="8595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9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MoM: -4.5%</a:t>
            </a:r>
            <a:endParaRPr lang="en-US" sz="590" dirty="0"/>
          </a:p>
        </p:txBody>
      </p:sp>
      <p:sp>
        <p:nvSpPr>
          <p:cNvPr id="47" name="Text 45"/>
          <p:cNvSpPr/>
          <p:nvPr/>
        </p:nvSpPr>
        <p:spPr>
          <a:xfrm>
            <a:off x="10515600" y="2377440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6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≥89%</a:t>
            </a:r>
            <a:endParaRPr lang="en-US" sz="560" dirty="0"/>
          </a:p>
        </p:txBody>
      </p:sp>
      <p:sp>
        <p:nvSpPr>
          <p:cNvPr id="48" name="Shape 46"/>
          <p:cNvSpPr/>
          <p:nvPr/>
        </p:nvSpPr>
        <p:spPr>
          <a:xfrm>
            <a:off x="9326880" y="2267712"/>
            <a:ext cx="987552" cy="292608"/>
          </a:xfrm>
          <a:prstGeom prst="roundRect">
            <a:avLst>
              <a:gd name="adj" fmla="val 18750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372600" y="2322576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URGENT</a:t>
            </a:r>
            <a:endParaRPr lang="en-US" sz="580" dirty="0"/>
          </a:p>
        </p:txBody>
      </p:sp>
      <p:sp>
        <p:nvSpPr>
          <p:cNvPr id="50" name="Shape 48"/>
          <p:cNvSpPr/>
          <p:nvPr/>
        </p:nvSpPr>
        <p:spPr>
          <a:xfrm>
            <a:off x="502920" y="3090672"/>
            <a:ext cx="11201400" cy="502920"/>
          </a:xfrm>
          <a:prstGeom prst="roundRect">
            <a:avLst>
              <a:gd name="adj" fmla="val 10909"/>
            </a:avLst>
          </a:prstGeom>
          <a:solidFill>
            <a:srgbClr val="FFF7E7"/>
          </a:solidFill>
          <a:ln w="9525">
            <a:solidFill>
              <a:srgbClr val="F0C36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1520" y="3273552"/>
            <a:ext cx="10744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takeaway: Inbound is the strongest team; Marketing and Outbound are watch areas; RCM remains the highest-risk department requiring urgent control.</a:t>
            </a:r>
            <a:endParaRPr lang="en-US" sz="980" dirty="0"/>
          </a:p>
        </p:txBody>
      </p:sp>
      <p:sp>
        <p:nvSpPr>
          <p:cNvPr id="52" name="Text 50"/>
          <p:cNvSpPr/>
          <p:nvPr/>
        </p:nvSpPr>
        <p:spPr>
          <a:xfrm>
            <a:off x="502920" y="3913632"/>
            <a:ext cx="1120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Department-Level Action View</a:t>
            </a:r>
            <a:endParaRPr lang="en-US" sz="1350" dirty="0"/>
          </a:p>
        </p:txBody>
      </p:sp>
      <p:sp>
        <p:nvSpPr>
          <p:cNvPr id="53" name="Shape 51"/>
          <p:cNvSpPr/>
          <p:nvPr/>
        </p:nvSpPr>
        <p:spPr>
          <a:xfrm>
            <a:off x="502920" y="4224528"/>
            <a:ext cx="11201400" cy="36576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02920" y="4443984"/>
            <a:ext cx="2016252" cy="393192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9496" y="4498848"/>
            <a:ext cx="194310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2519172" y="4443984"/>
            <a:ext cx="1680210" cy="393192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55748" y="4498848"/>
            <a:ext cx="1607058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Performance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4199382" y="4443984"/>
            <a:ext cx="1344168" cy="393192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35958" y="4498848"/>
            <a:ext cx="1271016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720" dirty="0"/>
          </a:p>
        </p:txBody>
      </p:sp>
      <p:sp>
        <p:nvSpPr>
          <p:cNvPr id="60" name="Shape 58"/>
          <p:cNvSpPr/>
          <p:nvPr/>
        </p:nvSpPr>
        <p:spPr>
          <a:xfrm>
            <a:off x="5543550" y="4443984"/>
            <a:ext cx="1120140" cy="393192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80126" y="4498848"/>
            <a:ext cx="1046988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</a:t>
            </a:r>
            <a:endParaRPr lang="en-US" sz="720" dirty="0"/>
          </a:p>
        </p:txBody>
      </p:sp>
      <p:sp>
        <p:nvSpPr>
          <p:cNvPr id="62" name="Shape 60"/>
          <p:cNvSpPr/>
          <p:nvPr/>
        </p:nvSpPr>
        <p:spPr>
          <a:xfrm>
            <a:off x="6663690" y="4443984"/>
            <a:ext cx="2800350" cy="393192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00266" y="4498848"/>
            <a:ext cx="2727198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KPI Gaps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9464040" y="4443984"/>
            <a:ext cx="2240280" cy="393192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500616" y="4498848"/>
            <a:ext cx="2167128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Focus</a:t>
            </a:r>
            <a:endParaRPr lang="en-US" sz="720" dirty="0"/>
          </a:p>
        </p:txBody>
      </p:sp>
      <p:sp>
        <p:nvSpPr>
          <p:cNvPr id="66" name="Shape 64"/>
          <p:cNvSpPr/>
          <p:nvPr/>
        </p:nvSpPr>
        <p:spPr>
          <a:xfrm>
            <a:off x="502920" y="4837176"/>
            <a:ext cx="2016252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39496" y="4892040"/>
            <a:ext cx="19431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Center – Inbound</a:t>
            </a:r>
            <a:endParaRPr lang="en-US" sz="710" dirty="0"/>
          </a:p>
        </p:txBody>
      </p:sp>
      <p:sp>
        <p:nvSpPr>
          <p:cNvPr id="68" name="Shape 66"/>
          <p:cNvSpPr/>
          <p:nvPr/>
        </p:nvSpPr>
        <p:spPr>
          <a:xfrm>
            <a:off x="2519172" y="4837176"/>
            <a:ext cx="168021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555748" y="4892040"/>
            <a:ext cx="1607058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91.7%</a:t>
            </a:r>
            <a:endParaRPr lang="en-US" sz="710" dirty="0"/>
          </a:p>
        </p:txBody>
      </p:sp>
      <p:sp>
        <p:nvSpPr>
          <p:cNvPr id="70" name="Shape 68"/>
          <p:cNvSpPr/>
          <p:nvPr/>
        </p:nvSpPr>
        <p:spPr>
          <a:xfrm>
            <a:off x="4199382" y="4837176"/>
            <a:ext cx="1344168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35958" y="4892040"/>
            <a:ext cx="1271016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92.1%</a:t>
            </a:r>
            <a:endParaRPr lang="en-US" sz="710" dirty="0"/>
          </a:p>
        </p:txBody>
      </p:sp>
      <p:sp>
        <p:nvSpPr>
          <p:cNvPr id="72" name="Shape 70"/>
          <p:cNvSpPr/>
          <p:nvPr/>
        </p:nvSpPr>
        <p:spPr>
          <a:xfrm>
            <a:off x="5543550" y="4837176"/>
            <a:ext cx="11201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580126" y="4892040"/>
            <a:ext cx="1046988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-0.5%</a:t>
            </a:r>
            <a:endParaRPr lang="en-US" sz="710" dirty="0"/>
          </a:p>
        </p:txBody>
      </p:sp>
      <p:sp>
        <p:nvSpPr>
          <p:cNvPr id="74" name="Shape 72"/>
          <p:cNvSpPr/>
          <p:nvPr/>
        </p:nvSpPr>
        <p:spPr>
          <a:xfrm>
            <a:off x="6663690" y="4837176"/>
            <a:ext cx="280035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700266" y="4892040"/>
            <a:ext cx="2727198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 CR 55.9% / Attend CR 68.0%</a:t>
            </a:r>
            <a:endParaRPr lang="en-US" sz="710" dirty="0"/>
          </a:p>
        </p:txBody>
      </p:sp>
      <p:sp>
        <p:nvSpPr>
          <p:cNvPr id="76" name="Shape 74"/>
          <p:cNvSpPr/>
          <p:nvPr/>
        </p:nvSpPr>
        <p:spPr>
          <a:xfrm>
            <a:off x="9464040" y="4837176"/>
            <a:ext cx="224028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500616" y="4892040"/>
            <a:ext cx="2167128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and confirmation coaching</a:t>
            </a:r>
            <a:endParaRPr lang="en-US" sz="710" dirty="0"/>
          </a:p>
        </p:txBody>
      </p:sp>
      <p:sp>
        <p:nvSpPr>
          <p:cNvPr id="78" name="Shape 76"/>
          <p:cNvSpPr/>
          <p:nvPr/>
        </p:nvSpPr>
        <p:spPr>
          <a:xfrm>
            <a:off x="502920" y="5221224"/>
            <a:ext cx="2016252" cy="384048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39496" y="5276088"/>
            <a:ext cx="19431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n-US" sz="710" dirty="0"/>
          </a:p>
        </p:txBody>
      </p:sp>
      <p:sp>
        <p:nvSpPr>
          <p:cNvPr id="80" name="Shape 78"/>
          <p:cNvSpPr/>
          <p:nvPr/>
        </p:nvSpPr>
        <p:spPr>
          <a:xfrm>
            <a:off x="2519172" y="5221224"/>
            <a:ext cx="1680210" cy="384048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555748" y="5276088"/>
            <a:ext cx="1607058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80.3%</a:t>
            </a:r>
            <a:endParaRPr lang="en-US" sz="710" dirty="0"/>
          </a:p>
        </p:txBody>
      </p:sp>
      <p:sp>
        <p:nvSpPr>
          <p:cNvPr id="82" name="Shape 80"/>
          <p:cNvSpPr/>
          <p:nvPr/>
        </p:nvSpPr>
        <p:spPr>
          <a:xfrm>
            <a:off x="4199382" y="5221224"/>
            <a:ext cx="1344168" cy="384048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235958" y="5276088"/>
            <a:ext cx="1271016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80.4%</a:t>
            </a:r>
            <a:endParaRPr lang="en-US" sz="710" dirty="0"/>
          </a:p>
        </p:txBody>
      </p:sp>
      <p:sp>
        <p:nvSpPr>
          <p:cNvPr id="84" name="Shape 82"/>
          <p:cNvSpPr/>
          <p:nvPr/>
        </p:nvSpPr>
        <p:spPr>
          <a:xfrm>
            <a:off x="5543550" y="5221224"/>
            <a:ext cx="1120140" cy="384048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580126" y="5276088"/>
            <a:ext cx="1046988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+0.5%</a:t>
            </a:r>
            <a:endParaRPr lang="en-US" sz="710" dirty="0"/>
          </a:p>
        </p:txBody>
      </p:sp>
      <p:sp>
        <p:nvSpPr>
          <p:cNvPr id="86" name="Shape 84"/>
          <p:cNvSpPr/>
          <p:nvPr/>
        </p:nvSpPr>
        <p:spPr>
          <a:xfrm>
            <a:off x="6663690" y="5221224"/>
            <a:ext cx="2800350" cy="384048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700266" y="5276088"/>
            <a:ext cx="2727198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 57.0% loss / 5 employees &lt;70%</a:t>
            </a:r>
            <a:endParaRPr lang="en-US" sz="710" dirty="0"/>
          </a:p>
        </p:txBody>
      </p:sp>
      <p:sp>
        <p:nvSpPr>
          <p:cNvPr id="88" name="Shape 86"/>
          <p:cNvSpPr/>
          <p:nvPr/>
        </p:nvSpPr>
        <p:spPr>
          <a:xfrm>
            <a:off x="9464040" y="5221224"/>
            <a:ext cx="2240280" cy="384048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500616" y="5276088"/>
            <a:ext cx="2167128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Time, CR, Leads ownership</a:t>
            </a:r>
            <a:endParaRPr lang="en-US" sz="710" dirty="0"/>
          </a:p>
        </p:txBody>
      </p:sp>
      <p:sp>
        <p:nvSpPr>
          <p:cNvPr id="90" name="Shape 88"/>
          <p:cNvSpPr/>
          <p:nvPr/>
        </p:nvSpPr>
        <p:spPr>
          <a:xfrm>
            <a:off x="502920" y="5605272"/>
            <a:ext cx="2016252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39496" y="5660136"/>
            <a:ext cx="19431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Center – Outbound</a:t>
            </a:r>
            <a:endParaRPr lang="en-US" sz="710" dirty="0"/>
          </a:p>
        </p:txBody>
      </p:sp>
      <p:sp>
        <p:nvSpPr>
          <p:cNvPr id="92" name="Shape 90"/>
          <p:cNvSpPr/>
          <p:nvPr/>
        </p:nvSpPr>
        <p:spPr>
          <a:xfrm>
            <a:off x="2519172" y="5605272"/>
            <a:ext cx="168021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555748" y="5660136"/>
            <a:ext cx="1607058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80.1%</a:t>
            </a:r>
            <a:endParaRPr lang="en-US" sz="710" dirty="0"/>
          </a:p>
        </p:txBody>
      </p:sp>
      <p:sp>
        <p:nvSpPr>
          <p:cNvPr id="94" name="Shape 92"/>
          <p:cNvSpPr/>
          <p:nvPr/>
        </p:nvSpPr>
        <p:spPr>
          <a:xfrm>
            <a:off x="4199382" y="5605272"/>
            <a:ext cx="1344168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235958" y="5660136"/>
            <a:ext cx="1271016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76.77%</a:t>
            </a:r>
            <a:endParaRPr lang="en-US" sz="710" dirty="0"/>
          </a:p>
        </p:txBody>
      </p:sp>
      <p:sp>
        <p:nvSpPr>
          <p:cNvPr id="96" name="Shape 94"/>
          <p:cNvSpPr/>
          <p:nvPr/>
        </p:nvSpPr>
        <p:spPr>
          <a:xfrm>
            <a:off x="5543550" y="5605272"/>
            <a:ext cx="11201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580126" y="5660136"/>
            <a:ext cx="1046988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+3.3%</a:t>
            </a:r>
            <a:endParaRPr lang="en-US" sz="710" dirty="0"/>
          </a:p>
        </p:txBody>
      </p:sp>
      <p:sp>
        <p:nvSpPr>
          <p:cNvPr id="98" name="Shape 96"/>
          <p:cNvSpPr/>
          <p:nvPr/>
        </p:nvSpPr>
        <p:spPr>
          <a:xfrm>
            <a:off x="6663690" y="5605272"/>
            <a:ext cx="280035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700266" y="5660136"/>
            <a:ext cx="2727198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 CR 17.3% / Reachability 56.6%</a:t>
            </a:r>
            <a:endParaRPr lang="en-US" sz="710" dirty="0"/>
          </a:p>
        </p:txBody>
      </p:sp>
      <p:sp>
        <p:nvSpPr>
          <p:cNvPr id="100" name="Shape 98"/>
          <p:cNvSpPr/>
          <p:nvPr/>
        </p:nvSpPr>
        <p:spPr>
          <a:xfrm>
            <a:off x="9464040" y="5605272"/>
            <a:ext cx="224028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9500616" y="5660136"/>
            <a:ext cx="2167128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Reachability, closing and attendance discipline</a:t>
            </a:r>
            <a:endParaRPr lang="en-US" sz="710" dirty="0"/>
          </a:p>
        </p:txBody>
      </p:sp>
      <p:sp>
        <p:nvSpPr>
          <p:cNvPr id="102" name="Shape 100"/>
          <p:cNvSpPr/>
          <p:nvPr/>
        </p:nvSpPr>
        <p:spPr>
          <a:xfrm>
            <a:off x="502920" y="5989320"/>
            <a:ext cx="2016252" cy="384048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39496" y="6044184"/>
            <a:ext cx="19431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RCM – Approvals</a:t>
            </a:r>
            <a:endParaRPr lang="en-US" sz="710" dirty="0"/>
          </a:p>
        </p:txBody>
      </p:sp>
      <p:sp>
        <p:nvSpPr>
          <p:cNvPr id="104" name="Shape 102"/>
          <p:cNvSpPr/>
          <p:nvPr/>
        </p:nvSpPr>
        <p:spPr>
          <a:xfrm>
            <a:off x="2519172" y="5989320"/>
            <a:ext cx="1680210" cy="384048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555748" y="6044184"/>
            <a:ext cx="1607058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64.0%</a:t>
            </a:r>
            <a:endParaRPr lang="en-US" sz="710" dirty="0"/>
          </a:p>
        </p:txBody>
      </p:sp>
      <p:sp>
        <p:nvSpPr>
          <p:cNvPr id="106" name="Shape 104"/>
          <p:cNvSpPr/>
          <p:nvPr/>
        </p:nvSpPr>
        <p:spPr>
          <a:xfrm>
            <a:off x="4199382" y="5989320"/>
            <a:ext cx="1344168" cy="384048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235958" y="6044184"/>
            <a:ext cx="1271016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68.5%</a:t>
            </a:r>
            <a:endParaRPr lang="en-US" sz="710" dirty="0"/>
          </a:p>
        </p:txBody>
      </p:sp>
      <p:sp>
        <p:nvSpPr>
          <p:cNvPr id="108" name="Shape 106"/>
          <p:cNvSpPr/>
          <p:nvPr/>
        </p:nvSpPr>
        <p:spPr>
          <a:xfrm>
            <a:off x="5543550" y="5989320"/>
            <a:ext cx="1120140" cy="384048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580126" y="6044184"/>
            <a:ext cx="1046988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-4.5%</a:t>
            </a:r>
            <a:endParaRPr lang="en-US" sz="710" dirty="0"/>
          </a:p>
        </p:txBody>
      </p:sp>
      <p:sp>
        <p:nvSpPr>
          <p:cNvPr id="110" name="Shape 108"/>
          <p:cNvSpPr/>
          <p:nvPr/>
        </p:nvSpPr>
        <p:spPr>
          <a:xfrm>
            <a:off x="6663690" y="5989320"/>
            <a:ext cx="2800350" cy="384048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700266" y="6044184"/>
            <a:ext cx="2727198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 75% / Rejection 8.1%</a:t>
            </a:r>
            <a:endParaRPr lang="en-US" sz="710" dirty="0"/>
          </a:p>
        </p:txBody>
      </p:sp>
      <p:sp>
        <p:nvSpPr>
          <p:cNvPr id="112" name="Shape 110"/>
          <p:cNvSpPr/>
          <p:nvPr/>
        </p:nvSpPr>
        <p:spPr>
          <a:xfrm>
            <a:off x="9464040" y="5989320"/>
            <a:ext cx="2240280" cy="384048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9500616" y="6044184"/>
            <a:ext cx="2167128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Checklist, aging queue and rejection review</a:t>
            </a:r>
            <a:endParaRPr lang="en-US" sz="7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2801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Combined Priority Map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56616" y="512064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order across departments based on risk and performance gaps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8854135" y="22860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2026  |  SGH Offshore Branch  |  03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EF5"/>
          </a:solidFill>
          <a:ln w="8890">
            <a:solidFill>
              <a:srgbClr val="E8EE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6693408"/>
            <a:ext cx="228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— INTERNAL USE ONLY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61343" y="6693408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>
            <a:off x="502920" y="109728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CE8EA"/>
          </a:solidFill>
          <a:ln w="9525">
            <a:solidFill>
              <a:srgbClr val="D53F49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097280"/>
            <a:ext cx="73152" cy="1600200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128016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RCM – Approvals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60520" y="12618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88" y="162763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Urgent: performance and SLA gaps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" y="1938528"/>
            <a:ext cx="4526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Rejection 8.1% vs ≤3% target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822960" y="2157984"/>
            <a:ext cx="4526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Approval within 48h 75% vs 90% target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822960" y="2377440"/>
            <a:ext cx="4526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4 unsatisfactory employees under action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6217920" y="109728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FF5D9"/>
          </a:solidFill>
          <a:ln w="9525">
            <a:solidFill>
              <a:srgbClr val="E2A100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097280"/>
            <a:ext cx="73152" cy="1600200"/>
          </a:xfrm>
          <a:prstGeom prst="rect">
            <a:avLst/>
          </a:prstGeom>
          <a:solidFill>
            <a:srgbClr val="E2A100"/>
          </a:solidFill>
          <a:ln w="8890">
            <a:solidFill>
              <a:srgbClr val="E2A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128016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Marketing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875520" y="12618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80.3%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19088" y="162763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Watch: 5 employees below 70%</a:t>
            </a:r>
            <a:endParaRPr lang="en-US" sz="810" dirty="0"/>
          </a:p>
        </p:txBody>
      </p:sp>
      <p:sp>
        <p:nvSpPr>
          <p:cNvPr id="23" name="Text 21"/>
          <p:cNvSpPr/>
          <p:nvPr/>
        </p:nvSpPr>
        <p:spPr>
          <a:xfrm>
            <a:off x="6537960" y="1938528"/>
            <a:ext cx="4526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Response Time creates 57.0% weighted loss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6537960" y="2157984"/>
            <a:ext cx="4526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Media Buyer role is lowest at 50.8%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6537960" y="2377440"/>
            <a:ext cx="4526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 and Leads require ownership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502920" y="315468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FF5D9"/>
          </a:solidFill>
          <a:ln w="9525">
            <a:solidFill>
              <a:srgbClr val="E2A100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3154680"/>
            <a:ext cx="73152" cy="1600200"/>
          </a:xfrm>
          <a:prstGeom prst="rect">
            <a:avLst/>
          </a:prstGeom>
          <a:solidFill>
            <a:srgbClr val="E2A100"/>
          </a:solidFill>
          <a:ln w="8890">
            <a:solidFill>
              <a:srgbClr val="E2A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" y="333756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Outbound Call Center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160520" y="33192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80.1%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4088" y="368503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Average: core conversion gaps</a:t>
            </a:r>
            <a:endParaRPr lang="en-US" sz="810" dirty="0"/>
          </a:p>
        </p:txBody>
      </p:sp>
      <p:sp>
        <p:nvSpPr>
          <p:cNvPr id="31" name="Text 29"/>
          <p:cNvSpPr/>
          <p:nvPr/>
        </p:nvSpPr>
        <p:spPr>
          <a:xfrm>
            <a:off x="822960" y="3995928"/>
            <a:ext cx="4526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Booking 17.3% vs 30% target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822960" y="4215384"/>
            <a:ext cx="4526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Reachability 56.6% vs 75% target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822960" y="4434840"/>
            <a:ext cx="4526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Bottom 3 need coaching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6217920" y="315468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E8F6EF"/>
          </a:solidFill>
          <a:ln w="9525">
            <a:solidFill>
              <a:srgbClr val="22A66F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3154680"/>
            <a:ext cx="73152" cy="1600200"/>
          </a:xfrm>
          <a:prstGeom prst="rect">
            <a:avLst/>
          </a:prstGeom>
          <a:solidFill>
            <a:srgbClr val="22A66F"/>
          </a:solidFill>
          <a:ln w="8890">
            <a:solidFill>
              <a:srgbClr val="22A66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19088" y="333756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Inbound Call Center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875520" y="33192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91.7%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19088" y="368503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but conversion below target</a:t>
            </a:r>
            <a:endParaRPr lang="en-US" sz="810" dirty="0"/>
          </a:p>
        </p:txBody>
      </p:sp>
      <p:sp>
        <p:nvSpPr>
          <p:cNvPr id="39" name="Text 37"/>
          <p:cNvSpPr/>
          <p:nvPr/>
        </p:nvSpPr>
        <p:spPr>
          <a:xfrm>
            <a:off x="6537960" y="3995928"/>
            <a:ext cx="4526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Booking 55.9% vs 65% target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6537960" y="4215384"/>
            <a:ext cx="4526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Attend 68.0% vs 75% target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6537960" y="4434840"/>
            <a:ext cx="4526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Protect utilization at 82.5%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502920" y="5440680"/>
            <a:ext cx="11201400" cy="502920"/>
          </a:xfrm>
          <a:prstGeom prst="roundRect">
            <a:avLst>
              <a:gd name="adj" fmla="val 10909"/>
            </a:avLst>
          </a:prstGeom>
          <a:solidFill>
            <a:srgbClr val="102941"/>
          </a:solidFill>
          <a:ln w="9525">
            <a:solidFill>
              <a:srgbClr val="10294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9808" y="5632704"/>
            <a:ext cx="10652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reading: this deck moves from branch-level risk to department detail, then employee-level evidence and corrective actions.</a:t>
            </a:r>
            <a:endParaRPr lang="en-US" sz="9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3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A66F"/>
          </a:solidFill>
          <a:ln w="8890">
            <a:solidFill>
              <a:srgbClr val="22A6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2A66F"/>
          </a:solidFill>
          <a:ln w="8890">
            <a:solidFill>
              <a:srgbClr val="22A6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896112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91B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640080" y="124358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Center – Inbound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658368" y="19202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8DC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overall performance; review conversion gaps and employee coaching actions.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7498080" y="969264"/>
            <a:ext cx="3611880" cy="4251960"/>
          </a:xfrm>
          <a:prstGeom prst="roundRect">
            <a:avLst>
              <a:gd name="adj" fmla="val 2025"/>
            </a:avLst>
          </a:prstGeom>
          <a:solidFill>
            <a:srgbClr val="123456"/>
          </a:solidFill>
          <a:ln w="9525">
            <a:solidFill>
              <a:srgbClr val="2A58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18120" y="131673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will review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18120" y="1810512"/>
            <a:ext cx="109728" cy="109728"/>
          </a:xfrm>
          <a:prstGeom prst="rect">
            <a:avLst/>
          </a:prstGeom>
          <a:solidFill>
            <a:srgbClr val="22A66F"/>
          </a:solidFill>
          <a:ln w="12700">
            <a:solidFill>
              <a:srgbClr val="22A6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173736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DCEA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KPI scorecards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7818120" y="2468880"/>
            <a:ext cx="109728" cy="109728"/>
          </a:xfrm>
          <a:prstGeom prst="rect">
            <a:avLst/>
          </a:prstGeom>
          <a:solidFill>
            <a:srgbClr val="22A66F"/>
          </a:solidFill>
          <a:ln w="12700">
            <a:solidFill>
              <a:srgbClr val="22A6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239572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DCEA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Employees under review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7818120" y="3127248"/>
            <a:ext cx="109728" cy="109728"/>
          </a:xfrm>
          <a:prstGeom prst="rect">
            <a:avLst/>
          </a:prstGeom>
          <a:solidFill>
            <a:srgbClr val="22A66F"/>
          </a:solidFill>
          <a:ln w="12700">
            <a:solidFill>
              <a:srgbClr val="22A6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305409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DCEA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causes and corrective actions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8854135" y="32004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2026  |  SGH Offshore Branch  |  04</a:t>
            </a:r>
            <a:endParaRPr lang="en-US" sz="770" dirty="0"/>
          </a:p>
        </p:txBody>
      </p:sp>
      <p:sp>
        <p:nvSpPr>
          <p:cNvPr id="17" name="Text 15"/>
          <p:cNvSpPr/>
          <p:nvPr/>
        </p:nvSpPr>
        <p:spPr>
          <a:xfrm>
            <a:off x="640080" y="6272784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8F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— INTERNAL USE ONLY</a:t>
            </a:r>
            <a:endParaRPr lang="en-US" sz="620" dirty="0"/>
          </a:p>
        </p:txBody>
      </p:sp>
      <p:sp>
        <p:nvSpPr>
          <p:cNvPr id="18" name="Text 16"/>
          <p:cNvSpPr/>
          <p:nvPr/>
        </p:nvSpPr>
        <p:spPr>
          <a:xfrm>
            <a:off x="11478463" y="627278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8F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6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2801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Center – Inbound | Jul 2026 Performance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56616" y="512064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performance, KPI baseline and MoM change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8854135" y="22860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2026  |  SGH Offshore Branch  |  05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EF5"/>
          </a:solidFill>
          <a:ln w="8890">
            <a:solidFill>
              <a:srgbClr val="E8EE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6693408"/>
            <a:ext cx="228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— INTERNAL USE ONLY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61343" y="6693408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>
            <a:off x="411480" y="932688"/>
            <a:ext cx="11384280" cy="329184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042416"/>
            <a:ext cx="3657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DEPARTMENT: Call Center – Inbound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02920" y="1554480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E8F6EF"/>
          </a:solidFill>
          <a:ln w="11430">
            <a:solidFill>
              <a:srgbClr val="22A66F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1554480"/>
            <a:ext cx="59436" cy="1170432"/>
          </a:xfrm>
          <a:prstGeom prst="rect">
            <a:avLst/>
          </a:prstGeom>
          <a:solidFill>
            <a:srgbClr val="22A66F"/>
          </a:solidFill>
          <a:ln w="8890">
            <a:solidFill>
              <a:srgbClr val="22A6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" y="1709928"/>
            <a:ext cx="2350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 Performance Score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630936" y="202996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4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91.7%</a:t>
            </a:r>
            <a:endParaRPr lang="en-US" sz="1640" dirty="0"/>
          </a:p>
        </p:txBody>
      </p:sp>
      <p:sp>
        <p:nvSpPr>
          <p:cNvPr id="16" name="Text 14"/>
          <p:cNvSpPr/>
          <p:nvPr/>
        </p:nvSpPr>
        <p:spPr>
          <a:xfrm>
            <a:off x="1965960" y="2020824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92.1%</a:t>
            </a:r>
            <a:endParaRPr lang="en-US" sz="620" dirty="0"/>
          </a:p>
        </p:txBody>
      </p:sp>
      <p:sp>
        <p:nvSpPr>
          <p:cNvPr id="17" name="Text 15"/>
          <p:cNvSpPr/>
          <p:nvPr/>
        </p:nvSpPr>
        <p:spPr>
          <a:xfrm>
            <a:off x="1965960" y="2221992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 -0.5%</a:t>
            </a:r>
            <a:endParaRPr lang="en-US" sz="620" dirty="0"/>
          </a:p>
        </p:txBody>
      </p:sp>
      <p:sp>
        <p:nvSpPr>
          <p:cNvPr id="18" name="Text 16"/>
          <p:cNvSpPr/>
          <p:nvPr/>
        </p:nvSpPr>
        <p:spPr>
          <a:xfrm>
            <a:off x="630936" y="2423160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Team Avg</a:t>
            </a:r>
            <a:endParaRPr lang="en-US" sz="620" dirty="0"/>
          </a:p>
        </p:txBody>
      </p:sp>
      <p:sp>
        <p:nvSpPr>
          <p:cNvPr id="19" name="Text 17"/>
          <p:cNvSpPr/>
          <p:nvPr/>
        </p:nvSpPr>
        <p:spPr>
          <a:xfrm>
            <a:off x="630936" y="2587752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Meets Expectations</a:t>
            </a:r>
            <a:endParaRPr lang="en-US" sz="620" dirty="0"/>
          </a:p>
        </p:txBody>
      </p:sp>
      <p:sp>
        <p:nvSpPr>
          <p:cNvPr id="20" name="Shape 18"/>
          <p:cNvSpPr/>
          <p:nvPr/>
        </p:nvSpPr>
        <p:spPr>
          <a:xfrm>
            <a:off x="3337560" y="1554480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FFF5D9"/>
          </a:solidFill>
          <a:ln w="11430">
            <a:solidFill>
              <a:srgbClr val="E2A100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37560" y="1554480"/>
            <a:ext cx="59436" cy="1170432"/>
          </a:xfrm>
          <a:prstGeom prst="rect">
            <a:avLst/>
          </a:prstGeom>
          <a:solidFill>
            <a:srgbClr val="E2A100"/>
          </a:solidFill>
          <a:ln w="8890">
            <a:solidFill>
              <a:srgbClr val="E2A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65576" y="1709928"/>
            <a:ext cx="2350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 Attend CR%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3465576" y="202996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4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68.0%</a:t>
            </a:r>
            <a:endParaRPr lang="en-US" sz="1640" dirty="0"/>
          </a:p>
        </p:txBody>
      </p:sp>
      <p:sp>
        <p:nvSpPr>
          <p:cNvPr id="24" name="Text 22"/>
          <p:cNvSpPr/>
          <p:nvPr/>
        </p:nvSpPr>
        <p:spPr>
          <a:xfrm>
            <a:off x="4800600" y="2020824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67.9%</a:t>
            </a:r>
            <a:endParaRPr lang="en-US" sz="620" dirty="0"/>
          </a:p>
        </p:txBody>
      </p:sp>
      <p:sp>
        <p:nvSpPr>
          <p:cNvPr id="25" name="Text 23"/>
          <p:cNvSpPr/>
          <p:nvPr/>
        </p:nvSpPr>
        <p:spPr>
          <a:xfrm>
            <a:off x="4800600" y="2221992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 +0.1%</a:t>
            </a:r>
            <a:endParaRPr lang="en-US" sz="620" dirty="0"/>
          </a:p>
        </p:txBody>
      </p:sp>
      <p:sp>
        <p:nvSpPr>
          <p:cNvPr id="26" name="Text 24"/>
          <p:cNvSpPr/>
          <p:nvPr/>
        </p:nvSpPr>
        <p:spPr>
          <a:xfrm>
            <a:off x="3465576" y="2423160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75%</a:t>
            </a:r>
            <a:endParaRPr lang="en-US" sz="620" dirty="0"/>
          </a:p>
        </p:txBody>
      </p:sp>
      <p:sp>
        <p:nvSpPr>
          <p:cNvPr id="27" name="Text 25"/>
          <p:cNvSpPr/>
          <p:nvPr/>
        </p:nvSpPr>
        <p:spPr>
          <a:xfrm>
            <a:off x="3465576" y="2587752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 target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6172200" y="1554480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FFF5D9"/>
          </a:solidFill>
          <a:ln w="11430">
            <a:solidFill>
              <a:srgbClr val="E2A100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72200" y="1554480"/>
            <a:ext cx="59436" cy="1170432"/>
          </a:xfrm>
          <a:prstGeom prst="rect">
            <a:avLst/>
          </a:prstGeom>
          <a:solidFill>
            <a:srgbClr val="E2A100"/>
          </a:solidFill>
          <a:ln w="8890">
            <a:solidFill>
              <a:srgbClr val="E2A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0216" y="1709928"/>
            <a:ext cx="2350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 Booking CR%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6300216" y="202996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4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55.9%</a:t>
            </a:r>
            <a:endParaRPr lang="en-US" sz="1640" dirty="0"/>
          </a:p>
        </p:txBody>
      </p:sp>
      <p:sp>
        <p:nvSpPr>
          <p:cNvPr id="32" name="Text 30"/>
          <p:cNvSpPr/>
          <p:nvPr/>
        </p:nvSpPr>
        <p:spPr>
          <a:xfrm>
            <a:off x="7635240" y="2020824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57.2%</a:t>
            </a:r>
            <a:endParaRPr lang="en-US" sz="620" dirty="0"/>
          </a:p>
        </p:txBody>
      </p:sp>
      <p:sp>
        <p:nvSpPr>
          <p:cNvPr id="33" name="Text 31"/>
          <p:cNvSpPr/>
          <p:nvPr/>
        </p:nvSpPr>
        <p:spPr>
          <a:xfrm>
            <a:off x="7635240" y="2221992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 -1.3%</a:t>
            </a:r>
            <a:endParaRPr lang="en-US" sz="620" dirty="0"/>
          </a:p>
        </p:txBody>
      </p:sp>
      <p:sp>
        <p:nvSpPr>
          <p:cNvPr id="34" name="Text 32"/>
          <p:cNvSpPr/>
          <p:nvPr/>
        </p:nvSpPr>
        <p:spPr>
          <a:xfrm>
            <a:off x="6300216" y="2423160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65%</a:t>
            </a:r>
            <a:endParaRPr lang="en-US" sz="620" dirty="0"/>
          </a:p>
        </p:txBody>
      </p:sp>
      <p:sp>
        <p:nvSpPr>
          <p:cNvPr id="35" name="Text 33"/>
          <p:cNvSpPr/>
          <p:nvPr/>
        </p:nvSpPr>
        <p:spPr>
          <a:xfrm>
            <a:off x="6300216" y="2587752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 target</a:t>
            </a:r>
            <a:endParaRPr lang="en-US" sz="620" dirty="0"/>
          </a:p>
        </p:txBody>
      </p:sp>
      <p:sp>
        <p:nvSpPr>
          <p:cNvPr id="36" name="Shape 34"/>
          <p:cNvSpPr/>
          <p:nvPr/>
        </p:nvSpPr>
        <p:spPr>
          <a:xfrm>
            <a:off x="9006840" y="1554480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E8F6EF"/>
          </a:solidFill>
          <a:ln w="11430">
            <a:solidFill>
              <a:srgbClr val="22A66F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006840" y="1554480"/>
            <a:ext cx="59436" cy="1170432"/>
          </a:xfrm>
          <a:prstGeom prst="rect">
            <a:avLst/>
          </a:prstGeom>
          <a:solidFill>
            <a:srgbClr val="22A66F"/>
          </a:solidFill>
          <a:ln w="8890">
            <a:solidFill>
              <a:srgbClr val="22A66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34856" y="1709928"/>
            <a:ext cx="2350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 Utilization%</a:t>
            </a:r>
            <a:endParaRPr lang="en-US" sz="840" dirty="0"/>
          </a:p>
        </p:txBody>
      </p:sp>
      <p:sp>
        <p:nvSpPr>
          <p:cNvPr id="39" name="Text 37"/>
          <p:cNvSpPr/>
          <p:nvPr/>
        </p:nvSpPr>
        <p:spPr>
          <a:xfrm>
            <a:off x="9134856" y="202996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4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82.5%</a:t>
            </a:r>
            <a:endParaRPr lang="en-US" sz="1640" dirty="0"/>
          </a:p>
        </p:txBody>
      </p:sp>
      <p:sp>
        <p:nvSpPr>
          <p:cNvPr id="40" name="Text 38"/>
          <p:cNvSpPr/>
          <p:nvPr/>
        </p:nvSpPr>
        <p:spPr>
          <a:xfrm>
            <a:off x="10469880" y="2020824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81.8%</a:t>
            </a:r>
            <a:endParaRPr lang="en-US" sz="620" dirty="0"/>
          </a:p>
        </p:txBody>
      </p:sp>
      <p:sp>
        <p:nvSpPr>
          <p:cNvPr id="41" name="Text 39"/>
          <p:cNvSpPr/>
          <p:nvPr/>
        </p:nvSpPr>
        <p:spPr>
          <a:xfrm>
            <a:off x="10469880" y="2221992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 +0.7%</a:t>
            </a:r>
            <a:endParaRPr lang="en-US" sz="620" dirty="0"/>
          </a:p>
        </p:txBody>
      </p:sp>
      <p:sp>
        <p:nvSpPr>
          <p:cNvPr id="42" name="Text 40"/>
          <p:cNvSpPr/>
          <p:nvPr/>
        </p:nvSpPr>
        <p:spPr>
          <a:xfrm>
            <a:off x="9134856" y="2423160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80%</a:t>
            </a:r>
            <a:endParaRPr lang="en-US" sz="620" dirty="0"/>
          </a:p>
        </p:txBody>
      </p:sp>
      <p:sp>
        <p:nvSpPr>
          <p:cNvPr id="43" name="Text 41"/>
          <p:cNvSpPr/>
          <p:nvPr/>
        </p:nvSpPr>
        <p:spPr>
          <a:xfrm>
            <a:off x="9134856" y="2587752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Above target</a:t>
            </a:r>
            <a:endParaRPr lang="en-US" sz="620" dirty="0"/>
          </a:p>
        </p:txBody>
      </p:sp>
      <p:sp>
        <p:nvSpPr>
          <p:cNvPr id="44" name="Text 42"/>
          <p:cNvSpPr/>
          <p:nvPr/>
        </p:nvSpPr>
        <p:spPr>
          <a:xfrm>
            <a:off x="502920" y="3273552"/>
            <a:ext cx="1120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Employees Under Review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502920" y="3584448"/>
            <a:ext cx="11201400" cy="36576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2920" y="3794760"/>
            <a:ext cx="3584448" cy="384048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9496" y="3849624"/>
            <a:ext cx="3511296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</a:t>
            </a:r>
            <a:endParaRPr lang="en-US" sz="740" dirty="0"/>
          </a:p>
        </p:txBody>
      </p:sp>
      <p:sp>
        <p:nvSpPr>
          <p:cNvPr id="48" name="Shape 46"/>
          <p:cNvSpPr/>
          <p:nvPr/>
        </p:nvSpPr>
        <p:spPr>
          <a:xfrm>
            <a:off x="4087368" y="3794760"/>
            <a:ext cx="1456182" cy="384048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23944" y="3849624"/>
            <a:ext cx="138303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5543550" y="3794760"/>
            <a:ext cx="1680210" cy="384048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80126" y="3849624"/>
            <a:ext cx="1607058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Grade</a:t>
            </a:r>
            <a:endParaRPr lang="en-US" sz="740" dirty="0"/>
          </a:p>
        </p:txBody>
      </p:sp>
      <p:sp>
        <p:nvSpPr>
          <p:cNvPr id="52" name="Shape 50"/>
          <p:cNvSpPr/>
          <p:nvPr/>
        </p:nvSpPr>
        <p:spPr>
          <a:xfrm>
            <a:off x="7223760" y="3794760"/>
            <a:ext cx="1568196" cy="384048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60336" y="3849624"/>
            <a:ext cx="149504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Attend CR%</a:t>
            </a:r>
            <a:endParaRPr lang="en-US" sz="740" dirty="0"/>
          </a:p>
        </p:txBody>
      </p:sp>
      <p:sp>
        <p:nvSpPr>
          <p:cNvPr id="54" name="Shape 52"/>
          <p:cNvSpPr/>
          <p:nvPr/>
        </p:nvSpPr>
        <p:spPr>
          <a:xfrm>
            <a:off x="8791956" y="3794760"/>
            <a:ext cx="1344168" cy="384048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828532" y="3849624"/>
            <a:ext cx="1271016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AHT</a:t>
            </a:r>
            <a:endParaRPr lang="en-US" sz="740" dirty="0"/>
          </a:p>
        </p:txBody>
      </p:sp>
      <p:sp>
        <p:nvSpPr>
          <p:cNvPr id="56" name="Shape 54"/>
          <p:cNvSpPr/>
          <p:nvPr/>
        </p:nvSpPr>
        <p:spPr>
          <a:xfrm>
            <a:off x="10136124" y="3794760"/>
            <a:ext cx="1568196" cy="384048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172700" y="3849624"/>
            <a:ext cx="149504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Booking%</a:t>
            </a:r>
            <a:endParaRPr lang="en-US" sz="740" dirty="0"/>
          </a:p>
        </p:txBody>
      </p:sp>
      <p:sp>
        <p:nvSpPr>
          <p:cNvPr id="58" name="Shape 56"/>
          <p:cNvSpPr/>
          <p:nvPr/>
        </p:nvSpPr>
        <p:spPr>
          <a:xfrm>
            <a:off x="502920" y="4178808"/>
            <a:ext cx="3584448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9496" y="4233672"/>
            <a:ext cx="351129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Mohamed Ahmed ibrahem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4087368" y="4178808"/>
            <a:ext cx="145618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23944" y="4233672"/>
            <a:ext cx="1383030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88.94%</a:t>
            </a:r>
            <a:endParaRPr lang="en-US" sz="740" dirty="0"/>
          </a:p>
        </p:txBody>
      </p:sp>
      <p:sp>
        <p:nvSpPr>
          <p:cNvPr id="62" name="Shape 60"/>
          <p:cNvSpPr/>
          <p:nvPr/>
        </p:nvSpPr>
        <p:spPr>
          <a:xfrm>
            <a:off x="5543550" y="4178808"/>
            <a:ext cx="1680210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80126" y="4233672"/>
            <a:ext cx="1607058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</a:t>
            </a:r>
            <a:endParaRPr lang="en-US" sz="740" dirty="0"/>
          </a:p>
        </p:txBody>
      </p:sp>
      <p:sp>
        <p:nvSpPr>
          <p:cNvPr id="64" name="Shape 62"/>
          <p:cNvSpPr/>
          <p:nvPr/>
        </p:nvSpPr>
        <p:spPr>
          <a:xfrm>
            <a:off x="7223760" y="4178808"/>
            <a:ext cx="1568196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260336" y="4233672"/>
            <a:ext cx="1495044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64.5%</a:t>
            </a:r>
            <a:endParaRPr lang="en-US" sz="740" dirty="0"/>
          </a:p>
        </p:txBody>
      </p:sp>
      <p:sp>
        <p:nvSpPr>
          <p:cNvPr id="66" name="Shape 64"/>
          <p:cNvSpPr/>
          <p:nvPr/>
        </p:nvSpPr>
        <p:spPr>
          <a:xfrm>
            <a:off x="8791956" y="4178808"/>
            <a:ext cx="1344168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828532" y="4233672"/>
            <a:ext cx="127101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40" dirty="0"/>
          </a:p>
        </p:txBody>
      </p:sp>
      <p:sp>
        <p:nvSpPr>
          <p:cNvPr id="68" name="Shape 66"/>
          <p:cNvSpPr/>
          <p:nvPr/>
        </p:nvSpPr>
        <p:spPr>
          <a:xfrm>
            <a:off x="10136124" y="4178808"/>
            <a:ext cx="1568196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172700" y="4233672"/>
            <a:ext cx="1495044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58.3%</a:t>
            </a:r>
            <a:endParaRPr lang="en-US" sz="740" dirty="0"/>
          </a:p>
        </p:txBody>
      </p:sp>
      <p:sp>
        <p:nvSpPr>
          <p:cNvPr id="70" name="Shape 68"/>
          <p:cNvSpPr/>
          <p:nvPr/>
        </p:nvSpPr>
        <p:spPr>
          <a:xfrm>
            <a:off x="502920" y="4535424"/>
            <a:ext cx="3584448" cy="356616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39496" y="4590288"/>
            <a:ext cx="351129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Youssef Mohamed Abdelfatth</a:t>
            </a:r>
            <a:endParaRPr lang="en-US" sz="740" dirty="0"/>
          </a:p>
        </p:txBody>
      </p:sp>
      <p:sp>
        <p:nvSpPr>
          <p:cNvPr id="72" name="Shape 70"/>
          <p:cNvSpPr/>
          <p:nvPr/>
        </p:nvSpPr>
        <p:spPr>
          <a:xfrm>
            <a:off x="4087368" y="4535424"/>
            <a:ext cx="1456182" cy="356616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123944" y="4590288"/>
            <a:ext cx="1383030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85.32%</a:t>
            </a:r>
            <a:endParaRPr lang="en-US" sz="740" dirty="0"/>
          </a:p>
        </p:txBody>
      </p:sp>
      <p:sp>
        <p:nvSpPr>
          <p:cNvPr id="74" name="Shape 72"/>
          <p:cNvSpPr/>
          <p:nvPr/>
        </p:nvSpPr>
        <p:spPr>
          <a:xfrm>
            <a:off x="5543550" y="4535424"/>
            <a:ext cx="1680210" cy="356616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580126" y="4590288"/>
            <a:ext cx="1607058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</a:t>
            </a:r>
            <a:endParaRPr lang="en-US" sz="740" dirty="0"/>
          </a:p>
        </p:txBody>
      </p:sp>
      <p:sp>
        <p:nvSpPr>
          <p:cNvPr id="76" name="Shape 74"/>
          <p:cNvSpPr/>
          <p:nvPr/>
        </p:nvSpPr>
        <p:spPr>
          <a:xfrm>
            <a:off x="7223760" y="4535424"/>
            <a:ext cx="1568196" cy="356616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260336" y="4590288"/>
            <a:ext cx="1495044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64.1%</a:t>
            </a:r>
            <a:endParaRPr lang="en-US" sz="740" dirty="0"/>
          </a:p>
        </p:txBody>
      </p:sp>
      <p:sp>
        <p:nvSpPr>
          <p:cNvPr id="78" name="Shape 76"/>
          <p:cNvSpPr/>
          <p:nvPr/>
        </p:nvSpPr>
        <p:spPr>
          <a:xfrm>
            <a:off x="8791956" y="4535424"/>
            <a:ext cx="1344168" cy="356616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828532" y="4590288"/>
            <a:ext cx="127101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0:03:29</a:t>
            </a:r>
            <a:endParaRPr lang="en-US" sz="740" dirty="0"/>
          </a:p>
        </p:txBody>
      </p:sp>
      <p:sp>
        <p:nvSpPr>
          <p:cNvPr id="80" name="Shape 78"/>
          <p:cNvSpPr/>
          <p:nvPr/>
        </p:nvSpPr>
        <p:spPr>
          <a:xfrm>
            <a:off x="10136124" y="4535424"/>
            <a:ext cx="1568196" cy="356616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172700" y="4590288"/>
            <a:ext cx="1495044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46.7%</a:t>
            </a:r>
            <a:endParaRPr lang="en-US" sz="740" dirty="0"/>
          </a:p>
        </p:txBody>
      </p:sp>
      <p:sp>
        <p:nvSpPr>
          <p:cNvPr id="82" name="Shape 80"/>
          <p:cNvSpPr/>
          <p:nvPr/>
        </p:nvSpPr>
        <p:spPr>
          <a:xfrm>
            <a:off x="502920" y="4892040"/>
            <a:ext cx="3584448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39496" y="4946904"/>
            <a:ext cx="351129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Suhila Youssef Ebrahim</a:t>
            </a:r>
            <a:endParaRPr lang="en-US" sz="740" dirty="0"/>
          </a:p>
        </p:txBody>
      </p:sp>
      <p:sp>
        <p:nvSpPr>
          <p:cNvPr id="84" name="Shape 82"/>
          <p:cNvSpPr/>
          <p:nvPr/>
        </p:nvSpPr>
        <p:spPr>
          <a:xfrm>
            <a:off x="4087368" y="4892040"/>
            <a:ext cx="145618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123944" y="4946904"/>
            <a:ext cx="1383030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87.42%</a:t>
            </a:r>
            <a:endParaRPr lang="en-US" sz="740" dirty="0"/>
          </a:p>
        </p:txBody>
      </p:sp>
      <p:sp>
        <p:nvSpPr>
          <p:cNvPr id="86" name="Shape 84"/>
          <p:cNvSpPr/>
          <p:nvPr/>
        </p:nvSpPr>
        <p:spPr>
          <a:xfrm>
            <a:off x="5543550" y="4892040"/>
            <a:ext cx="1680210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580126" y="4946904"/>
            <a:ext cx="1607058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</a:t>
            </a:r>
            <a:endParaRPr lang="en-US" sz="740" dirty="0"/>
          </a:p>
        </p:txBody>
      </p:sp>
      <p:sp>
        <p:nvSpPr>
          <p:cNvPr id="88" name="Shape 86"/>
          <p:cNvSpPr/>
          <p:nvPr/>
        </p:nvSpPr>
        <p:spPr>
          <a:xfrm>
            <a:off x="7223760" y="4892040"/>
            <a:ext cx="1568196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260336" y="4946904"/>
            <a:ext cx="1495044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66.7%</a:t>
            </a:r>
            <a:endParaRPr lang="en-US" sz="740" dirty="0"/>
          </a:p>
        </p:txBody>
      </p:sp>
      <p:sp>
        <p:nvSpPr>
          <p:cNvPr id="90" name="Shape 88"/>
          <p:cNvSpPr/>
          <p:nvPr/>
        </p:nvSpPr>
        <p:spPr>
          <a:xfrm>
            <a:off x="8791956" y="4892040"/>
            <a:ext cx="1344168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828532" y="4946904"/>
            <a:ext cx="127101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0:03:03</a:t>
            </a:r>
            <a:endParaRPr lang="en-US" sz="740" dirty="0"/>
          </a:p>
        </p:txBody>
      </p:sp>
      <p:sp>
        <p:nvSpPr>
          <p:cNvPr id="92" name="Shape 90"/>
          <p:cNvSpPr/>
          <p:nvPr/>
        </p:nvSpPr>
        <p:spPr>
          <a:xfrm>
            <a:off x="10136124" y="4892040"/>
            <a:ext cx="1568196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0172700" y="4946904"/>
            <a:ext cx="1495044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48.0%</a:t>
            </a:r>
            <a:endParaRPr lang="en-US" sz="740" dirty="0"/>
          </a:p>
        </p:txBody>
      </p:sp>
      <p:sp>
        <p:nvSpPr>
          <p:cNvPr id="94" name="Shape 92"/>
          <p:cNvSpPr/>
          <p:nvPr/>
        </p:nvSpPr>
        <p:spPr>
          <a:xfrm>
            <a:off x="502920" y="5248656"/>
            <a:ext cx="3584448" cy="356616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39496" y="5303520"/>
            <a:ext cx="351129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Mohammed Fakih Mohamed mirghany</a:t>
            </a:r>
            <a:endParaRPr lang="en-US" sz="740" dirty="0"/>
          </a:p>
        </p:txBody>
      </p:sp>
      <p:sp>
        <p:nvSpPr>
          <p:cNvPr id="96" name="Shape 94"/>
          <p:cNvSpPr/>
          <p:nvPr/>
        </p:nvSpPr>
        <p:spPr>
          <a:xfrm>
            <a:off x="4087368" y="5248656"/>
            <a:ext cx="1456182" cy="356616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123944" y="5303520"/>
            <a:ext cx="1383030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88.75%</a:t>
            </a:r>
            <a:endParaRPr lang="en-US" sz="740" dirty="0"/>
          </a:p>
        </p:txBody>
      </p:sp>
      <p:sp>
        <p:nvSpPr>
          <p:cNvPr id="98" name="Shape 96"/>
          <p:cNvSpPr/>
          <p:nvPr/>
        </p:nvSpPr>
        <p:spPr>
          <a:xfrm>
            <a:off x="5543550" y="5248656"/>
            <a:ext cx="1680210" cy="356616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580126" y="5303520"/>
            <a:ext cx="1607058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</a:t>
            </a:r>
            <a:endParaRPr lang="en-US" sz="740" dirty="0"/>
          </a:p>
        </p:txBody>
      </p:sp>
      <p:sp>
        <p:nvSpPr>
          <p:cNvPr id="100" name="Shape 98"/>
          <p:cNvSpPr/>
          <p:nvPr/>
        </p:nvSpPr>
        <p:spPr>
          <a:xfrm>
            <a:off x="7223760" y="5248656"/>
            <a:ext cx="1568196" cy="356616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260336" y="5303520"/>
            <a:ext cx="1495044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65.2%</a:t>
            </a:r>
            <a:endParaRPr lang="en-US" sz="740" dirty="0"/>
          </a:p>
        </p:txBody>
      </p:sp>
      <p:sp>
        <p:nvSpPr>
          <p:cNvPr id="102" name="Shape 100"/>
          <p:cNvSpPr/>
          <p:nvPr/>
        </p:nvSpPr>
        <p:spPr>
          <a:xfrm>
            <a:off x="8791956" y="5248656"/>
            <a:ext cx="1344168" cy="356616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828532" y="5303520"/>
            <a:ext cx="127101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0:03:31</a:t>
            </a:r>
            <a:endParaRPr lang="en-US" sz="740" dirty="0"/>
          </a:p>
        </p:txBody>
      </p:sp>
      <p:sp>
        <p:nvSpPr>
          <p:cNvPr id="104" name="Shape 102"/>
          <p:cNvSpPr/>
          <p:nvPr/>
        </p:nvSpPr>
        <p:spPr>
          <a:xfrm>
            <a:off x="10136124" y="5248656"/>
            <a:ext cx="1568196" cy="356616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0172700" y="5303520"/>
            <a:ext cx="1495044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40" dirty="0"/>
          </a:p>
        </p:txBody>
      </p:sp>
      <p:sp>
        <p:nvSpPr>
          <p:cNvPr id="106" name="Shape 104"/>
          <p:cNvSpPr/>
          <p:nvPr/>
        </p:nvSpPr>
        <p:spPr>
          <a:xfrm>
            <a:off x="502920" y="5605272"/>
            <a:ext cx="3584448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39496" y="5660136"/>
            <a:ext cx="351129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Radwa Ahmed Mohamed</a:t>
            </a:r>
            <a:endParaRPr lang="en-US" sz="740" dirty="0"/>
          </a:p>
        </p:txBody>
      </p:sp>
      <p:sp>
        <p:nvSpPr>
          <p:cNvPr id="108" name="Shape 106"/>
          <p:cNvSpPr/>
          <p:nvPr/>
        </p:nvSpPr>
        <p:spPr>
          <a:xfrm>
            <a:off x="4087368" y="5605272"/>
            <a:ext cx="145618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123944" y="5660136"/>
            <a:ext cx="1383030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87.93%</a:t>
            </a:r>
            <a:endParaRPr lang="en-US" sz="740" dirty="0"/>
          </a:p>
        </p:txBody>
      </p:sp>
      <p:sp>
        <p:nvSpPr>
          <p:cNvPr id="110" name="Shape 108"/>
          <p:cNvSpPr/>
          <p:nvPr/>
        </p:nvSpPr>
        <p:spPr>
          <a:xfrm>
            <a:off x="5543550" y="5605272"/>
            <a:ext cx="1680210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580126" y="5660136"/>
            <a:ext cx="1607058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</a:t>
            </a:r>
            <a:endParaRPr lang="en-US" sz="740" dirty="0"/>
          </a:p>
        </p:txBody>
      </p:sp>
      <p:sp>
        <p:nvSpPr>
          <p:cNvPr id="112" name="Shape 110"/>
          <p:cNvSpPr/>
          <p:nvPr/>
        </p:nvSpPr>
        <p:spPr>
          <a:xfrm>
            <a:off x="7223760" y="5605272"/>
            <a:ext cx="1568196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260336" y="5660136"/>
            <a:ext cx="1495044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64.3%</a:t>
            </a:r>
            <a:endParaRPr lang="en-US" sz="740" dirty="0"/>
          </a:p>
        </p:txBody>
      </p:sp>
      <p:sp>
        <p:nvSpPr>
          <p:cNvPr id="114" name="Shape 112"/>
          <p:cNvSpPr/>
          <p:nvPr/>
        </p:nvSpPr>
        <p:spPr>
          <a:xfrm>
            <a:off x="8791956" y="5605272"/>
            <a:ext cx="1344168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828532" y="5660136"/>
            <a:ext cx="127101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0:02:48</a:t>
            </a:r>
            <a:endParaRPr lang="en-US" sz="740" dirty="0"/>
          </a:p>
        </p:txBody>
      </p:sp>
      <p:sp>
        <p:nvSpPr>
          <p:cNvPr id="116" name="Shape 114"/>
          <p:cNvSpPr/>
          <p:nvPr/>
        </p:nvSpPr>
        <p:spPr>
          <a:xfrm>
            <a:off x="10136124" y="5605272"/>
            <a:ext cx="1568196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0172700" y="5660136"/>
            <a:ext cx="1495044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54.9%</a:t>
            </a:r>
            <a:endParaRPr lang="en-US" sz="7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2801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Center – Inbound Corrective Actions | Jul 2026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56616" y="512064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Employee-level root cause and action plans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8854135" y="22860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2026  |  SGH Offshore Branch  |  06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EF5"/>
          </a:solidFill>
          <a:ln w="8890">
            <a:solidFill>
              <a:srgbClr val="E8EE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6693408"/>
            <a:ext cx="228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— INTERNAL USE ONLY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61343" y="6693408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>
            <a:off x="411480" y="1143000"/>
            <a:ext cx="2276856" cy="45720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" y="1197864"/>
            <a:ext cx="220370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</a:t>
            </a:r>
            <a:endParaRPr lang="en-US" sz="690" dirty="0"/>
          </a:p>
        </p:txBody>
      </p:sp>
      <p:sp>
        <p:nvSpPr>
          <p:cNvPr id="12" name="Shape 10"/>
          <p:cNvSpPr/>
          <p:nvPr/>
        </p:nvSpPr>
        <p:spPr>
          <a:xfrm>
            <a:off x="2688336" y="1143000"/>
            <a:ext cx="1593799" cy="45720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24912" y="1197864"/>
            <a:ext cx="1520647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/ Grade</a:t>
            </a:r>
            <a:endParaRPr lang="en-US" sz="690" dirty="0"/>
          </a:p>
        </p:txBody>
      </p:sp>
      <p:sp>
        <p:nvSpPr>
          <p:cNvPr id="14" name="Shape 12"/>
          <p:cNvSpPr/>
          <p:nvPr/>
        </p:nvSpPr>
        <p:spPr>
          <a:xfrm>
            <a:off x="4282135" y="1143000"/>
            <a:ext cx="1479956" cy="45720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18711" y="1197864"/>
            <a:ext cx="140680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Issues</a:t>
            </a:r>
            <a:endParaRPr lang="en-US" sz="690" dirty="0"/>
          </a:p>
        </p:txBody>
      </p:sp>
      <p:sp>
        <p:nvSpPr>
          <p:cNvPr id="16" name="Shape 14"/>
          <p:cNvSpPr/>
          <p:nvPr/>
        </p:nvSpPr>
        <p:spPr>
          <a:xfrm>
            <a:off x="5762092" y="1143000"/>
            <a:ext cx="2846070" cy="45720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98668" y="1197864"/>
            <a:ext cx="277291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Cause</a:t>
            </a:r>
            <a:endParaRPr lang="en-US" sz="690" dirty="0"/>
          </a:p>
        </p:txBody>
      </p:sp>
      <p:sp>
        <p:nvSpPr>
          <p:cNvPr id="18" name="Shape 16"/>
          <p:cNvSpPr/>
          <p:nvPr/>
        </p:nvSpPr>
        <p:spPr>
          <a:xfrm>
            <a:off x="8608162" y="1143000"/>
            <a:ext cx="3187598" cy="45720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44738" y="1197864"/>
            <a:ext cx="311444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Corrective Actions</a:t>
            </a:r>
            <a:endParaRPr lang="en-US" sz="690" dirty="0"/>
          </a:p>
        </p:txBody>
      </p:sp>
      <p:sp>
        <p:nvSpPr>
          <p:cNvPr id="20" name="Shape 18"/>
          <p:cNvSpPr/>
          <p:nvPr/>
        </p:nvSpPr>
        <p:spPr>
          <a:xfrm>
            <a:off x="411480" y="1600200"/>
            <a:ext cx="2276856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" y="1655064"/>
            <a:ext cx="220370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Mohamed Ahmed ibrahem</a:t>
            </a:r>
            <a:endParaRPr lang="en-US" sz="640" dirty="0"/>
          </a:p>
        </p:txBody>
      </p:sp>
      <p:sp>
        <p:nvSpPr>
          <p:cNvPr id="22" name="Shape 20"/>
          <p:cNvSpPr/>
          <p:nvPr/>
        </p:nvSpPr>
        <p:spPr>
          <a:xfrm>
            <a:off x="2688336" y="1600200"/>
            <a:ext cx="1593799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24912" y="1655064"/>
            <a:ext cx="1520647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88.94% / Average</a:t>
            </a:r>
            <a:endParaRPr lang="en-US" sz="640" dirty="0"/>
          </a:p>
        </p:txBody>
      </p:sp>
      <p:sp>
        <p:nvSpPr>
          <p:cNvPr id="24" name="Shape 22"/>
          <p:cNvSpPr/>
          <p:nvPr/>
        </p:nvSpPr>
        <p:spPr>
          <a:xfrm>
            <a:off x="4282135" y="1600200"/>
            <a:ext cx="1479956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18711" y="1655064"/>
            <a:ext cx="140680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Booking; Attend</a:t>
            </a:r>
            <a:endParaRPr lang="en-US" sz="640" dirty="0"/>
          </a:p>
        </p:txBody>
      </p:sp>
      <p:sp>
        <p:nvSpPr>
          <p:cNvPr id="26" name="Shape 24"/>
          <p:cNvSpPr/>
          <p:nvPr/>
        </p:nvSpPr>
        <p:spPr>
          <a:xfrm>
            <a:off x="5762092" y="1600200"/>
            <a:ext cx="2846070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98668" y="1655064"/>
            <a:ext cx="2772918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booking conversion and weak in-call confirmation.</a:t>
            </a:r>
            <a:endParaRPr lang="en-US" sz="640" dirty="0"/>
          </a:p>
        </p:txBody>
      </p:sp>
      <p:sp>
        <p:nvSpPr>
          <p:cNvPr id="28" name="Shape 26"/>
          <p:cNvSpPr/>
          <p:nvPr/>
        </p:nvSpPr>
        <p:spPr>
          <a:xfrm>
            <a:off x="8608162" y="1600200"/>
            <a:ext cx="3187598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44738" y="1655064"/>
            <a:ext cx="311444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Coach booking and objections; monitor calls twice weekly; audit 10 calls; flag at-risk bookings.</a:t>
            </a:r>
            <a:endParaRPr lang="en-US" sz="640" dirty="0"/>
          </a:p>
        </p:txBody>
      </p:sp>
      <p:sp>
        <p:nvSpPr>
          <p:cNvPr id="30" name="Shape 28"/>
          <p:cNvSpPr/>
          <p:nvPr/>
        </p:nvSpPr>
        <p:spPr>
          <a:xfrm>
            <a:off x="411480" y="2240280"/>
            <a:ext cx="2276856" cy="640080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" y="2295144"/>
            <a:ext cx="220370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Youssef Mohamed Abdelfatth</a:t>
            </a:r>
            <a:endParaRPr lang="en-US" sz="640" dirty="0"/>
          </a:p>
        </p:txBody>
      </p:sp>
      <p:sp>
        <p:nvSpPr>
          <p:cNvPr id="32" name="Shape 30"/>
          <p:cNvSpPr/>
          <p:nvPr/>
        </p:nvSpPr>
        <p:spPr>
          <a:xfrm>
            <a:off x="2688336" y="2240280"/>
            <a:ext cx="1593799" cy="640080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24912" y="2295144"/>
            <a:ext cx="1520647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85.32% / Average</a:t>
            </a:r>
            <a:endParaRPr lang="en-US" sz="640" dirty="0"/>
          </a:p>
        </p:txBody>
      </p:sp>
      <p:sp>
        <p:nvSpPr>
          <p:cNvPr id="34" name="Shape 32"/>
          <p:cNvSpPr/>
          <p:nvPr/>
        </p:nvSpPr>
        <p:spPr>
          <a:xfrm>
            <a:off x="4282135" y="2240280"/>
            <a:ext cx="1479956" cy="640080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18711" y="2295144"/>
            <a:ext cx="140680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Booking; Attend; AHT</a:t>
            </a:r>
            <a:endParaRPr lang="en-US" sz="640" dirty="0"/>
          </a:p>
        </p:txBody>
      </p:sp>
      <p:sp>
        <p:nvSpPr>
          <p:cNvPr id="36" name="Shape 34"/>
          <p:cNvSpPr/>
          <p:nvPr/>
        </p:nvSpPr>
        <p:spPr>
          <a:xfrm>
            <a:off x="5762092" y="2240280"/>
            <a:ext cx="2846070" cy="640080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98668" y="2295144"/>
            <a:ext cx="2772918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closing, inconsistent confirmation and slow system use.</a:t>
            </a:r>
            <a:endParaRPr lang="en-US" sz="640" dirty="0"/>
          </a:p>
        </p:txBody>
      </p:sp>
      <p:sp>
        <p:nvSpPr>
          <p:cNvPr id="38" name="Shape 36"/>
          <p:cNvSpPr/>
          <p:nvPr/>
        </p:nvSpPr>
        <p:spPr>
          <a:xfrm>
            <a:off x="8608162" y="2240280"/>
            <a:ext cx="3187598" cy="640080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44738" y="2295144"/>
            <a:ext cx="311444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PIP; refresh booking and closing skills; review long calls; target 2:30 AHT.</a:t>
            </a:r>
            <a:endParaRPr lang="en-US" sz="640" dirty="0"/>
          </a:p>
        </p:txBody>
      </p:sp>
      <p:sp>
        <p:nvSpPr>
          <p:cNvPr id="40" name="Shape 38"/>
          <p:cNvSpPr/>
          <p:nvPr/>
        </p:nvSpPr>
        <p:spPr>
          <a:xfrm>
            <a:off x="411480" y="2880360"/>
            <a:ext cx="2276856" cy="68580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8056" y="2935224"/>
            <a:ext cx="2203704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Suhila Youssef Ebrahim</a:t>
            </a:r>
            <a:endParaRPr lang="en-US" sz="640" dirty="0"/>
          </a:p>
        </p:txBody>
      </p:sp>
      <p:sp>
        <p:nvSpPr>
          <p:cNvPr id="42" name="Shape 40"/>
          <p:cNvSpPr/>
          <p:nvPr/>
        </p:nvSpPr>
        <p:spPr>
          <a:xfrm>
            <a:off x="2688336" y="2880360"/>
            <a:ext cx="1593799" cy="68580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24912" y="2935224"/>
            <a:ext cx="1520647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87.42% / Average</a:t>
            </a:r>
            <a:endParaRPr lang="en-US" sz="640" dirty="0"/>
          </a:p>
        </p:txBody>
      </p:sp>
      <p:sp>
        <p:nvSpPr>
          <p:cNvPr id="44" name="Shape 42"/>
          <p:cNvSpPr/>
          <p:nvPr/>
        </p:nvSpPr>
        <p:spPr>
          <a:xfrm>
            <a:off x="4282135" y="2880360"/>
            <a:ext cx="1479956" cy="68580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18711" y="2935224"/>
            <a:ext cx="1406804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Booking; Attend / AHT</a:t>
            </a:r>
            <a:endParaRPr lang="en-US" sz="640" dirty="0"/>
          </a:p>
        </p:txBody>
      </p:sp>
      <p:sp>
        <p:nvSpPr>
          <p:cNvPr id="46" name="Shape 44"/>
          <p:cNvSpPr/>
          <p:nvPr/>
        </p:nvSpPr>
        <p:spPr>
          <a:xfrm>
            <a:off x="5762092" y="2880360"/>
            <a:ext cx="2846070" cy="68580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98668" y="2935224"/>
            <a:ext cx="2772918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 cross-selling, inconsistent closing, documentation and wrap-up gaps.</a:t>
            </a:r>
            <a:endParaRPr lang="en-US" sz="640" dirty="0"/>
          </a:p>
        </p:txBody>
      </p:sp>
      <p:sp>
        <p:nvSpPr>
          <p:cNvPr id="48" name="Shape 46"/>
          <p:cNvSpPr/>
          <p:nvPr/>
        </p:nvSpPr>
        <p:spPr>
          <a:xfrm>
            <a:off x="8608162" y="2880360"/>
            <a:ext cx="3187598" cy="68580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44738" y="2935224"/>
            <a:ext cx="3114446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Coach booking, cross-selling, confirmation and documentation; monitor twice weekly.</a:t>
            </a:r>
            <a:endParaRPr lang="en-US" sz="640" dirty="0"/>
          </a:p>
        </p:txBody>
      </p:sp>
      <p:sp>
        <p:nvSpPr>
          <p:cNvPr id="50" name="Shape 48"/>
          <p:cNvSpPr/>
          <p:nvPr/>
        </p:nvSpPr>
        <p:spPr>
          <a:xfrm>
            <a:off x="411480" y="3566160"/>
            <a:ext cx="2276856" cy="685800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8056" y="3621024"/>
            <a:ext cx="2203704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Mohammed Fakih Mohamed mirghany</a:t>
            </a:r>
            <a:endParaRPr lang="en-US" sz="640" dirty="0"/>
          </a:p>
        </p:txBody>
      </p:sp>
      <p:sp>
        <p:nvSpPr>
          <p:cNvPr id="52" name="Shape 50"/>
          <p:cNvSpPr/>
          <p:nvPr/>
        </p:nvSpPr>
        <p:spPr>
          <a:xfrm>
            <a:off x="2688336" y="3566160"/>
            <a:ext cx="1593799" cy="685800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24912" y="3621024"/>
            <a:ext cx="1520647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88.75% / Average</a:t>
            </a:r>
            <a:endParaRPr lang="en-US" sz="640" dirty="0"/>
          </a:p>
        </p:txBody>
      </p:sp>
      <p:sp>
        <p:nvSpPr>
          <p:cNvPr id="54" name="Shape 52"/>
          <p:cNvSpPr/>
          <p:nvPr/>
        </p:nvSpPr>
        <p:spPr>
          <a:xfrm>
            <a:off x="4282135" y="3566160"/>
            <a:ext cx="1479956" cy="685800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18711" y="3621024"/>
            <a:ext cx="1406804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Attend; AHT</a:t>
            </a:r>
            <a:endParaRPr lang="en-US" sz="640" dirty="0"/>
          </a:p>
        </p:txBody>
      </p:sp>
      <p:sp>
        <p:nvSpPr>
          <p:cNvPr id="56" name="Shape 54"/>
          <p:cNvSpPr/>
          <p:nvPr/>
        </p:nvSpPr>
        <p:spPr>
          <a:xfrm>
            <a:off x="5762092" y="3566160"/>
            <a:ext cx="2846070" cy="685800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98668" y="3621024"/>
            <a:ext cx="2772918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confirmation and highest AHT gap from slow system use.</a:t>
            </a:r>
            <a:endParaRPr lang="en-US" sz="640" dirty="0"/>
          </a:p>
        </p:txBody>
      </p:sp>
      <p:sp>
        <p:nvSpPr>
          <p:cNvPr id="58" name="Shape 56"/>
          <p:cNvSpPr/>
          <p:nvPr/>
        </p:nvSpPr>
        <p:spPr>
          <a:xfrm>
            <a:off x="8608162" y="3566160"/>
            <a:ext cx="3187598" cy="685800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44738" y="3621024"/>
            <a:ext cx="3114446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AHT PIP; coach systems and product knowledge; monitor daily; review long calls.</a:t>
            </a:r>
            <a:endParaRPr lang="en-US" sz="640" dirty="0"/>
          </a:p>
        </p:txBody>
      </p:sp>
      <p:sp>
        <p:nvSpPr>
          <p:cNvPr id="60" name="Shape 58"/>
          <p:cNvSpPr/>
          <p:nvPr/>
        </p:nvSpPr>
        <p:spPr>
          <a:xfrm>
            <a:off x="411480" y="4251960"/>
            <a:ext cx="2276856" cy="68580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48056" y="4306824"/>
            <a:ext cx="2203704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Radwa Ahmed Mohamed</a:t>
            </a:r>
            <a:endParaRPr lang="en-US" sz="640" dirty="0"/>
          </a:p>
        </p:txBody>
      </p:sp>
      <p:sp>
        <p:nvSpPr>
          <p:cNvPr id="62" name="Shape 60"/>
          <p:cNvSpPr/>
          <p:nvPr/>
        </p:nvSpPr>
        <p:spPr>
          <a:xfrm>
            <a:off x="2688336" y="4251960"/>
            <a:ext cx="1593799" cy="68580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24912" y="4306824"/>
            <a:ext cx="1520647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87.93% / Average</a:t>
            </a:r>
            <a:endParaRPr lang="en-US" sz="640" dirty="0"/>
          </a:p>
        </p:txBody>
      </p:sp>
      <p:sp>
        <p:nvSpPr>
          <p:cNvPr id="64" name="Shape 62"/>
          <p:cNvSpPr/>
          <p:nvPr/>
        </p:nvSpPr>
        <p:spPr>
          <a:xfrm>
            <a:off x="4282135" y="4251960"/>
            <a:ext cx="1479956" cy="68580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18711" y="4306824"/>
            <a:ext cx="1406804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Booking; Attend / AHT</a:t>
            </a:r>
            <a:endParaRPr lang="en-US" sz="640" dirty="0"/>
          </a:p>
        </p:txBody>
      </p:sp>
      <p:sp>
        <p:nvSpPr>
          <p:cNvPr id="66" name="Shape 64"/>
          <p:cNvSpPr/>
          <p:nvPr/>
        </p:nvSpPr>
        <p:spPr>
          <a:xfrm>
            <a:off x="5762092" y="4251960"/>
            <a:ext cx="2846070" cy="68580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798668" y="4306824"/>
            <a:ext cx="2772918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probing, inconsistent closing and occasional wrap-up delays.</a:t>
            </a:r>
            <a:endParaRPr lang="en-US" sz="640" dirty="0"/>
          </a:p>
        </p:txBody>
      </p:sp>
      <p:sp>
        <p:nvSpPr>
          <p:cNvPr id="68" name="Shape 66"/>
          <p:cNvSpPr/>
          <p:nvPr/>
        </p:nvSpPr>
        <p:spPr>
          <a:xfrm>
            <a:off x="8608162" y="4251960"/>
            <a:ext cx="3187598" cy="68580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644738" y="4306824"/>
            <a:ext cx="3114446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Coach booking, confirmation and wrap-up; audit 10 calls; escalate if no progress.</a:t>
            </a:r>
            <a:endParaRPr lang="en-US" sz="6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3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2A100"/>
          </a:solidFill>
          <a:ln w="8890">
            <a:solidFill>
              <a:srgbClr val="E2A1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2A100"/>
          </a:solidFill>
          <a:ln w="8890">
            <a:solidFill>
              <a:srgbClr val="E2A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896112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91B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640080" y="124358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Center – Outbound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658368" y="19202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8DC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Improved MoM, but conversion and reachability remain below target.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7498080" y="969264"/>
            <a:ext cx="3611880" cy="4251960"/>
          </a:xfrm>
          <a:prstGeom prst="roundRect">
            <a:avLst>
              <a:gd name="adj" fmla="val 2025"/>
            </a:avLst>
          </a:prstGeom>
          <a:solidFill>
            <a:srgbClr val="123456"/>
          </a:solidFill>
          <a:ln w="9525">
            <a:solidFill>
              <a:srgbClr val="2A58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18120" y="131673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will review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18120" y="1810512"/>
            <a:ext cx="109728" cy="109728"/>
          </a:xfrm>
          <a:prstGeom prst="rect">
            <a:avLst/>
          </a:prstGeom>
          <a:solidFill>
            <a:srgbClr val="E2A100"/>
          </a:solidFill>
          <a:ln w="12700">
            <a:solidFill>
              <a:srgbClr val="E2A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173736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DCEA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performance KPIs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7818120" y="2468880"/>
            <a:ext cx="109728" cy="109728"/>
          </a:xfrm>
          <a:prstGeom prst="rect">
            <a:avLst/>
          </a:prstGeom>
          <a:solidFill>
            <a:srgbClr val="E2A100"/>
          </a:solidFill>
          <a:ln w="12700">
            <a:solidFill>
              <a:srgbClr val="E2A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239572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DCEA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Bottom 3 employee signals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7818120" y="3127248"/>
            <a:ext cx="109728" cy="109728"/>
          </a:xfrm>
          <a:prstGeom prst="rect">
            <a:avLst/>
          </a:prstGeom>
          <a:solidFill>
            <a:srgbClr val="E2A100"/>
          </a:solidFill>
          <a:ln w="12700">
            <a:solidFill>
              <a:srgbClr val="E2A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305409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DCEA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Reachability and conversion actions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8854135" y="32004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2026  |  SGH Offshore Branch  |  07</a:t>
            </a:r>
            <a:endParaRPr lang="en-US" sz="770" dirty="0"/>
          </a:p>
        </p:txBody>
      </p:sp>
      <p:sp>
        <p:nvSpPr>
          <p:cNvPr id="17" name="Text 15"/>
          <p:cNvSpPr/>
          <p:nvPr/>
        </p:nvSpPr>
        <p:spPr>
          <a:xfrm>
            <a:off x="640080" y="6272784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8F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— INTERNAL USE ONLY</a:t>
            </a:r>
            <a:endParaRPr lang="en-US" sz="620" dirty="0"/>
          </a:p>
        </p:txBody>
      </p:sp>
      <p:sp>
        <p:nvSpPr>
          <p:cNvPr id="18" name="Text 16"/>
          <p:cNvSpPr/>
          <p:nvPr/>
        </p:nvSpPr>
        <p:spPr>
          <a:xfrm>
            <a:off x="11478463" y="627278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8F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2801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Center – Outbound | Jul 2026 Performance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56616" y="512064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performance, KPI baseline and MoM change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8854135" y="22860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2026  |  SGH Offshore Branch  |  08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EF5"/>
          </a:solidFill>
          <a:ln w="8890">
            <a:solidFill>
              <a:srgbClr val="E8EE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6693408"/>
            <a:ext cx="228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— INTERNAL USE ONLY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61343" y="6693408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>
            <a:off x="411480" y="932688"/>
            <a:ext cx="11384280" cy="329184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042416"/>
            <a:ext cx="3657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DEPARTMENT: Call Center – Outbound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02920" y="1554480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FFF5D9"/>
          </a:solidFill>
          <a:ln w="11430">
            <a:solidFill>
              <a:srgbClr val="E2A100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1554480"/>
            <a:ext cx="59436" cy="1170432"/>
          </a:xfrm>
          <a:prstGeom prst="rect">
            <a:avLst/>
          </a:prstGeom>
          <a:solidFill>
            <a:srgbClr val="E2A100"/>
          </a:solidFill>
          <a:ln w="8890">
            <a:solidFill>
              <a:srgbClr val="E2A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" y="1709928"/>
            <a:ext cx="2350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Avg Performance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630936" y="202996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4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80.1%</a:t>
            </a:r>
            <a:endParaRPr lang="en-US" sz="1640" dirty="0"/>
          </a:p>
        </p:txBody>
      </p:sp>
      <p:sp>
        <p:nvSpPr>
          <p:cNvPr id="16" name="Text 14"/>
          <p:cNvSpPr/>
          <p:nvPr/>
        </p:nvSpPr>
        <p:spPr>
          <a:xfrm>
            <a:off x="1965960" y="2020824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76.77%</a:t>
            </a:r>
            <a:endParaRPr lang="en-US" sz="620" dirty="0"/>
          </a:p>
        </p:txBody>
      </p:sp>
      <p:sp>
        <p:nvSpPr>
          <p:cNvPr id="17" name="Text 15"/>
          <p:cNvSpPr/>
          <p:nvPr/>
        </p:nvSpPr>
        <p:spPr>
          <a:xfrm>
            <a:off x="1965960" y="2221992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 +3.3%</a:t>
            </a:r>
            <a:endParaRPr lang="en-US" sz="620" dirty="0"/>
          </a:p>
        </p:txBody>
      </p:sp>
      <p:sp>
        <p:nvSpPr>
          <p:cNvPr id="18" name="Text 16"/>
          <p:cNvSpPr/>
          <p:nvPr/>
        </p:nvSpPr>
        <p:spPr>
          <a:xfrm>
            <a:off x="630936" y="2423160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Team Avg</a:t>
            </a:r>
            <a:endParaRPr lang="en-US" sz="620" dirty="0"/>
          </a:p>
        </p:txBody>
      </p:sp>
      <p:sp>
        <p:nvSpPr>
          <p:cNvPr id="19" name="Text 17"/>
          <p:cNvSpPr/>
          <p:nvPr/>
        </p:nvSpPr>
        <p:spPr>
          <a:xfrm>
            <a:off x="630936" y="2587752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</a:t>
            </a:r>
            <a:endParaRPr lang="en-US" sz="620" dirty="0"/>
          </a:p>
        </p:txBody>
      </p:sp>
      <p:sp>
        <p:nvSpPr>
          <p:cNvPr id="20" name="Shape 18"/>
          <p:cNvSpPr/>
          <p:nvPr/>
        </p:nvSpPr>
        <p:spPr>
          <a:xfrm>
            <a:off x="3337560" y="1554480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FCE8EA"/>
          </a:solidFill>
          <a:ln w="11430">
            <a:solidFill>
              <a:srgbClr val="D53F49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37560" y="1554480"/>
            <a:ext cx="59436" cy="1170432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65576" y="1709928"/>
            <a:ext cx="2350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 Booking CR%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3465576" y="202996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4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17.3%</a:t>
            </a:r>
            <a:endParaRPr lang="en-US" sz="1640" dirty="0"/>
          </a:p>
        </p:txBody>
      </p:sp>
      <p:sp>
        <p:nvSpPr>
          <p:cNvPr id="24" name="Text 22"/>
          <p:cNvSpPr/>
          <p:nvPr/>
        </p:nvSpPr>
        <p:spPr>
          <a:xfrm>
            <a:off x="4800600" y="2020824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19.2%</a:t>
            </a:r>
            <a:endParaRPr lang="en-US" sz="620" dirty="0"/>
          </a:p>
        </p:txBody>
      </p:sp>
      <p:sp>
        <p:nvSpPr>
          <p:cNvPr id="25" name="Text 23"/>
          <p:cNvSpPr/>
          <p:nvPr/>
        </p:nvSpPr>
        <p:spPr>
          <a:xfrm>
            <a:off x="4800600" y="2221992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 -1.9%</a:t>
            </a:r>
            <a:endParaRPr lang="en-US" sz="620" dirty="0"/>
          </a:p>
        </p:txBody>
      </p:sp>
      <p:sp>
        <p:nvSpPr>
          <p:cNvPr id="26" name="Text 24"/>
          <p:cNvSpPr/>
          <p:nvPr/>
        </p:nvSpPr>
        <p:spPr>
          <a:xfrm>
            <a:off x="3465576" y="2423160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30%</a:t>
            </a:r>
            <a:endParaRPr lang="en-US" sz="620" dirty="0"/>
          </a:p>
        </p:txBody>
      </p:sp>
      <p:sp>
        <p:nvSpPr>
          <p:cNvPr id="27" name="Text 25"/>
          <p:cNvSpPr/>
          <p:nvPr/>
        </p:nvSpPr>
        <p:spPr>
          <a:xfrm>
            <a:off x="3465576" y="2587752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 target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6172200" y="1554480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FCE8EA"/>
          </a:solidFill>
          <a:ln w="11430">
            <a:solidFill>
              <a:srgbClr val="D53F49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72200" y="1554480"/>
            <a:ext cx="59436" cy="1170432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0216" y="1709928"/>
            <a:ext cx="2350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 Attend CR%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6300216" y="202996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4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52.7%</a:t>
            </a:r>
            <a:endParaRPr lang="en-US" sz="1640" dirty="0"/>
          </a:p>
        </p:txBody>
      </p:sp>
      <p:sp>
        <p:nvSpPr>
          <p:cNvPr id="32" name="Text 30"/>
          <p:cNvSpPr/>
          <p:nvPr/>
        </p:nvSpPr>
        <p:spPr>
          <a:xfrm>
            <a:off x="7635240" y="2020824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51.1%</a:t>
            </a:r>
            <a:endParaRPr lang="en-US" sz="620" dirty="0"/>
          </a:p>
        </p:txBody>
      </p:sp>
      <p:sp>
        <p:nvSpPr>
          <p:cNvPr id="33" name="Text 31"/>
          <p:cNvSpPr/>
          <p:nvPr/>
        </p:nvSpPr>
        <p:spPr>
          <a:xfrm>
            <a:off x="7635240" y="2221992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 +1.6%</a:t>
            </a:r>
            <a:endParaRPr lang="en-US" sz="620" dirty="0"/>
          </a:p>
        </p:txBody>
      </p:sp>
      <p:sp>
        <p:nvSpPr>
          <p:cNvPr id="34" name="Text 32"/>
          <p:cNvSpPr/>
          <p:nvPr/>
        </p:nvSpPr>
        <p:spPr>
          <a:xfrm>
            <a:off x="6300216" y="2423160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65%</a:t>
            </a:r>
            <a:endParaRPr lang="en-US" sz="620" dirty="0"/>
          </a:p>
        </p:txBody>
      </p:sp>
      <p:sp>
        <p:nvSpPr>
          <p:cNvPr id="35" name="Text 33"/>
          <p:cNvSpPr/>
          <p:nvPr/>
        </p:nvSpPr>
        <p:spPr>
          <a:xfrm>
            <a:off x="6300216" y="2587752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 target</a:t>
            </a:r>
            <a:endParaRPr lang="en-US" sz="620" dirty="0"/>
          </a:p>
        </p:txBody>
      </p:sp>
      <p:sp>
        <p:nvSpPr>
          <p:cNvPr id="36" name="Shape 34"/>
          <p:cNvSpPr/>
          <p:nvPr/>
        </p:nvSpPr>
        <p:spPr>
          <a:xfrm>
            <a:off x="9006840" y="1554480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FCE8EA"/>
          </a:solidFill>
          <a:ln w="11430">
            <a:solidFill>
              <a:srgbClr val="D53F49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006840" y="1554480"/>
            <a:ext cx="59436" cy="1170432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34856" y="1709928"/>
            <a:ext cx="2350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 Reachability%</a:t>
            </a:r>
            <a:endParaRPr lang="en-US" sz="840" dirty="0"/>
          </a:p>
        </p:txBody>
      </p:sp>
      <p:sp>
        <p:nvSpPr>
          <p:cNvPr id="39" name="Text 37"/>
          <p:cNvSpPr/>
          <p:nvPr/>
        </p:nvSpPr>
        <p:spPr>
          <a:xfrm>
            <a:off x="9134856" y="202996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4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56.6%</a:t>
            </a:r>
            <a:endParaRPr lang="en-US" sz="1640" dirty="0"/>
          </a:p>
        </p:txBody>
      </p:sp>
      <p:sp>
        <p:nvSpPr>
          <p:cNvPr id="40" name="Text 38"/>
          <p:cNvSpPr/>
          <p:nvPr/>
        </p:nvSpPr>
        <p:spPr>
          <a:xfrm>
            <a:off x="10469880" y="2020824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57.7%</a:t>
            </a:r>
            <a:endParaRPr lang="en-US" sz="620" dirty="0"/>
          </a:p>
        </p:txBody>
      </p:sp>
      <p:sp>
        <p:nvSpPr>
          <p:cNvPr id="41" name="Text 39"/>
          <p:cNvSpPr/>
          <p:nvPr/>
        </p:nvSpPr>
        <p:spPr>
          <a:xfrm>
            <a:off x="10469880" y="2221992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 -1.1%</a:t>
            </a:r>
            <a:endParaRPr lang="en-US" sz="620" dirty="0"/>
          </a:p>
        </p:txBody>
      </p:sp>
      <p:sp>
        <p:nvSpPr>
          <p:cNvPr id="42" name="Text 40"/>
          <p:cNvSpPr/>
          <p:nvPr/>
        </p:nvSpPr>
        <p:spPr>
          <a:xfrm>
            <a:off x="9134856" y="2423160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75%</a:t>
            </a:r>
            <a:endParaRPr lang="en-US" sz="620" dirty="0"/>
          </a:p>
        </p:txBody>
      </p:sp>
      <p:sp>
        <p:nvSpPr>
          <p:cNvPr id="43" name="Text 41"/>
          <p:cNvSpPr/>
          <p:nvPr/>
        </p:nvSpPr>
        <p:spPr>
          <a:xfrm>
            <a:off x="9134856" y="2587752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 target</a:t>
            </a:r>
            <a:endParaRPr lang="en-US" sz="620" dirty="0"/>
          </a:p>
        </p:txBody>
      </p:sp>
      <p:sp>
        <p:nvSpPr>
          <p:cNvPr id="44" name="Text 42"/>
          <p:cNvSpPr/>
          <p:nvPr/>
        </p:nvSpPr>
        <p:spPr>
          <a:xfrm>
            <a:off x="502920" y="3273552"/>
            <a:ext cx="1120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 Average Employees – Bottom 3 Performance Indicators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502920" y="3584448"/>
            <a:ext cx="11201400" cy="36576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2920" y="3794760"/>
            <a:ext cx="3808476" cy="41148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9496" y="3849624"/>
            <a:ext cx="3735324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</a:t>
            </a:r>
            <a:endParaRPr lang="en-US" sz="740" dirty="0"/>
          </a:p>
        </p:txBody>
      </p:sp>
      <p:sp>
        <p:nvSpPr>
          <p:cNvPr id="48" name="Shape 46"/>
          <p:cNvSpPr/>
          <p:nvPr/>
        </p:nvSpPr>
        <p:spPr>
          <a:xfrm>
            <a:off x="4311396" y="3794760"/>
            <a:ext cx="1456182" cy="41148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47972" y="3849624"/>
            <a:ext cx="138303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5767578" y="3794760"/>
            <a:ext cx="1792224" cy="41148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04154" y="3849624"/>
            <a:ext cx="1719072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Grade</a:t>
            </a:r>
            <a:endParaRPr lang="en-US" sz="740" dirty="0"/>
          </a:p>
        </p:txBody>
      </p:sp>
      <p:sp>
        <p:nvSpPr>
          <p:cNvPr id="52" name="Shape 50"/>
          <p:cNvSpPr/>
          <p:nvPr/>
        </p:nvSpPr>
        <p:spPr>
          <a:xfrm>
            <a:off x="7559802" y="3794760"/>
            <a:ext cx="1456182" cy="41148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96378" y="3849624"/>
            <a:ext cx="138303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Attend CR%</a:t>
            </a:r>
            <a:endParaRPr lang="en-US" sz="740" dirty="0"/>
          </a:p>
        </p:txBody>
      </p:sp>
      <p:sp>
        <p:nvSpPr>
          <p:cNvPr id="54" name="Shape 52"/>
          <p:cNvSpPr/>
          <p:nvPr/>
        </p:nvSpPr>
        <p:spPr>
          <a:xfrm>
            <a:off x="9015984" y="3794760"/>
            <a:ext cx="1456182" cy="41148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052560" y="3849624"/>
            <a:ext cx="138303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Reachability%</a:t>
            </a:r>
            <a:endParaRPr lang="en-US" sz="740" dirty="0"/>
          </a:p>
        </p:txBody>
      </p:sp>
      <p:sp>
        <p:nvSpPr>
          <p:cNvPr id="56" name="Shape 54"/>
          <p:cNvSpPr/>
          <p:nvPr/>
        </p:nvSpPr>
        <p:spPr>
          <a:xfrm>
            <a:off x="10472166" y="3794760"/>
            <a:ext cx="1232154" cy="41148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508742" y="3849624"/>
            <a:ext cx="1159002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Booking%</a:t>
            </a:r>
            <a:endParaRPr lang="en-US" sz="740" dirty="0"/>
          </a:p>
        </p:txBody>
      </p:sp>
      <p:sp>
        <p:nvSpPr>
          <p:cNvPr id="58" name="Shape 56"/>
          <p:cNvSpPr/>
          <p:nvPr/>
        </p:nvSpPr>
        <p:spPr>
          <a:xfrm>
            <a:off x="502920" y="4206240"/>
            <a:ext cx="3808476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9496" y="4261104"/>
            <a:ext cx="373532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Aya Shaaban Abdelazim Mohamed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311396" y="4206240"/>
            <a:ext cx="1456182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47972" y="4261104"/>
            <a:ext cx="138303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75.42%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5767578" y="4206240"/>
            <a:ext cx="1792224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804154" y="4261104"/>
            <a:ext cx="1719072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 Average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7559802" y="4206240"/>
            <a:ext cx="1456182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596378" y="4261104"/>
            <a:ext cx="138303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49.0%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9015984" y="4206240"/>
            <a:ext cx="1456182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052560" y="4261104"/>
            <a:ext cx="138303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61.0%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10472166" y="4206240"/>
            <a:ext cx="1232154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508742" y="4261104"/>
            <a:ext cx="1159002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13.6%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502920" y="4626864"/>
            <a:ext cx="3808476" cy="420624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39496" y="4681728"/>
            <a:ext cx="373532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Salma Ali El-Sayed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311396" y="4626864"/>
            <a:ext cx="1456182" cy="420624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347972" y="4681728"/>
            <a:ext cx="138303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73.09%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5767578" y="4626864"/>
            <a:ext cx="1792224" cy="420624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804154" y="4681728"/>
            <a:ext cx="1719072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 Average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7559802" y="4626864"/>
            <a:ext cx="1456182" cy="420624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596378" y="4681728"/>
            <a:ext cx="138303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47.0%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9015984" y="4626864"/>
            <a:ext cx="1456182" cy="420624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052560" y="4681728"/>
            <a:ext cx="138303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54.6%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10472166" y="4626864"/>
            <a:ext cx="1232154" cy="420624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508742" y="4681728"/>
            <a:ext cx="1159002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15.7%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502920" y="5047488"/>
            <a:ext cx="3808476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39496" y="5102352"/>
            <a:ext cx="373532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Ammar Yasser Sayed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311396" y="5047488"/>
            <a:ext cx="1456182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347972" y="5102352"/>
            <a:ext cx="138303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76.66%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5767578" y="5047488"/>
            <a:ext cx="1792224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804154" y="5102352"/>
            <a:ext cx="1719072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 Average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7559802" y="5047488"/>
            <a:ext cx="1456182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596378" y="5102352"/>
            <a:ext cx="138303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50.7%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9015984" y="5047488"/>
            <a:ext cx="1456182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052560" y="5102352"/>
            <a:ext cx="138303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53.6%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10472166" y="5047488"/>
            <a:ext cx="1232154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0508742" y="5102352"/>
            <a:ext cx="1159002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15.0%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502920" y="5623560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Focus: reachability first, then confirmation quality and booking conversion.</a:t>
            </a:r>
            <a:endParaRPr lang="en-US" sz="10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2801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Center – Outbound Corrective Action Plans | Jul 2026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56616" y="512064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Employee-level root cause and action plans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8854135" y="22860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2026  |  SGH Offshore Branch  |  09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EF5"/>
          </a:solidFill>
          <a:ln w="8890">
            <a:solidFill>
              <a:srgbClr val="E8EE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6693408"/>
            <a:ext cx="228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— INTERNAL USE ONLY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61343" y="6693408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>
            <a:off x="411480" y="1143000"/>
            <a:ext cx="2276856" cy="45720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" y="1197864"/>
            <a:ext cx="220370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</a:t>
            </a:r>
            <a:endParaRPr lang="en-US" sz="690" dirty="0"/>
          </a:p>
        </p:txBody>
      </p:sp>
      <p:sp>
        <p:nvSpPr>
          <p:cNvPr id="12" name="Shape 10"/>
          <p:cNvSpPr/>
          <p:nvPr/>
        </p:nvSpPr>
        <p:spPr>
          <a:xfrm>
            <a:off x="2688336" y="1143000"/>
            <a:ext cx="1593799" cy="45720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24912" y="1197864"/>
            <a:ext cx="1520647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/ Grade</a:t>
            </a:r>
            <a:endParaRPr lang="en-US" sz="690" dirty="0"/>
          </a:p>
        </p:txBody>
      </p:sp>
      <p:sp>
        <p:nvSpPr>
          <p:cNvPr id="14" name="Shape 12"/>
          <p:cNvSpPr/>
          <p:nvPr/>
        </p:nvSpPr>
        <p:spPr>
          <a:xfrm>
            <a:off x="4282135" y="1143000"/>
            <a:ext cx="1479956" cy="45720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18711" y="1197864"/>
            <a:ext cx="140680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Issues</a:t>
            </a:r>
            <a:endParaRPr lang="en-US" sz="690" dirty="0"/>
          </a:p>
        </p:txBody>
      </p:sp>
      <p:sp>
        <p:nvSpPr>
          <p:cNvPr id="16" name="Shape 14"/>
          <p:cNvSpPr/>
          <p:nvPr/>
        </p:nvSpPr>
        <p:spPr>
          <a:xfrm>
            <a:off x="5762092" y="1143000"/>
            <a:ext cx="2846070" cy="45720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98668" y="1197864"/>
            <a:ext cx="277291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Cause</a:t>
            </a:r>
            <a:endParaRPr lang="en-US" sz="690" dirty="0"/>
          </a:p>
        </p:txBody>
      </p:sp>
      <p:sp>
        <p:nvSpPr>
          <p:cNvPr id="18" name="Shape 16"/>
          <p:cNvSpPr/>
          <p:nvPr/>
        </p:nvSpPr>
        <p:spPr>
          <a:xfrm>
            <a:off x="8608162" y="1143000"/>
            <a:ext cx="3187598" cy="45720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44738" y="1197864"/>
            <a:ext cx="311444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Corrective Actions</a:t>
            </a:r>
            <a:endParaRPr lang="en-US" sz="690" dirty="0"/>
          </a:p>
        </p:txBody>
      </p:sp>
      <p:sp>
        <p:nvSpPr>
          <p:cNvPr id="20" name="Shape 18"/>
          <p:cNvSpPr/>
          <p:nvPr/>
        </p:nvSpPr>
        <p:spPr>
          <a:xfrm>
            <a:off x="411480" y="1600200"/>
            <a:ext cx="2276856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" y="1655064"/>
            <a:ext cx="220370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Aya Shaaban Abdelazim Mohamed</a:t>
            </a:r>
            <a:endParaRPr lang="en-US" sz="640" dirty="0"/>
          </a:p>
        </p:txBody>
      </p:sp>
      <p:sp>
        <p:nvSpPr>
          <p:cNvPr id="22" name="Shape 20"/>
          <p:cNvSpPr/>
          <p:nvPr/>
        </p:nvSpPr>
        <p:spPr>
          <a:xfrm>
            <a:off x="2688336" y="1600200"/>
            <a:ext cx="1593799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24912" y="1655064"/>
            <a:ext cx="1520647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75.42% / Below Average</a:t>
            </a:r>
            <a:endParaRPr lang="en-US" sz="640" dirty="0"/>
          </a:p>
        </p:txBody>
      </p:sp>
      <p:sp>
        <p:nvSpPr>
          <p:cNvPr id="24" name="Shape 22"/>
          <p:cNvSpPr/>
          <p:nvPr/>
        </p:nvSpPr>
        <p:spPr>
          <a:xfrm>
            <a:off x="4282135" y="1600200"/>
            <a:ext cx="1479956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18711" y="1655064"/>
            <a:ext cx="140680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Reachability; Booking / Attend</a:t>
            </a:r>
            <a:endParaRPr lang="en-US" sz="640" dirty="0"/>
          </a:p>
        </p:txBody>
      </p:sp>
      <p:sp>
        <p:nvSpPr>
          <p:cNvPr id="26" name="Shape 24"/>
          <p:cNvSpPr/>
          <p:nvPr/>
        </p:nvSpPr>
        <p:spPr>
          <a:xfrm>
            <a:off x="5762092" y="1600200"/>
            <a:ext cx="2846070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98668" y="1655064"/>
            <a:ext cx="2772918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 attempts and call timing below cadence; weak closing and confirmation.</a:t>
            </a:r>
            <a:endParaRPr lang="en-US" sz="640" dirty="0"/>
          </a:p>
        </p:txBody>
      </p:sp>
      <p:sp>
        <p:nvSpPr>
          <p:cNvPr id="28" name="Shape 26"/>
          <p:cNvSpPr/>
          <p:nvPr/>
        </p:nvSpPr>
        <p:spPr>
          <a:xfrm>
            <a:off x="8608162" y="1600200"/>
            <a:ext cx="3187598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44738" y="1655064"/>
            <a:ext cx="311444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daily attempt plan; monitor missed contacts; coach closing and confirmation; audit 10 calls.</a:t>
            </a:r>
            <a:endParaRPr lang="en-US" sz="640" dirty="0"/>
          </a:p>
        </p:txBody>
      </p:sp>
      <p:sp>
        <p:nvSpPr>
          <p:cNvPr id="30" name="Shape 28"/>
          <p:cNvSpPr/>
          <p:nvPr/>
        </p:nvSpPr>
        <p:spPr>
          <a:xfrm>
            <a:off x="411480" y="2240280"/>
            <a:ext cx="2276856" cy="713232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" y="2295144"/>
            <a:ext cx="2203704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Salma Ali El-Sayed</a:t>
            </a:r>
            <a:endParaRPr lang="en-US" sz="640" dirty="0"/>
          </a:p>
        </p:txBody>
      </p:sp>
      <p:sp>
        <p:nvSpPr>
          <p:cNvPr id="32" name="Shape 30"/>
          <p:cNvSpPr/>
          <p:nvPr/>
        </p:nvSpPr>
        <p:spPr>
          <a:xfrm>
            <a:off x="2688336" y="2240280"/>
            <a:ext cx="1593799" cy="713232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24912" y="2295144"/>
            <a:ext cx="1520647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73.09% / Below Average</a:t>
            </a:r>
            <a:endParaRPr lang="en-US" sz="640" dirty="0"/>
          </a:p>
        </p:txBody>
      </p:sp>
      <p:sp>
        <p:nvSpPr>
          <p:cNvPr id="34" name="Shape 32"/>
          <p:cNvSpPr/>
          <p:nvPr/>
        </p:nvSpPr>
        <p:spPr>
          <a:xfrm>
            <a:off x="4282135" y="2240280"/>
            <a:ext cx="1479956" cy="713232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18711" y="2295144"/>
            <a:ext cx="1406804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Reachability; Booking / Attend</a:t>
            </a:r>
            <a:endParaRPr lang="en-US" sz="640" dirty="0"/>
          </a:p>
        </p:txBody>
      </p:sp>
      <p:sp>
        <p:nvSpPr>
          <p:cNvPr id="36" name="Shape 34"/>
          <p:cNvSpPr/>
          <p:nvPr/>
        </p:nvSpPr>
        <p:spPr>
          <a:xfrm>
            <a:off x="5762092" y="2240280"/>
            <a:ext cx="2846070" cy="713232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98668" y="2295144"/>
            <a:ext cx="2772918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connection rate and inconsistent callback discipline; objection handling gap.</a:t>
            </a:r>
            <a:endParaRPr lang="en-US" sz="640" dirty="0"/>
          </a:p>
        </p:txBody>
      </p:sp>
      <p:sp>
        <p:nvSpPr>
          <p:cNvPr id="38" name="Shape 36"/>
          <p:cNvSpPr/>
          <p:nvPr/>
        </p:nvSpPr>
        <p:spPr>
          <a:xfrm>
            <a:off x="8608162" y="2240280"/>
            <a:ext cx="3187598" cy="713232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44738" y="2295144"/>
            <a:ext cx="3114446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targeted PIP; review daily contact list; enforce callback schedule; shadow top performer.</a:t>
            </a:r>
            <a:endParaRPr lang="en-US" sz="640" dirty="0"/>
          </a:p>
        </p:txBody>
      </p:sp>
      <p:sp>
        <p:nvSpPr>
          <p:cNvPr id="40" name="Shape 38"/>
          <p:cNvSpPr/>
          <p:nvPr/>
        </p:nvSpPr>
        <p:spPr>
          <a:xfrm>
            <a:off x="411480" y="2953512"/>
            <a:ext cx="2276856" cy="71323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8056" y="3008376"/>
            <a:ext cx="2203704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Ammar Yasser Sayed</a:t>
            </a:r>
            <a:endParaRPr lang="en-US" sz="640" dirty="0"/>
          </a:p>
        </p:txBody>
      </p:sp>
      <p:sp>
        <p:nvSpPr>
          <p:cNvPr id="42" name="Shape 40"/>
          <p:cNvSpPr/>
          <p:nvPr/>
        </p:nvSpPr>
        <p:spPr>
          <a:xfrm>
            <a:off x="2688336" y="2953512"/>
            <a:ext cx="1593799" cy="71323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24912" y="3008376"/>
            <a:ext cx="1520647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76.66% / Below Average</a:t>
            </a:r>
            <a:endParaRPr lang="en-US" sz="640" dirty="0"/>
          </a:p>
        </p:txBody>
      </p:sp>
      <p:sp>
        <p:nvSpPr>
          <p:cNvPr id="44" name="Shape 42"/>
          <p:cNvSpPr/>
          <p:nvPr/>
        </p:nvSpPr>
        <p:spPr>
          <a:xfrm>
            <a:off x="4282135" y="2953512"/>
            <a:ext cx="1479956" cy="71323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18711" y="3008376"/>
            <a:ext cx="1406804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Reachability; Booking / Attend</a:t>
            </a:r>
            <a:endParaRPr lang="en-US" sz="640" dirty="0"/>
          </a:p>
        </p:txBody>
      </p:sp>
      <p:sp>
        <p:nvSpPr>
          <p:cNvPr id="46" name="Shape 44"/>
          <p:cNvSpPr/>
          <p:nvPr/>
        </p:nvSpPr>
        <p:spPr>
          <a:xfrm>
            <a:off x="5762092" y="2953512"/>
            <a:ext cx="2846070" cy="71323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98668" y="3008376"/>
            <a:ext cx="2772918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Reachability below target limits booking opportunities; inconsistent closing after contact.</a:t>
            </a:r>
            <a:endParaRPr lang="en-US" sz="640" dirty="0"/>
          </a:p>
        </p:txBody>
      </p:sp>
      <p:sp>
        <p:nvSpPr>
          <p:cNvPr id="48" name="Shape 46"/>
          <p:cNvSpPr/>
          <p:nvPr/>
        </p:nvSpPr>
        <p:spPr>
          <a:xfrm>
            <a:off x="8608162" y="2953512"/>
            <a:ext cx="3187598" cy="71323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44738" y="3008376"/>
            <a:ext cx="3114446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 daily attempts; track no-answer cases; review 10 calls; escalate if no weekly progress.</a:t>
            </a:r>
            <a:endParaRPr lang="en-US" sz="6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3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896112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91B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640080" y="124358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RCM – Approvals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658368" y="19202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8DC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Highest-risk department; focus on approval SLA, rejection control and case follow-up.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7498080" y="969264"/>
            <a:ext cx="3611880" cy="4251960"/>
          </a:xfrm>
          <a:prstGeom prst="roundRect">
            <a:avLst>
              <a:gd name="adj" fmla="val 2025"/>
            </a:avLst>
          </a:prstGeom>
          <a:solidFill>
            <a:srgbClr val="123456"/>
          </a:solidFill>
          <a:ln w="9525">
            <a:solidFill>
              <a:srgbClr val="2A58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18120" y="131673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will review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18120" y="1810512"/>
            <a:ext cx="109728" cy="109728"/>
          </a:xfrm>
          <a:prstGeom prst="rect">
            <a:avLst/>
          </a:prstGeom>
          <a:solidFill>
            <a:srgbClr val="D53F49"/>
          </a:solidFill>
          <a:ln w="12700">
            <a:solidFill>
              <a:srgbClr val="D53F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173736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DCEA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and SLA KPIs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7818120" y="2468880"/>
            <a:ext cx="109728" cy="109728"/>
          </a:xfrm>
          <a:prstGeom prst="rect">
            <a:avLst/>
          </a:prstGeom>
          <a:solidFill>
            <a:srgbClr val="D53F49"/>
          </a:solidFill>
          <a:ln w="12700">
            <a:solidFill>
              <a:srgbClr val="D53F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239572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DCEA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Unsatisfactory employee review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7818120" y="3127248"/>
            <a:ext cx="109728" cy="109728"/>
          </a:xfrm>
          <a:prstGeom prst="rect">
            <a:avLst/>
          </a:prstGeom>
          <a:solidFill>
            <a:srgbClr val="D53F49"/>
          </a:solidFill>
          <a:ln w="12700">
            <a:solidFill>
              <a:srgbClr val="D53F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305409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DCEA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Follow-up control plan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8854135" y="32004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2026  |  SGH Offshore Branch  |  10</a:t>
            </a:r>
            <a:endParaRPr lang="en-US" sz="770" dirty="0"/>
          </a:p>
        </p:txBody>
      </p:sp>
      <p:sp>
        <p:nvSpPr>
          <p:cNvPr id="17" name="Text 15"/>
          <p:cNvSpPr/>
          <p:nvPr/>
        </p:nvSpPr>
        <p:spPr>
          <a:xfrm>
            <a:off x="640080" y="6272784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8F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— INTERNAL USE ONLY</a:t>
            </a:r>
            <a:endParaRPr lang="en-US" sz="620" dirty="0"/>
          </a:p>
        </p:txBody>
      </p:sp>
      <p:sp>
        <p:nvSpPr>
          <p:cNvPr id="18" name="Text 16"/>
          <p:cNvSpPr/>
          <p:nvPr/>
        </p:nvSpPr>
        <p:spPr>
          <a:xfrm>
            <a:off x="11478463" y="627278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8F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6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2801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RCM – Approvals Department | Jul 2026 Performance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56616" y="512064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performance, KPI baseline and MoM change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8854135" y="22860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2026  |  SGH Offshore Branch  |  11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EF5"/>
          </a:solidFill>
          <a:ln w="8890">
            <a:solidFill>
              <a:srgbClr val="E8EE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6693408"/>
            <a:ext cx="228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— INTERNAL USE ONLY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61343" y="6693408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>
            <a:off x="411480" y="932688"/>
            <a:ext cx="11384280" cy="329184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042416"/>
            <a:ext cx="3657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DEPARTMENT: Revenue Cycle Management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02920" y="1554480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FCE8EA"/>
          </a:solidFill>
          <a:ln w="11430">
            <a:solidFill>
              <a:srgbClr val="D53F49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1554480"/>
            <a:ext cx="59436" cy="1170432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" y="1709928"/>
            <a:ext cx="2350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 Performance Score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630936" y="202996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4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64%</a:t>
            </a:r>
            <a:endParaRPr lang="en-US" sz="1640" dirty="0"/>
          </a:p>
        </p:txBody>
      </p:sp>
      <p:sp>
        <p:nvSpPr>
          <p:cNvPr id="16" name="Text 14"/>
          <p:cNvSpPr/>
          <p:nvPr/>
        </p:nvSpPr>
        <p:spPr>
          <a:xfrm>
            <a:off x="1965960" y="2020824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68.5%</a:t>
            </a:r>
            <a:endParaRPr lang="en-US" sz="620" dirty="0"/>
          </a:p>
        </p:txBody>
      </p:sp>
      <p:sp>
        <p:nvSpPr>
          <p:cNvPr id="17" name="Text 15"/>
          <p:cNvSpPr/>
          <p:nvPr/>
        </p:nvSpPr>
        <p:spPr>
          <a:xfrm>
            <a:off x="1965960" y="2221992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 -4.5%</a:t>
            </a:r>
            <a:endParaRPr lang="en-US" sz="620" dirty="0"/>
          </a:p>
        </p:txBody>
      </p:sp>
      <p:sp>
        <p:nvSpPr>
          <p:cNvPr id="18" name="Text 16"/>
          <p:cNvSpPr/>
          <p:nvPr/>
        </p:nvSpPr>
        <p:spPr>
          <a:xfrm>
            <a:off x="630936" y="2423160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≥89%</a:t>
            </a:r>
            <a:endParaRPr lang="en-US" sz="620" dirty="0"/>
          </a:p>
        </p:txBody>
      </p:sp>
      <p:sp>
        <p:nvSpPr>
          <p:cNvPr id="19" name="Text 17"/>
          <p:cNvSpPr/>
          <p:nvPr/>
        </p:nvSpPr>
        <p:spPr>
          <a:xfrm>
            <a:off x="630936" y="2587752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 target</a:t>
            </a:r>
            <a:endParaRPr lang="en-US" sz="620" dirty="0"/>
          </a:p>
        </p:txBody>
      </p:sp>
      <p:sp>
        <p:nvSpPr>
          <p:cNvPr id="20" name="Shape 18"/>
          <p:cNvSpPr/>
          <p:nvPr/>
        </p:nvSpPr>
        <p:spPr>
          <a:xfrm>
            <a:off x="3337560" y="1554480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FCE8EA"/>
          </a:solidFill>
          <a:ln w="11430">
            <a:solidFill>
              <a:srgbClr val="D53F49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37560" y="1554480"/>
            <a:ext cx="59436" cy="1170432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65576" y="1709928"/>
            <a:ext cx="2350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 Within 48 hrs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3465576" y="202996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4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75%</a:t>
            </a:r>
            <a:endParaRPr lang="en-US" sz="1640" dirty="0"/>
          </a:p>
        </p:txBody>
      </p:sp>
      <p:sp>
        <p:nvSpPr>
          <p:cNvPr id="24" name="Text 22"/>
          <p:cNvSpPr/>
          <p:nvPr/>
        </p:nvSpPr>
        <p:spPr>
          <a:xfrm>
            <a:off x="4800600" y="2020824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72.0%</a:t>
            </a:r>
            <a:endParaRPr lang="en-US" sz="620" dirty="0"/>
          </a:p>
        </p:txBody>
      </p:sp>
      <p:sp>
        <p:nvSpPr>
          <p:cNvPr id="25" name="Text 23"/>
          <p:cNvSpPr/>
          <p:nvPr/>
        </p:nvSpPr>
        <p:spPr>
          <a:xfrm>
            <a:off x="4800600" y="2221992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 +3.0%</a:t>
            </a:r>
            <a:endParaRPr lang="en-US" sz="620" dirty="0"/>
          </a:p>
        </p:txBody>
      </p:sp>
      <p:sp>
        <p:nvSpPr>
          <p:cNvPr id="26" name="Text 24"/>
          <p:cNvSpPr/>
          <p:nvPr/>
        </p:nvSpPr>
        <p:spPr>
          <a:xfrm>
            <a:off x="3465576" y="2423160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90%</a:t>
            </a:r>
            <a:endParaRPr lang="en-US" sz="620" dirty="0"/>
          </a:p>
        </p:txBody>
      </p:sp>
      <p:sp>
        <p:nvSpPr>
          <p:cNvPr id="27" name="Text 25"/>
          <p:cNvSpPr/>
          <p:nvPr/>
        </p:nvSpPr>
        <p:spPr>
          <a:xfrm>
            <a:off x="3465576" y="2587752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 target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6172200" y="1554480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E8F6EF"/>
          </a:solidFill>
          <a:ln w="11430">
            <a:solidFill>
              <a:srgbClr val="22A66F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72200" y="1554480"/>
            <a:ext cx="59436" cy="1170432"/>
          </a:xfrm>
          <a:prstGeom prst="rect">
            <a:avLst/>
          </a:prstGeom>
          <a:solidFill>
            <a:srgbClr val="22A66F"/>
          </a:solidFill>
          <a:ln w="8890">
            <a:solidFill>
              <a:srgbClr val="22A66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0216" y="1709928"/>
            <a:ext cx="2350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Error Rate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6300216" y="202996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4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1%</a:t>
            </a:r>
            <a:endParaRPr lang="en-US" sz="1640" dirty="0"/>
          </a:p>
        </p:txBody>
      </p:sp>
      <p:sp>
        <p:nvSpPr>
          <p:cNvPr id="32" name="Text 30"/>
          <p:cNvSpPr/>
          <p:nvPr/>
        </p:nvSpPr>
        <p:spPr>
          <a:xfrm>
            <a:off x="7635240" y="2020824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1.7%</a:t>
            </a:r>
            <a:endParaRPr lang="en-US" sz="620" dirty="0"/>
          </a:p>
        </p:txBody>
      </p:sp>
      <p:sp>
        <p:nvSpPr>
          <p:cNvPr id="33" name="Text 31"/>
          <p:cNvSpPr/>
          <p:nvPr/>
        </p:nvSpPr>
        <p:spPr>
          <a:xfrm>
            <a:off x="7635240" y="2221992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 -0.7%</a:t>
            </a:r>
            <a:endParaRPr lang="en-US" sz="620" dirty="0"/>
          </a:p>
        </p:txBody>
      </p:sp>
      <p:sp>
        <p:nvSpPr>
          <p:cNvPr id="34" name="Text 32"/>
          <p:cNvSpPr/>
          <p:nvPr/>
        </p:nvSpPr>
        <p:spPr>
          <a:xfrm>
            <a:off x="6300216" y="2423160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≤3%</a:t>
            </a:r>
            <a:endParaRPr lang="en-US" sz="620" dirty="0"/>
          </a:p>
        </p:txBody>
      </p:sp>
      <p:sp>
        <p:nvSpPr>
          <p:cNvPr id="35" name="Text 33"/>
          <p:cNvSpPr/>
          <p:nvPr/>
        </p:nvSpPr>
        <p:spPr>
          <a:xfrm>
            <a:off x="6300216" y="2587752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Within target</a:t>
            </a:r>
            <a:endParaRPr lang="en-US" sz="620" dirty="0"/>
          </a:p>
        </p:txBody>
      </p:sp>
      <p:sp>
        <p:nvSpPr>
          <p:cNvPr id="36" name="Shape 34"/>
          <p:cNvSpPr/>
          <p:nvPr/>
        </p:nvSpPr>
        <p:spPr>
          <a:xfrm>
            <a:off x="9006840" y="1554480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FCE8EA"/>
          </a:solidFill>
          <a:ln w="11430">
            <a:solidFill>
              <a:srgbClr val="D53F49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006840" y="1554480"/>
            <a:ext cx="59436" cy="1170432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34856" y="1709928"/>
            <a:ext cx="2350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Rejection Rate</a:t>
            </a:r>
            <a:endParaRPr lang="en-US" sz="840" dirty="0"/>
          </a:p>
        </p:txBody>
      </p:sp>
      <p:sp>
        <p:nvSpPr>
          <p:cNvPr id="39" name="Text 37"/>
          <p:cNvSpPr/>
          <p:nvPr/>
        </p:nvSpPr>
        <p:spPr>
          <a:xfrm>
            <a:off x="9134856" y="202996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4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8.1%</a:t>
            </a:r>
            <a:endParaRPr lang="en-US" sz="1640" dirty="0"/>
          </a:p>
        </p:txBody>
      </p:sp>
      <p:sp>
        <p:nvSpPr>
          <p:cNvPr id="40" name="Text 38"/>
          <p:cNvSpPr/>
          <p:nvPr/>
        </p:nvSpPr>
        <p:spPr>
          <a:xfrm>
            <a:off x="10469880" y="2020824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6.1%</a:t>
            </a:r>
            <a:endParaRPr lang="en-US" sz="620" dirty="0"/>
          </a:p>
        </p:txBody>
      </p:sp>
      <p:sp>
        <p:nvSpPr>
          <p:cNvPr id="41" name="Text 39"/>
          <p:cNvSpPr/>
          <p:nvPr/>
        </p:nvSpPr>
        <p:spPr>
          <a:xfrm>
            <a:off x="10469880" y="2221992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 +2.0%</a:t>
            </a:r>
            <a:endParaRPr lang="en-US" sz="620" dirty="0"/>
          </a:p>
        </p:txBody>
      </p:sp>
      <p:sp>
        <p:nvSpPr>
          <p:cNvPr id="42" name="Text 40"/>
          <p:cNvSpPr/>
          <p:nvPr/>
        </p:nvSpPr>
        <p:spPr>
          <a:xfrm>
            <a:off x="9134856" y="2423160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≤3%</a:t>
            </a:r>
            <a:endParaRPr lang="en-US" sz="620" dirty="0"/>
          </a:p>
        </p:txBody>
      </p:sp>
      <p:sp>
        <p:nvSpPr>
          <p:cNvPr id="43" name="Text 41"/>
          <p:cNvSpPr/>
          <p:nvPr/>
        </p:nvSpPr>
        <p:spPr>
          <a:xfrm>
            <a:off x="9134856" y="2587752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Above target</a:t>
            </a:r>
            <a:endParaRPr lang="en-US" sz="620" dirty="0"/>
          </a:p>
        </p:txBody>
      </p:sp>
      <p:sp>
        <p:nvSpPr>
          <p:cNvPr id="44" name="Text 42"/>
          <p:cNvSpPr/>
          <p:nvPr/>
        </p:nvSpPr>
        <p:spPr>
          <a:xfrm>
            <a:off x="502920" y="3273552"/>
            <a:ext cx="1120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Individual Performance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502920" y="3584448"/>
            <a:ext cx="11201400" cy="36576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2920" y="3794760"/>
            <a:ext cx="3808476" cy="36576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9496" y="3849624"/>
            <a:ext cx="3735324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4311396" y="3794760"/>
            <a:ext cx="1120140" cy="36576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47972" y="3849624"/>
            <a:ext cx="104698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5431536" y="3794760"/>
            <a:ext cx="1792224" cy="36576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68112" y="3849624"/>
            <a:ext cx="1719072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Grade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7223760" y="3794760"/>
            <a:ext cx="1568196" cy="36576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60336" y="3849624"/>
            <a:ext cx="1495044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Rejection %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8791956" y="3794760"/>
            <a:ext cx="1344168" cy="36576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828532" y="3849624"/>
            <a:ext cx="127101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Errors %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10136124" y="3794760"/>
            <a:ext cx="1568196" cy="36576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172700" y="3849624"/>
            <a:ext cx="1495044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Rate %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502920" y="4160520"/>
            <a:ext cx="3808476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9496" y="4215384"/>
            <a:ext cx="3735324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Salma Hussein El-Ramly</a:t>
            </a:r>
            <a:endParaRPr lang="en-US" sz="710" dirty="0"/>
          </a:p>
        </p:txBody>
      </p:sp>
      <p:sp>
        <p:nvSpPr>
          <p:cNvPr id="60" name="Shape 58"/>
          <p:cNvSpPr/>
          <p:nvPr/>
        </p:nvSpPr>
        <p:spPr>
          <a:xfrm>
            <a:off x="4311396" y="4160520"/>
            <a:ext cx="1120140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47972" y="4215384"/>
            <a:ext cx="1046988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53%</a:t>
            </a:r>
            <a:endParaRPr lang="en-US" sz="710" dirty="0"/>
          </a:p>
        </p:txBody>
      </p:sp>
      <p:sp>
        <p:nvSpPr>
          <p:cNvPr id="62" name="Shape 60"/>
          <p:cNvSpPr/>
          <p:nvPr/>
        </p:nvSpPr>
        <p:spPr>
          <a:xfrm>
            <a:off x="5431536" y="4160520"/>
            <a:ext cx="1792224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68112" y="4215384"/>
            <a:ext cx="1719072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Unsatisfactory</a:t>
            </a:r>
            <a:endParaRPr lang="en-US" sz="710" dirty="0"/>
          </a:p>
        </p:txBody>
      </p:sp>
      <p:sp>
        <p:nvSpPr>
          <p:cNvPr id="64" name="Shape 62"/>
          <p:cNvSpPr/>
          <p:nvPr/>
        </p:nvSpPr>
        <p:spPr>
          <a:xfrm>
            <a:off x="7223760" y="4160520"/>
            <a:ext cx="1568196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260336" y="4215384"/>
            <a:ext cx="1495044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13.6%</a:t>
            </a:r>
            <a:endParaRPr lang="en-US" sz="710" dirty="0"/>
          </a:p>
        </p:txBody>
      </p:sp>
      <p:sp>
        <p:nvSpPr>
          <p:cNvPr id="66" name="Shape 64"/>
          <p:cNvSpPr/>
          <p:nvPr/>
        </p:nvSpPr>
        <p:spPr>
          <a:xfrm>
            <a:off x="8791956" y="4160520"/>
            <a:ext cx="1344168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828532" y="4215384"/>
            <a:ext cx="127101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710" dirty="0"/>
          </a:p>
        </p:txBody>
      </p:sp>
      <p:sp>
        <p:nvSpPr>
          <p:cNvPr id="68" name="Shape 66"/>
          <p:cNvSpPr/>
          <p:nvPr/>
        </p:nvSpPr>
        <p:spPr>
          <a:xfrm>
            <a:off x="10136124" y="4160520"/>
            <a:ext cx="1568196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172700" y="4215384"/>
            <a:ext cx="1495044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65%</a:t>
            </a:r>
            <a:endParaRPr lang="en-US" sz="710" dirty="0"/>
          </a:p>
        </p:txBody>
      </p:sp>
      <p:sp>
        <p:nvSpPr>
          <p:cNvPr id="70" name="Shape 68"/>
          <p:cNvSpPr/>
          <p:nvPr/>
        </p:nvSpPr>
        <p:spPr>
          <a:xfrm>
            <a:off x="502920" y="4517136"/>
            <a:ext cx="3808476" cy="356616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39496" y="4572000"/>
            <a:ext cx="3735324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Omar Abdelhamid Konswa</a:t>
            </a:r>
            <a:endParaRPr lang="en-US" sz="710" dirty="0"/>
          </a:p>
        </p:txBody>
      </p:sp>
      <p:sp>
        <p:nvSpPr>
          <p:cNvPr id="72" name="Shape 70"/>
          <p:cNvSpPr/>
          <p:nvPr/>
        </p:nvSpPr>
        <p:spPr>
          <a:xfrm>
            <a:off x="4311396" y="4517136"/>
            <a:ext cx="1120140" cy="356616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347972" y="4572000"/>
            <a:ext cx="1046988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57%</a:t>
            </a:r>
            <a:endParaRPr lang="en-US" sz="710" dirty="0"/>
          </a:p>
        </p:txBody>
      </p:sp>
      <p:sp>
        <p:nvSpPr>
          <p:cNvPr id="74" name="Shape 72"/>
          <p:cNvSpPr/>
          <p:nvPr/>
        </p:nvSpPr>
        <p:spPr>
          <a:xfrm>
            <a:off x="5431536" y="4517136"/>
            <a:ext cx="1792224" cy="356616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468112" y="4572000"/>
            <a:ext cx="1719072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Unsatisfactory</a:t>
            </a:r>
            <a:endParaRPr lang="en-US" sz="710" dirty="0"/>
          </a:p>
        </p:txBody>
      </p:sp>
      <p:sp>
        <p:nvSpPr>
          <p:cNvPr id="76" name="Shape 74"/>
          <p:cNvSpPr/>
          <p:nvPr/>
        </p:nvSpPr>
        <p:spPr>
          <a:xfrm>
            <a:off x="7223760" y="4517136"/>
            <a:ext cx="1568196" cy="356616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260336" y="4572000"/>
            <a:ext cx="1495044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9.6%</a:t>
            </a:r>
            <a:endParaRPr lang="en-US" sz="710" dirty="0"/>
          </a:p>
        </p:txBody>
      </p:sp>
      <p:sp>
        <p:nvSpPr>
          <p:cNvPr id="78" name="Shape 76"/>
          <p:cNvSpPr/>
          <p:nvPr/>
        </p:nvSpPr>
        <p:spPr>
          <a:xfrm>
            <a:off x="8791956" y="4517136"/>
            <a:ext cx="1344168" cy="356616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828532" y="4572000"/>
            <a:ext cx="127101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0.5%</a:t>
            </a:r>
            <a:endParaRPr lang="en-US" sz="710" dirty="0"/>
          </a:p>
        </p:txBody>
      </p:sp>
      <p:sp>
        <p:nvSpPr>
          <p:cNvPr id="80" name="Shape 78"/>
          <p:cNvSpPr/>
          <p:nvPr/>
        </p:nvSpPr>
        <p:spPr>
          <a:xfrm>
            <a:off x="10136124" y="4517136"/>
            <a:ext cx="1568196" cy="356616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172700" y="4572000"/>
            <a:ext cx="1495044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63%</a:t>
            </a:r>
            <a:endParaRPr lang="en-US" sz="710" dirty="0"/>
          </a:p>
        </p:txBody>
      </p:sp>
      <p:sp>
        <p:nvSpPr>
          <p:cNvPr id="82" name="Shape 80"/>
          <p:cNvSpPr/>
          <p:nvPr/>
        </p:nvSpPr>
        <p:spPr>
          <a:xfrm>
            <a:off x="502920" y="4873752"/>
            <a:ext cx="3808476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39496" y="4928616"/>
            <a:ext cx="3735324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Nouran Salah Anwar Mohamed Dekrori</a:t>
            </a:r>
            <a:endParaRPr lang="en-US" sz="710" dirty="0"/>
          </a:p>
        </p:txBody>
      </p:sp>
      <p:sp>
        <p:nvSpPr>
          <p:cNvPr id="84" name="Shape 82"/>
          <p:cNvSpPr/>
          <p:nvPr/>
        </p:nvSpPr>
        <p:spPr>
          <a:xfrm>
            <a:off x="4311396" y="4873752"/>
            <a:ext cx="1120140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347972" y="4928616"/>
            <a:ext cx="1046988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61%</a:t>
            </a:r>
            <a:endParaRPr lang="en-US" sz="710" dirty="0"/>
          </a:p>
        </p:txBody>
      </p:sp>
      <p:sp>
        <p:nvSpPr>
          <p:cNvPr id="86" name="Shape 84"/>
          <p:cNvSpPr/>
          <p:nvPr/>
        </p:nvSpPr>
        <p:spPr>
          <a:xfrm>
            <a:off x="5431536" y="4873752"/>
            <a:ext cx="1792224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468112" y="4928616"/>
            <a:ext cx="1719072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Unsatisfactory</a:t>
            </a:r>
            <a:endParaRPr lang="en-US" sz="710" dirty="0"/>
          </a:p>
        </p:txBody>
      </p:sp>
      <p:sp>
        <p:nvSpPr>
          <p:cNvPr id="88" name="Shape 86"/>
          <p:cNvSpPr/>
          <p:nvPr/>
        </p:nvSpPr>
        <p:spPr>
          <a:xfrm>
            <a:off x="7223760" y="4873752"/>
            <a:ext cx="1568196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260336" y="4928616"/>
            <a:ext cx="1495044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9.7%</a:t>
            </a:r>
            <a:endParaRPr lang="en-US" sz="710" dirty="0"/>
          </a:p>
        </p:txBody>
      </p:sp>
      <p:sp>
        <p:nvSpPr>
          <p:cNvPr id="90" name="Shape 88"/>
          <p:cNvSpPr/>
          <p:nvPr/>
        </p:nvSpPr>
        <p:spPr>
          <a:xfrm>
            <a:off x="8791956" y="4873752"/>
            <a:ext cx="1344168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828532" y="4928616"/>
            <a:ext cx="127101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1%</a:t>
            </a:r>
            <a:endParaRPr lang="en-US" sz="710" dirty="0"/>
          </a:p>
        </p:txBody>
      </p:sp>
      <p:sp>
        <p:nvSpPr>
          <p:cNvPr id="92" name="Shape 90"/>
          <p:cNvSpPr/>
          <p:nvPr/>
        </p:nvSpPr>
        <p:spPr>
          <a:xfrm>
            <a:off x="10136124" y="4873752"/>
            <a:ext cx="1568196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0172700" y="4928616"/>
            <a:ext cx="1495044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75%</a:t>
            </a:r>
            <a:endParaRPr lang="en-US" sz="710" dirty="0"/>
          </a:p>
        </p:txBody>
      </p:sp>
      <p:sp>
        <p:nvSpPr>
          <p:cNvPr id="94" name="Shape 92"/>
          <p:cNvSpPr/>
          <p:nvPr/>
        </p:nvSpPr>
        <p:spPr>
          <a:xfrm>
            <a:off x="502920" y="5230368"/>
            <a:ext cx="3808476" cy="356616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39496" y="5285232"/>
            <a:ext cx="3735324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Hadeer Gamal Asaad Rashed</a:t>
            </a:r>
            <a:endParaRPr lang="en-US" sz="710" dirty="0"/>
          </a:p>
        </p:txBody>
      </p:sp>
      <p:sp>
        <p:nvSpPr>
          <p:cNvPr id="96" name="Shape 94"/>
          <p:cNvSpPr/>
          <p:nvPr/>
        </p:nvSpPr>
        <p:spPr>
          <a:xfrm>
            <a:off x="4311396" y="5230368"/>
            <a:ext cx="1120140" cy="356616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347972" y="5285232"/>
            <a:ext cx="1046988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57%</a:t>
            </a:r>
            <a:endParaRPr lang="en-US" sz="710" dirty="0"/>
          </a:p>
        </p:txBody>
      </p:sp>
      <p:sp>
        <p:nvSpPr>
          <p:cNvPr id="98" name="Shape 96"/>
          <p:cNvSpPr/>
          <p:nvPr/>
        </p:nvSpPr>
        <p:spPr>
          <a:xfrm>
            <a:off x="5431536" y="5230368"/>
            <a:ext cx="1792224" cy="356616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468112" y="5285232"/>
            <a:ext cx="1719072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Unsatisfactory</a:t>
            </a:r>
            <a:endParaRPr lang="en-US" sz="710" dirty="0"/>
          </a:p>
        </p:txBody>
      </p:sp>
      <p:sp>
        <p:nvSpPr>
          <p:cNvPr id="100" name="Shape 98"/>
          <p:cNvSpPr/>
          <p:nvPr/>
        </p:nvSpPr>
        <p:spPr>
          <a:xfrm>
            <a:off x="7223760" y="5230368"/>
            <a:ext cx="1568196" cy="356616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260336" y="5285232"/>
            <a:ext cx="1495044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6.6%</a:t>
            </a:r>
            <a:endParaRPr lang="en-US" sz="710" dirty="0"/>
          </a:p>
        </p:txBody>
      </p:sp>
      <p:sp>
        <p:nvSpPr>
          <p:cNvPr id="102" name="Shape 100"/>
          <p:cNvSpPr/>
          <p:nvPr/>
        </p:nvSpPr>
        <p:spPr>
          <a:xfrm>
            <a:off x="8791956" y="5230368"/>
            <a:ext cx="1344168" cy="356616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828532" y="5285232"/>
            <a:ext cx="127101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710" dirty="0"/>
          </a:p>
        </p:txBody>
      </p:sp>
      <p:sp>
        <p:nvSpPr>
          <p:cNvPr id="104" name="Shape 102"/>
          <p:cNvSpPr/>
          <p:nvPr/>
        </p:nvSpPr>
        <p:spPr>
          <a:xfrm>
            <a:off x="10136124" y="5230368"/>
            <a:ext cx="1568196" cy="356616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0172700" y="5285232"/>
            <a:ext cx="1495044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66%</a:t>
            </a:r>
            <a:endParaRPr lang="en-US" sz="710" dirty="0"/>
          </a:p>
        </p:txBody>
      </p:sp>
      <p:sp>
        <p:nvSpPr>
          <p:cNvPr id="106" name="Shape 104"/>
          <p:cNvSpPr/>
          <p:nvPr/>
        </p:nvSpPr>
        <p:spPr>
          <a:xfrm>
            <a:off x="502920" y="5586984"/>
            <a:ext cx="3808476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39496" y="5641848"/>
            <a:ext cx="3735324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Manar Emad Mohamed El-Sayed Hassan</a:t>
            </a:r>
            <a:endParaRPr lang="en-US" sz="710" dirty="0"/>
          </a:p>
        </p:txBody>
      </p:sp>
      <p:sp>
        <p:nvSpPr>
          <p:cNvPr id="108" name="Shape 106"/>
          <p:cNvSpPr/>
          <p:nvPr/>
        </p:nvSpPr>
        <p:spPr>
          <a:xfrm>
            <a:off x="4311396" y="5586984"/>
            <a:ext cx="1120140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347972" y="5641848"/>
            <a:ext cx="1046988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710" dirty="0"/>
          </a:p>
        </p:txBody>
      </p:sp>
      <p:sp>
        <p:nvSpPr>
          <p:cNvPr id="110" name="Shape 108"/>
          <p:cNvSpPr/>
          <p:nvPr/>
        </p:nvSpPr>
        <p:spPr>
          <a:xfrm>
            <a:off x="5431536" y="5586984"/>
            <a:ext cx="1792224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468112" y="5641848"/>
            <a:ext cx="1719072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Excellent</a:t>
            </a:r>
            <a:endParaRPr lang="en-US" sz="710" dirty="0"/>
          </a:p>
        </p:txBody>
      </p:sp>
      <p:sp>
        <p:nvSpPr>
          <p:cNvPr id="112" name="Shape 110"/>
          <p:cNvSpPr/>
          <p:nvPr/>
        </p:nvSpPr>
        <p:spPr>
          <a:xfrm>
            <a:off x="7223760" y="5586984"/>
            <a:ext cx="1568196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260336" y="5641848"/>
            <a:ext cx="1495044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2.4%</a:t>
            </a:r>
            <a:endParaRPr lang="en-US" sz="710" dirty="0"/>
          </a:p>
        </p:txBody>
      </p:sp>
      <p:sp>
        <p:nvSpPr>
          <p:cNvPr id="114" name="Shape 112"/>
          <p:cNvSpPr/>
          <p:nvPr/>
        </p:nvSpPr>
        <p:spPr>
          <a:xfrm>
            <a:off x="8791956" y="5586984"/>
            <a:ext cx="1344168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828532" y="5641848"/>
            <a:ext cx="127101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710" dirty="0"/>
          </a:p>
        </p:txBody>
      </p:sp>
      <p:sp>
        <p:nvSpPr>
          <p:cNvPr id="116" name="Shape 114"/>
          <p:cNvSpPr/>
          <p:nvPr/>
        </p:nvSpPr>
        <p:spPr>
          <a:xfrm>
            <a:off x="10136124" y="5586984"/>
            <a:ext cx="1568196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0172700" y="5641848"/>
            <a:ext cx="1495044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7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2801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RCM – Corrective Action Plans | Jul 2026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56616" y="512064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Employee-level root cause and action plans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8854135" y="22860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2026  |  SGH Offshore Branch  |  12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EF5"/>
          </a:solidFill>
          <a:ln w="8890">
            <a:solidFill>
              <a:srgbClr val="E8EE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6693408"/>
            <a:ext cx="228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— INTERNAL USE ONLY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61343" y="6693408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>
            <a:off x="411480" y="1143000"/>
            <a:ext cx="2276856" cy="45720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" y="1197864"/>
            <a:ext cx="220370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</a:t>
            </a:r>
            <a:endParaRPr lang="en-US" sz="690" dirty="0"/>
          </a:p>
        </p:txBody>
      </p:sp>
      <p:sp>
        <p:nvSpPr>
          <p:cNvPr id="12" name="Shape 10"/>
          <p:cNvSpPr/>
          <p:nvPr/>
        </p:nvSpPr>
        <p:spPr>
          <a:xfrm>
            <a:off x="2688336" y="1143000"/>
            <a:ext cx="1593799" cy="45720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24912" y="1197864"/>
            <a:ext cx="1520647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/ Grade</a:t>
            </a:r>
            <a:endParaRPr lang="en-US" sz="690" dirty="0"/>
          </a:p>
        </p:txBody>
      </p:sp>
      <p:sp>
        <p:nvSpPr>
          <p:cNvPr id="14" name="Shape 12"/>
          <p:cNvSpPr/>
          <p:nvPr/>
        </p:nvSpPr>
        <p:spPr>
          <a:xfrm>
            <a:off x="4282135" y="1143000"/>
            <a:ext cx="1479956" cy="45720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18711" y="1197864"/>
            <a:ext cx="140680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Issues</a:t>
            </a:r>
            <a:endParaRPr lang="en-US" sz="690" dirty="0"/>
          </a:p>
        </p:txBody>
      </p:sp>
      <p:sp>
        <p:nvSpPr>
          <p:cNvPr id="16" name="Shape 14"/>
          <p:cNvSpPr/>
          <p:nvPr/>
        </p:nvSpPr>
        <p:spPr>
          <a:xfrm>
            <a:off x="5762092" y="1143000"/>
            <a:ext cx="2846070" cy="45720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98668" y="1197864"/>
            <a:ext cx="277291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Cause</a:t>
            </a:r>
            <a:endParaRPr lang="en-US" sz="690" dirty="0"/>
          </a:p>
        </p:txBody>
      </p:sp>
      <p:sp>
        <p:nvSpPr>
          <p:cNvPr id="18" name="Shape 16"/>
          <p:cNvSpPr/>
          <p:nvPr/>
        </p:nvSpPr>
        <p:spPr>
          <a:xfrm>
            <a:off x="8608162" y="1143000"/>
            <a:ext cx="3187598" cy="45720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44738" y="1197864"/>
            <a:ext cx="311444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Corrective Actions</a:t>
            </a:r>
            <a:endParaRPr lang="en-US" sz="690" dirty="0"/>
          </a:p>
        </p:txBody>
      </p:sp>
      <p:sp>
        <p:nvSpPr>
          <p:cNvPr id="20" name="Shape 18"/>
          <p:cNvSpPr/>
          <p:nvPr/>
        </p:nvSpPr>
        <p:spPr>
          <a:xfrm>
            <a:off x="411480" y="1600200"/>
            <a:ext cx="2276856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" y="1655064"/>
            <a:ext cx="220370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Salma Hussein El-Ramly</a:t>
            </a:r>
            <a:endParaRPr lang="en-US" sz="640" dirty="0"/>
          </a:p>
        </p:txBody>
      </p:sp>
      <p:sp>
        <p:nvSpPr>
          <p:cNvPr id="22" name="Shape 20"/>
          <p:cNvSpPr/>
          <p:nvPr/>
        </p:nvSpPr>
        <p:spPr>
          <a:xfrm>
            <a:off x="2688336" y="1600200"/>
            <a:ext cx="1593799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24912" y="1655064"/>
            <a:ext cx="1520647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53% / Unsatisfactory</a:t>
            </a:r>
            <a:endParaRPr lang="en-US" sz="640" dirty="0"/>
          </a:p>
        </p:txBody>
      </p:sp>
      <p:sp>
        <p:nvSpPr>
          <p:cNvPr id="24" name="Shape 22"/>
          <p:cNvSpPr/>
          <p:nvPr/>
        </p:nvSpPr>
        <p:spPr>
          <a:xfrm>
            <a:off x="4282135" y="1600200"/>
            <a:ext cx="1479956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18711" y="1655064"/>
            <a:ext cx="140680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Rejection 13.6%; Submission 65%</a:t>
            </a:r>
            <a:endParaRPr lang="en-US" sz="640" dirty="0"/>
          </a:p>
        </p:txBody>
      </p:sp>
      <p:sp>
        <p:nvSpPr>
          <p:cNvPr id="26" name="Shape 24"/>
          <p:cNvSpPr/>
          <p:nvPr/>
        </p:nvSpPr>
        <p:spPr>
          <a:xfrm>
            <a:off x="5762092" y="1600200"/>
            <a:ext cx="2846070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98668" y="1655064"/>
            <a:ext cx="2772918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Rejection above 3% target; submission below 90% target.</a:t>
            </a:r>
            <a:endParaRPr lang="en-US" sz="640" dirty="0"/>
          </a:p>
        </p:txBody>
      </p:sp>
      <p:sp>
        <p:nvSpPr>
          <p:cNvPr id="28" name="Shape 26"/>
          <p:cNvSpPr/>
          <p:nvPr/>
        </p:nvSpPr>
        <p:spPr>
          <a:xfrm>
            <a:off x="8608162" y="1600200"/>
            <a:ext cx="3187598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44738" y="1655064"/>
            <a:ext cx="311444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rejected cases, validate requests before submission, weekly coaching, prioritize aging requests.</a:t>
            </a:r>
            <a:endParaRPr lang="en-US" sz="640" dirty="0"/>
          </a:p>
        </p:txBody>
      </p:sp>
      <p:sp>
        <p:nvSpPr>
          <p:cNvPr id="30" name="Shape 28"/>
          <p:cNvSpPr/>
          <p:nvPr/>
        </p:nvSpPr>
        <p:spPr>
          <a:xfrm>
            <a:off x="411480" y="2240280"/>
            <a:ext cx="2276856" cy="640080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" y="2295144"/>
            <a:ext cx="220370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Omar Abdelhamid Konswa</a:t>
            </a:r>
            <a:endParaRPr lang="en-US" sz="640" dirty="0"/>
          </a:p>
        </p:txBody>
      </p:sp>
      <p:sp>
        <p:nvSpPr>
          <p:cNvPr id="32" name="Shape 30"/>
          <p:cNvSpPr/>
          <p:nvPr/>
        </p:nvSpPr>
        <p:spPr>
          <a:xfrm>
            <a:off x="2688336" y="2240280"/>
            <a:ext cx="1593799" cy="640080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24912" y="2295144"/>
            <a:ext cx="1520647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57% / Unsatisfactory</a:t>
            </a:r>
            <a:endParaRPr lang="en-US" sz="640" dirty="0"/>
          </a:p>
        </p:txBody>
      </p:sp>
      <p:sp>
        <p:nvSpPr>
          <p:cNvPr id="34" name="Shape 32"/>
          <p:cNvSpPr/>
          <p:nvPr/>
        </p:nvSpPr>
        <p:spPr>
          <a:xfrm>
            <a:off x="4282135" y="2240280"/>
            <a:ext cx="1479956" cy="640080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18711" y="2295144"/>
            <a:ext cx="140680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Rejection 9.6%; Submission 63%</a:t>
            </a:r>
            <a:endParaRPr lang="en-US" sz="640" dirty="0"/>
          </a:p>
        </p:txBody>
      </p:sp>
      <p:sp>
        <p:nvSpPr>
          <p:cNvPr id="36" name="Shape 34"/>
          <p:cNvSpPr/>
          <p:nvPr/>
        </p:nvSpPr>
        <p:spPr>
          <a:xfrm>
            <a:off x="5762092" y="2240280"/>
            <a:ext cx="2846070" cy="640080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98668" y="2295144"/>
            <a:ext cx="2772918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Rejection above 3%; submission below 90%.</a:t>
            </a:r>
            <a:endParaRPr lang="en-US" sz="640" dirty="0"/>
          </a:p>
        </p:txBody>
      </p:sp>
      <p:sp>
        <p:nvSpPr>
          <p:cNvPr id="38" name="Shape 36"/>
          <p:cNvSpPr/>
          <p:nvPr/>
        </p:nvSpPr>
        <p:spPr>
          <a:xfrm>
            <a:off x="8608162" y="2240280"/>
            <a:ext cx="3187598" cy="640080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44738" y="2295144"/>
            <a:ext cx="311444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checklist before submission; track 48h cases and escalate delayed cases before deadline.</a:t>
            </a:r>
            <a:endParaRPr lang="en-US" sz="640" dirty="0"/>
          </a:p>
        </p:txBody>
      </p:sp>
      <p:sp>
        <p:nvSpPr>
          <p:cNvPr id="40" name="Shape 38"/>
          <p:cNvSpPr/>
          <p:nvPr/>
        </p:nvSpPr>
        <p:spPr>
          <a:xfrm>
            <a:off x="411480" y="2880360"/>
            <a:ext cx="2276856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8056" y="2935224"/>
            <a:ext cx="220370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Nouran Salah Anwar Mohamed Dekrori</a:t>
            </a:r>
            <a:endParaRPr lang="en-US" sz="640" dirty="0"/>
          </a:p>
        </p:txBody>
      </p:sp>
      <p:sp>
        <p:nvSpPr>
          <p:cNvPr id="42" name="Shape 40"/>
          <p:cNvSpPr/>
          <p:nvPr/>
        </p:nvSpPr>
        <p:spPr>
          <a:xfrm>
            <a:off x="2688336" y="2880360"/>
            <a:ext cx="1593799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24912" y="2935224"/>
            <a:ext cx="1520647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61% / Unsatisfactory</a:t>
            </a:r>
            <a:endParaRPr lang="en-US" sz="640" dirty="0"/>
          </a:p>
        </p:txBody>
      </p:sp>
      <p:sp>
        <p:nvSpPr>
          <p:cNvPr id="44" name="Shape 42"/>
          <p:cNvSpPr/>
          <p:nvPr/>
        </p:nvSpPr>
        <p:spPr>
          <a:xfrm>
            <a:off x="4282135" y="2880360"/>
            <a:ext cx="1479956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18711" y="2935224"/>
            <a:ext cx="140680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Rejection 9.7%; Submission 75%</a:t>
            </a:r>
            <a:endParaRPr lang="en-US" sz="640" dirty="0"/>
          </a:p>
        </p:txBody>
      </p:sp>
      <p:sp>
        <p:nvSpPr>
          <p:cNvPr id="46" name="Shape 44"/>
          <p:cNvSpPr/>
          <p:nvPr/>
        </p:nvSpPr>
        <p:spPr>
          <a:xfrm>
            <a:off x="5762092" y="2880360"/>
            <a:ext cx="2846070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98668" y="2935224"/>
            <a:ext cx="2772918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Rejection above 3%; submission below 90%.</a:t>
            </a:r>
            <a:endParaRPr lang="en-US" sz="640" dirty="0"/>
          </a:p>
        </p:txBody>
      </p:sp>
      <p:sp>
        <p:nvSpPr>
          <p:cNvPr id="48" name="Shape 46"/>
          <p:cNvSpPr/>
          <p:nvPr/>
        </p:nvSpPr>
        <p:spPr>
          <a:xfrm>
            <a:off x="8608162" y="2880360"/>
            <a:ext cx="3187598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44738" y="2935224"/>
            <a:ext cx="311444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rejected cases; apply pre-submission checklist; phone follow-up for pending parties.</a:t>
            </a:r>
            <a:endParaRPr lang="en-US" sz="6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2801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RCM – Corrective Action Plans | Jul 2026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56616" y="512064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Remaining employee under review and follow-up controls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8854135" y="22860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2026  |  SGH Offshore Branch  |  13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EF5"/>
          </a:solidFill>
          <a:ln w="8890">
            <a:solidFill>
              <a:srgbClr val="E8EE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6693408"/>
            <a:ext cx="228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— INTERNAL USE ONLY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61343" y="6693408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>
            <a:off x="502920" y="1188720"/>
            <a:ext cx="2240280" cy="45720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" y="1243584"/>
            <a:ext cx="21671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743200" y="1188720"/>
            <a:ext cx="1568196" cy="45720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79776" y="1243584"/>
            <a:ext cx="149504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/ Grade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311396" y="1188720"/>
            <a:ext cx="1568196" cy="45720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7972" y="1243584"/>
            <a:ext cx="149504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879592" y="1188720"/>
            <a:ext cx="2800350" cy="45720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16168" y="1243584"/>
            <a:ext cx="272719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Cause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8679942" y="1188720"/>
            <a:ext cx="3024378" cy="45720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16518" y="1243584"/>
            <a:ext cx="295122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Corrective Actions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02920" y="1645920"/>
            <a:ext cx="2240280" cy="77724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" y="1700784"/>
            <a:ext cx="2167128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Hadeer Gamal Asaad Rashed</a:t>
            </a:r>
            <a:endParaRPr lang="en-US" sz="660" dirty="0"/>
          </a:p>
        </p:txBody>
      </p:sp>
      <p:sp>
        <p:nvSpPr>
          <p:cNvPr id="22" name="Shape 20"/>
          <p:cNvSpPr/>
          <p:nvPr/>
        </p:nvSpPr>
        <p:spPr>
          <a:xfrm>
            <a:off x="2743200" y="1645920"/>
            <a:ext cx="1568196" cy="77724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79776" y="1700784"/>
            <a:ext cx="1495044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57% / Unsatisfactory</a:t>
            </a:r>
            <a:endParaRPr lang="en-US" sz="660" dirty="0"/>
          </a:p>
        </p:txBody>
      </p:sp>
      <p:sp>
        <p:nvSpPr>
          <p:cNvPr id="24" name="Shape 22"/>
          <p:cNvSpPr/>
          <p:nvPr/>
        </p:nvSpPr>
        <p:spPr>
          <a:xfrm>
            <a:off x="4311396" y="1645920"/>
            <a:ext cx="1568196" cy="77724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7972" y="1700784"/>
            <a:ext cx="1495044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Rejection 6.6%; Submission 66%</a:t>
            </a:r>
            <a:endParaRPr lang="en-US" sz="660" dirty="0"/>
          </a:p>
        </p:txBody>
      </p:sp>
      <p:sp>
        <p:nvSpPr>
          <p:cNvPr id="26" name="Shape 24"/>
          <p:cNvSpPr/>
          <p:nvPr/>
        </p:nvSpPr>
        <p:spPr>
          <a:xfrm>
            <a:off x="5879592" y="1645920"/>
            <a:ext cx="2800350" cy="77724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16168" y="1700784"/>
            <a:ext cx="2727198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Rejection above 3% target; submission below 90% target.</a:t>
            </a:r>
            <a:endParaRPr lang="en-US" sz="660" dirty="0"/>
          </a:p>
        </p:txBody>
      </p:sp>
      <p:sp>
        <p:nvSpPr>
          <p:cNvPr id="28" name="Shape 26"/>
          <p:cNvSpPr/>
          <p:nvPr/>
        </p:nvSpPr>
        <p:spPr>
          <a:xfrm>
            <a:off x="8679942" y="1645920"/>
            <a:ext cx="3024378" cy="77724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16518" y="1700784"/>
            <a:ext cx="2951226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rejected cases, use checklist before submission, monitor rejection rate weekly, track requests approaching 48h.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502920" y="3063240"/>
            <a:ext cx="1120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RCM Follow-up Control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02920" y="3374136"/>
            <a:ext cx="11201400" cy="36576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3703320"/>
            <a:ext cx="2912364" cy="41148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" y="3758184"/>
            <a:ext cx="2839212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Area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3415284" y="3703320"/>
            <a:ext cx="2464308" cy="41148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51860" y="3758184"/>
            <a:ext cx="2391156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5879592" y="3703320"/>
            <a:ext cx="2240280" cy="41148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16168" y="3758184"/>
            <a:ext cx="216712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Cadence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8119872" y="3703320"/>
            <a:ext cx="3584448" cy="41148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56448" y="3758184"/>
            <a:ext cx="3511296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502920" y="4114800"/>
            <a:ext cx="2912364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9496" y="4169664"/>
            <a:ext cx="2839212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Rejected cases review</a:t>
            </a:r>
            <a:endParaRPr lang="en-US" sz="730" dirty="0"/>
          </a:p>
        </p:txBody>
      </p:sp>
      <p:sp>
        <p:nvSpPr>
          <p:cNvPr id="42" name="Shape 40"/>
          <p:cNvSpPr/>
          <p:nvPr/>
        </p:nvSpPr>
        <p:spPr>
          <a:xfrm>
            <a:off x="3415284" y="4114800"/>
            <a:ext cx="2464308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51860" y="4169664"/>
            <a:ext cx="2391156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RCM Supervisor</a:t>
            </a:r>
            <a:endParaRPr lang="en-US" sz="730" dirty="0"/>
          </a:p>
        </p:txBody>
      </p:sp>
      <p:sp>
        <p:nvSpPr>
          <p:cNvPr id="44" name="Shape 42"/>
          <p:cNvSpPr/>
          <p:nvPr/>
        </p:nvSpPr>
        <p:spPr>
          <a:xfrm>
            <a:off x="5879592" y="4114800"/>
            <a:ext cx="22402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16168" y="4169664"/>
            <a:ext cx="216712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</a:t>
            </a:r>
            <a:endParaRPr lang="en-US" sz="730" dirty="0"/>
          </a:p>
        </p:txBody>
      </p:sp>
      <p:sp>
        <p:nvSpPr>
          <p:cNvPr id="46" name="Shape 44"/>
          <p:cNvSpPr/>
          <p:nvPr/>
        </p:nvSpPr>
        <p:spPr>
          <a:xfrm>
            <a:off x="8119872" y="4114800"/>
            <a:ext cx="3584448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56448" y="4169664"/>
            <a:ext cx="3511296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mistakes identified and corrected</a:t>
            </a:r>
            <a:endParaRPr lang="en-US" sz="730" dirty="0"/>
          </a:p>
        </p:txBody>
      </p:sp>
      <p:sp>
        <p:nvSpPr>
          <p:cNvPr id="48" name="Shape 46"/>
          <p:cNvSpPr/>
          <p:nvPr/>
        </p:nvSpPr>
        <p:spPr>
          <a:xfrm>
            <a:off x="502920" y="4526280"/>
            <a:ext cx="2912364" cy="411480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9496" y="4581144"/>
            <a:ext cx="2839212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Pre-submission checklist</a:t>
            </a:r>
            <a:endParaRPr lang="en-US" sz="730" dirty="0"/>
          </a:p>
        </p:txBody>
      </p:sp>
      <p:sp>
        <p:nvSpPr>
          <p:cNvPr id="50" name="Shape 48"/>
          <p:cNvSpPr/>
          <p:nvPr/>
        </p:nvSpPr>
        <p:spPr>
          <a:xfrm>
            <a:off x="3415284" y="4526280"/>
            <a:ext cx="2464308" cy="411480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51860" y="4581144"/>
            <a:ext cx="2391156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 + Supervisor</a:t>
            </a:r>
            <a:endParaRPr lang="en-US" sz="730" dirty="0"/>
          </a:p>
        </p:txBody>
      </p:sp>
      <p:sp>
        <p:nvSpPr>
          <p:cNvPr id="52" name="Shape 50"/>
          <p:cNvSpPr/>
          <p:nvPr/>
        </p:nvSpPr>
        <p:spPr>
          <a:xfrm>
            <a:off x="5879592" y="4526280"/>
            <a:ext cx="2240280" cy="411480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16168" y="4581144"/>
            <a:ext cx="216712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</a:t>
            </a:r>
            <a:endParaRPr lang="en-US" sz="730" dirty="0"/>
          </a:p>
        </p:txBody>
      </p:sp>
      <p:sp>
        <p:nvSpPr>
          <p:cNvPr id="54" name="Shape 52"/>
          <p:cNvSpPr/>
          <p:nvPr/>
        </p:nvSpPr>
        <p:spPr>
          <a:xfrm>
            <a:off x="8119872" y="4526280"/>
            <a:ext cx="3584448" cy="411480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56448" y="4581144"/>
            <a:ext cx="3511296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rejection rate toward ≤3% target</a:t>
            </a:r>
            <a:endParaRPr lang="en-US" sz="730" dirty="0"/>
          </a:p>
        </p:txBody>
      </p:sp>
      <p:sp>
        <p:nvSpPr>
          <p:cNvPr id="56" name="Shape 54"/>
          <p:cNvSpPr/>
          <p:nvPr/>
        </p:nvSpPr>
        <p:spPr>
          <a:xfrm>
            <a:off x="502920" y="4937760"/>
            <a:ext cx="2912364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9496" y="4992624"/>
            <a:ext cx="2839212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Aging case queue</a:t>
            </a:r>
            <a:endParaRPr lang="en-US" sz="730" dirty="0"/>
          </a:p>
        </p:txBody>
      </p:sp>
      <p:sp>
        <p:nvSpPr>
          <p:cNvPr id="58" name="Shape 56"/>
          <p:cNvSpPr/>
          <p:nvPr/>
        </p:nvSpPr>
        <p:spPr>
          <a:xfrm>
            <a:off x="3415284" y="4937760"/>
            <a:ext cx="2464308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51860" y="4992624"/>
            <a:ext cx="2391156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 + Manager</a:t>
            </a:r>
            <a:endParaRPr lang="en-US" sz="730" dirty="0"/>
          </a:p>
        </p:txBody>
      </p:sp>
      <p:sp>
        <p:nvSpPr>
          <p:cNvPr id="60" name="Shape 58"/>
          <p:cNvSpPr/>
          <p:nvPr/>
        </p:nvSpPr>
        <p:spPr>
          <a:xfrm>
            <a:off x="5879592" y="4937760"/>
            <a:ext cx="22402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16168" y="4992624"/>
            <a:ext cx="216712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/ end of day</a:t>
            </a:r>
            <a:endParaRPr lang="en-US" sz="730" dirty="0"/>
          </a:p>
        </p:txBody>
      </p:sp>
      <p:sp>
        <p:nvSpPr>
          <p:cNvPr id="62" name="Shape 60"/>
          <p:cNvSpPr/>
          <p:nvPr/>
        </p:nvSpPr>
        <p:spPr>
          <a:xfrm>
            <a:off x="8119872" y="4937760"/>
            <a:ext cx="3584448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156448" y="4992624"/>
            <a:ext cx="3511296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within 48 hours improves toward 90% target</a:t>
            </a:r>
            <a:endParaRPr lang="en-US" sz="7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3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2A100"/>
          </a:solidFill>
          <a:ln w="8890">
            <a:solidFill>
              <a:srgbClr val="E2A1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2A100"/>
          </a:solidFill>
          <a:ln w="8890">
            <a:solidFill>
              <a:srgbClr val="E2A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896112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91B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640080" y="124358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658368" y="19202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8DC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is now included as an Offshore team with deeper driver and employee analysis.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7498080" y="969264"/>
            <a:ext cx="3611880" cy="4251960"/>
          </a:xfrm>
          <a:prstGeom prst="roundRect">
            <a:avLst>
              <a:gd name="adj" fmla="val 2025"/>
            </a:avLst>
          </a:prstGeom>
          <a:solidFill>
            <a:srgbClr val="123456"/>
          </a:solidFill>
          <a:ln w="9525">
            <a:solidFill>
              <a:srgbClr val="2A58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18120" y="131673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will review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18120" y="1810512"/>
            <a:ext cx="109728" cy="109728"/>
          </a:xfrm>
          <a:prstGeom prst="rect">
            <a:avLst/>
          </a:prstGeom>
          <a:solidFill>
            <a:srgbClr val="E2A100"/>
          </a:solidFill>
          <a:ln w="12700">
            <a:solidFill>
              <a:srgbClr val="E2A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173736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DCEA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score and role performance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7818120" y="2468880"/>
            <a:ext cx="109728" cy="109728"/>
          </a:xfrm>
          <a:prstGeom prst="rect">
            <a:avLst/>
          </a:prstGeom>
          <a:solidFill>
            <a:srgbClr val="E2A100"/>
          </a:solidFill>
          <a:ln w="12700">
            <a:solidFill>
              <a:srgbClr val="E2A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239572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DCEA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driver impact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7818120" y="3127248"/>
            <a:ext cx="109728" cy="109728"/>
          </a:xfrm>
          <a:prstGeom prst="rect">
            <a:avLst/>
          </a:prstGeom>
          <a:solidFill>
            <a:srgbClr val="E2A100"/>
          </a:solidFill>
          <a:ln w="12700">
            <a:solidFill>
              <a:srgbClr val="E2A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305409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DCEA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At-risk employee details and action tracker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8854135" y="32004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2026  |  SGH Offshore Branch  |  14</a:t>
            </a:r>
            <a:endParaRPr lang="en-US" sz="770" dirty="0"/>
          </a:p>
        </p:txBody>
      </p:sp>
      <p:sp>
        <p:nvSpPr>
          <p:cNvPr id="17" name="Text 15"/>
          <p:cNvSpPr/>
          <p:nvPr/>
        </p:nvSpPr>
        <p:spPr>
          <a:xfrm>
            <a:off x="640080" y="6272784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8F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— INTERNAL USE ONLY</a:t>
            </a:r>
            <a:endParaRPr lang="en-US" sz="620" dirty="0"/>
          </a:p>
        </p:txBody>
      </p:sp>
      <p:sp>
        <p:nvSpPr>
          <p:cNvPr id="18" name="Text 16"/>
          <p:cNvSpPr/>
          <p:nvPr/>
        </p:nvSpPr>
        <p:spPr>
          <a:xfrm>
            <a:off x="11478463" y="627278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8F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6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2801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| Monthly Performance Overview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56616" y="512064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is included as an Offshore team in this combined review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8854135" y="22860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2026  |  SGH Offshore Branch  |  15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EF5"/>
          </a:solidFill>
          <a:ln w="8890">
            <a:solidFill>
              <a:srgbClr val="E8EE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6693408"/>
            <a:ext cx="228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— INTERNAL USE ONLY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61343" y="6693408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>
            <a:off x="502920" y="1078992"/>
            <a:ext cx="2971800" cy="1645920"/>
          </a:xfrm>
          <a:prstGeom prst="roundRect">
            <a:avLst>
              <a:gd name="adj" fmla="val 4444"/>
            </a:avLst>
          </a:prstGeom>
          <a:solidFill>
            <a:srgbClr val="FFF5D9"/>
          </a:solidFill>
          <a:ln w="12700">
            <a:solidFill>
              <a:srgbClr val="E2A100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078992"/>
            <a:ext cx="2971800" cy="64008"/>
          </a:xfrm>
          <a:prstGeom prst="rect">
            <a:avLst/>
          </a:prstGeom>
          <a:solidFill>
            <a:srgbClr val="E2A100"/>
          </a:solidFill>
          <a:ln w="8890">
            <a:solidFill>
              <a:srgbClr val="E2A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1298448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Main Score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667512" y="1700784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80.3%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85800" y="204825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performance</a:t>
            </a:r>
            <a:endParaRPr lang="en-US" sz="670" dirty="0"/>
          </a:p>
        </p:txBody>
      </p:sp>
      <p:sp>
        <p:nvSpPr>
          <p:cNvPr id="15" name="Text 13"/>
          <p:cNvSpPr/>
          <p:nvPr/>
        </p:nvSpPr>
        <p:spPr>
          <a:xfrm>
            <a:off x="2103120" y="1682496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1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Baseline: 80.4%</a:t>
            </a:r>
            <a:endParaRPr lang="en-US" sz="710" dirty="0"/>
          </a:p>
        </p:txBody>
      </p:sp>
      <p:sp>
        <p:nvSpPr>
          <p:cNvPr id="16" name="Text 14"/>
          <p:cNvSpPr/>
          <p:nvPr/>
        </p:nvSpPr>
        <p:spPr>
          <a:xfrm>
            <a:off x="2103120" y="1920240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1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MoM: +0.5%</a:t>
            </a:r>
            <a:endParaRPr lang="en-US" sz="710" dirty="0"/>
          </a:p>
        </p:txBody>
      </p:sp>
      <p:sp>
        <p:nvSpPr>
          <p:cNvPr id="17" name="Text 15"/>
          <p:cNvSpPr/>
          <p:nvPr/>
        </p:nvSpPr>
        <p:spPr>
          <a:xfrm>
            <a:off x="2240280" y="2340864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100.0%</a:t>
            </a:r>
            <a:endParaRPr lang="en-US" sz="620" dirty="0"/>
          </a:p>
        </p:txBody>
      </p:sp>
      <p:sp>
        <p:nvSpPr>
          <p:cNvPr id="18" name="Shape 16"/>
          <p:cNvSpPr/>
          <p:nvPr/>
        </p:nvSpPr>
        <p:spPr>
          <a:xfrm>
            <a:off x="685800" y="2231136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E2A100"/>
          </a:solidFill>
          <a:ln w="9525">
            <a:solidFill>
              <a:srgbClr val="E2A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28600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</a:t>
            </a:r>
            <a:endParaRPr lang="en-US" sz="580" dirty="0"/>
          </a:p>
        </p:txBody>
      </p:sp>
      <p:sp>
        <p:nvSpPr>
          <p:cNvPr id="20" name="Shape 18"/>
          <p:cNvSpPr/>
          <p:nvPr/>
        </p:nvSpPr>
        <p:spPr>
          <a:xfrm>
            <a:off x="3730752" y="1078992"/>
            <a:ext cx="18288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D53F49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30752" y="1078992"/>
            <a:ext cx="64008" cy="1645920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67912" y="1207008"/>
            <a:ext cx="1572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EMPLOYEES BELOW 70%</a:t>
            </a:r>
            <a:endParaRPr lang="en-US" sz="630" dirty="0"/>
          </a:p>
        </p:txBody>
      </p:sp>
      <p:sp>
        <p:nvSpPr>
          <p:cNvPr id="23" name="Text 21"/>
          <p:cNvSpPr/>
          <p:nvPr/>
        </p:nvSpPr>
        <p:spPr>
          <a:xfrm>
            <a:off x="3867912" y="14447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3867912" y="1783080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attention</a:t>
            </a:r>
            <a:endParaRPr lang="en-US" sz="640" dirty="0"/>
          </a:p>
        </p:txBody>
      </p:sp>
      <p:sp>
        <p:nvSpPr>
          <p:cNvPr id="25" name="Shape 23"/>
          <p:cNvSpPr/>
          <p:nvPr/>
        </p:nvSpPr>
        <p:spPr>
          <a:xfrm>
            <a:off x="5815584" y="1078992"/>
            <a:ext cx="18288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22A66F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815584" y="1078992"/>
            <a:ext cx="64008" cy="1645920"/>
          </a:xfrm>
          <a:prstGeom prst="rect">
            <a:avLst/>
          </a:prstGeom>
          <a:solidFill>
            <a:srgbClr val="22A66F"/>
          </a:solidFill>
          <a:ln w="8890">
            <a:solidFill>
              <a:srgbClr val="22A6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52744" y="1207008"/>
            <a:ext cx="1572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SCORE</a:t>
            </a:r>
            <a:endParaRPr lang="en-US" sz="630" dirty="0"/>
          </a:p>
        </p:txBody>
      </p:sp>
      <p:sp>
        <p:nvSpPr>
          <p:cNvPr id="28" name="Text 26"/>
          <p:cNvSpPr/>
          <p:nvPr/>
        </p:nvSpPr>
        <p:spPr>
          <a:xfrm>
            <a:off x="5952744" y="14447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99.0%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952744" y="1783080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Abdulwahab</a:t>
            </a:r>
            <a:endParaRPr lang="en-US" sz="640" dirty="0"/>
          </a:p>
        </p:txBody>
      </p:sp>
      <p:sp>
        <p:nvSpPr>
          <p:cNvPr id="30" name="Shape 28"/>
          <p:cNvSpPr/>
          <p:nvPr/>
        </p:nvSpPr>
        <p:spPr>
          <a:xfrm>
            <a:off x="7900416" y="1078992"/>
            <a:ext cx="18288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D53F49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900416" y="1078992"/>
            <a:ext cx="64008" cy="1645920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37576" y="1207008"/>
            <a:ext cx="1572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DECLINE</a:t>
            </a:r>
            <a:endParaRPr lang="en-US" sz="630" dirty="0"/>
          </a:p>
        </p:txBody>
      </p:sp>
      <p:sp>
        <p:nvSpPr>
          <p:cNvPr id="33" name="Text 31"/>
          <p:cNvSpPr/>
          <p:nvPr/>
        </p:nvSpPr>
        <p:spPr>
          <a:xfrm>
            <a:off x="8037576" y="14447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-17.3%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037576" y="1783080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Bahy Hamed Amer</a:t>
            </a:r>
            <a:endParaRPr lang="en-US" sz="640" dirty="0"/>
          </a:p>
        </p:txBody>
      </p:sp>
      <p:sp>
        <p:nvSpPr>
          <p:cNvPr id="35" name="Shape 33"/>
          <p:cNvSpPr/>
          <p:nvPr/>
        </p:nvSpPr>
        <p:spPr>
          <a:xfrm>
            <a:off x="9985248" y="1078992"/>
            <a:ext cx="1719072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E2A100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985248" y="1078992"/>
            <a:ext cx="64008" cy="1645920"/>
          </a:xfrm>
          <a:prstGeom prst="rect">
            <a:avLst/>
          </a:prstGeom>
          <a:solidFill>
            <a:srgbClr val="E2A100"/>
          </a:solidFill>
          <a:ln w="8890">
            <a:solidFill>
              <a:srgbClr val="E2A1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122408" y="1207008"/>
            <a:ext cx="1463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</a:t>
            </a:r>
            <a:endParaRPr lang="en-US" sz="630" dirty="0"/>
          </a:p>
        </p:txBody>
      </p:sp>
      <p:sp>
        <p:nvSpPr>
          <p:cNvPr id="38" name="Text 36"/>
          <p:cNvSpPr/>
          <p:nvPr/>
        </p:nvSpPr>
        <p:spPr>
          <a:xfrm>
            <a:off x="10122408" y="144475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19.7%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10122408" y="1783080"/>
            <a:ext cx="1444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target</a:t>
            </a:r>
            <a:endParaRPr lang="en-US" sz="640" dirty="0"/>
          </a:p>
        </p:txBody>
      </p:sp>
      <p:sp>
        <p:nvSpPr>
          <p:cNvPr id="40" name="Shape 38"/>
          <p:cNvSpPr/>
          <p:nvPr/>
        </p:nvSpPr>
        <p:spPr>
          <a:xfrm>
            <a:off x="502920" y="2971800"/>
            <a:ext cx="11201400" cy="502920"/>
          </a:xfrm>
          <a:prstGeom prst="roundRect">
            <a:avLst>
              <a:gd name="adj" fmla="val 10909"/>
            </a:avLst>
          </a:prstGeom>
          <a:solidFill>
            <a:srgbClr val="FFF7E7"/>
          </a:solidFill>
          <a:ln w="9525">
            <a:solidFill>
              <a:srgbClr val="F0C36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3154680"/>
            <a:ext cx="10698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takeaway: Marketing overall performance is 80.3% with +0.5% MoM; 5 employees and Response Time are the primary management focus.</a:t>
            </a:r>
            <a:endParaRPr lang="en-US" sz="960" dirty="0"/>
          </a:p>
        </p:txBody>
      </p:sp>
      <p:sp>
        <p:nvSpPr>
          <p:cNvPr id="42" name="Text 40"/>
          <p:cNvSpPr/>
          <p:nvPr/>
        </p:nvSpPr>
        <p:spPr>
          <a:xfrm>
            <a:off x="502920" y="3877056"/>
            <a:ext cx="1120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Department-Level Action View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02920" y="4187952"/>
            <a:ext cx="11201400" cy="36576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2920" y="4407408"/>
            <a:ext cx="2464308" cy="36576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9496" y="4462272"/>
            <a:ext cx="239115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2967228" y="4407408"/>
            <a:ext cx="1344168" cy="36576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03804" y="4462272"/>
            <a:ext cx="127101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4311396" y="4407408"/>
            <a:ext cx="1344168" cy="36576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47972" y="4462272"/>
            <a:ext cx="127101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5655564" y="4407408"/>
            <a:ext cx="1120140" cy="36576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92140" y="4462272"/>
            <a:ext cx="104698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6775704" y="4407408"/>
            <a:ext cx="1792224" cy="36576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12280" y="4462272"/>
            <a:ext cx="1719072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8567928" y="4407408"/>
            <a:ext cx="3136392" cy="36576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04504" y="4462272"/>
            <a:ext cx="306324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focus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502920" y="4773168"/>
            <a:ext cx="2464308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9496" y="4828032"/>
            <a:ext cx="239115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710" dirty="0"/>
          </a:p>
        </p:txBody>
      </p:sp>
      <p:sp>
        <p:nvSpPr>
          <p:cNvPr id="58" name="Shape 56"/>
          <p:cNvSpPr/>
          <p:nvPr/>
        </p:nvSpPr>
        <p:spPr>
          <a:xfrm>
            <a:off x="2967228" y="4773168"/>
            <a:ext cx="1344168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003804" y="4828032"/>
            <a:ext cx="127101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50.8%</a:t>
            </a:r>
            <a:endParaRPr lang="en-US" sz="710" dirty="0"/>
          </a:p>
        </p:txBody>
      </p:sp>
      <p:sp>
        <p:nvSpPr>
          <p:cNvPr id="60" name="Shape 58"/>
          <p:cNvSpPr/>
          <p:nvPr/>
        </p:nvSpPr>
        <p:spPr>
          <a:xfrm>
            <a:off x="4311396" y="4773168"/>
            <a:ext cx="1344168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47972" y="4828032"/>
            <a:ext cx="127101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61.1%</a:t>
            </a:r>
            <a:endParaRPr lang="en-US" sz="710" dirty="0"/>
          </a:p>
        </p:txBody>
      </p:sp>
      <p:sp>
        <p:nvSpPr>
          <p:cNvPr id="62" name="Shape 60"/>
          <p:cNvSpPr/>
          <p:nvPr/>
        </p:nvSpPr>
        <p:spPr>
          <a:xfrm>
            <a:off x="5655564" y="4773168"/>
            <a:ext cx="1120140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92140" y="4828032"/>
            <a:ext cx="1046988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-10.3%</a:t>
            </a:r>
            <a:endParaRPr lang="en-US" sz="710" dirty="0"/>
          </a:p>
        </p:txBody>
      </p:sp>
      <p:sp>
        <p:nvSpPr>
          <p:cNvPr id="64" name="Shape 62"/>
          <p:cNvSpPr/>
          <p:nvPr/>
        </p:nvSpPr>
        <p:spPr>
          <a:xfrm>
            <a:off x="6775704" y="4773168"/>
            <a:ext cx="1792224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12280" y="4828032"/>
            <a:ext cx="1719072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ACTION</a:t>
            </a:r>
            <a:endParaRPr lang="en-US" sz="710" dirty="0"/>
          </a:p>
        </p:txBody>
      </p:sp>
      <p:sp>
        <p:nvSpPr>
          <p:cNvPr id="66" name="Shape 64"/>
          <p:cNvSpPr/>
          <p:nvPr/>
        </p:nvSpPr>
        <p:spPr>
          <a:xfrm>
            <a:off x="8567928" y="4773168"/>
            <a:ext cx="313639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604504" y="4828032"/>
            <a:ext cx="3063240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 corrective action</a:t>
            </a:r>
            <a:endParaRPr lang="en-US" sz="710" dirty="0"/>
          </a:p>
        </p:txBody>
      </p:sp>
      <p:sp>
        <p:nvSpPr>
          <p:cNvPr id="68" name="Shape 66"/>
          <p:cNvSpPr/>
          <p:nvPr/>
        </p:nvSpPr>
        <p:spPr>
          <a:xfrm>
            <a:off x="502920" y="5129784"/>
            <a:ext cx="2464308" cy="356616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39496" y="5184648"/>
            <a:ext cx="239115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Specialist</a:t>
            </a:r>
            <a:endParaRPr lang="en-US" sz="710" dirty="0"/>
          </a:p>
        </p:txBody>
      </p:sp>
      <p:sp>
        <p:nvSpPr>
          <p:cNvPr id="70" name="Shape 68"/>
          <p:cNvSpPr/>
          <p:nvPr/>
        </p:nvSpPr>
        <p:spPr>
          <a:xfrm>
            <a:off x="2967228" y="5129784"/>
            <a:ext cx="1344168" cy="356616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003804" y="5184648"/>
            <a:ext cx="127101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66.6%</a:t>
            </a:r>
            <a:endParaRPr lang="en-US" sz="710" dirty="0"/>
          </a:p>
        </p:txBody>
      </p:sp>
      <p:sp>
        <p:nvSpPr>
          <p:cNvPr id="72" name="Shape 70"/>
          <p:cNvSpPr/>
          <p:nvPr/>
        </p:nvSpPr>
        <p:spPr>
          <a:xfrm>
            <a:off x="4311396" y="5129784"/>
            <a:ext cx="1344168" cy="356616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347972" y="5184648"/>
            <a:ext cx="127101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61.1%</a:t>
            </a:r>
            <a:endParaRPr lang="en-US" sz="710" dirty="0"/>
          </a:p>
        </p:txBody>
      </p:sp>
      <p:sp>
        <p:nvSpPr>
          <p:cNvPr id="74" name="Shape 72"/>
          <p:cNvSpPr/>
          <p:nvPr/>
        </p:nvSpPr>
        <p:spPr>
          <a:xfrm>
            <a:off x="5655564" y="5129784"/>
            <a:ext cx="1120140" cy="356616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692140" y="5184648"/>
            <a:ext cx="1046988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+5.6%</a:t>
            </a:r>
            <a:endParaRPr lang="en-US" sz="710" dirty="0"/>
          </a:p>
        </p:txBody>
      </p:sp>
      <p:sp>
        <p:nvSpPr>
          <p:cNvPr id="76" name="Shape 74"/>
          <p:cNvSpPr/>
          <p:nvPr/>
        </p:nvSpPr>
        <p:spPr>
          <a:xfrm>
            <a:off x="6775704" y="5129784"/>
            <a:ext cx="1792224" cy="356616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812280" y="5184648"/>
            <a:ext cx="1719072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ACTION</a:t>
            </a:r>
            <a:endParaRPr lang="en-US" sz="710" dirty="0"/>
          </a:p>
        </p:txBody>
      </p:sp>
      <p:sp>
        <p:nvSpPr>
          <p:cNvPr id="78" name="Shape 76"/>
          <p:cNvSpPr/>
          <p:nvPr/>
        </p:nvSpPr>
        <p:spPr>
          <a:xfrm>
            <a:off x="8567928" y="5129784"/>
            <a:ext cx="3136392" cy="356616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604504" y="5184648"/>
            <a:ext cx="3063240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 corrective action</a:t>
            </a:r>
            <a:endParaRPr lang="en-US" sz="710" dirty="0"/>
          </a:p>
        </p:txBody>
      </p:sp>
      <p:sp>
        <p:nvSpPr>
          <p:cNvPr id="80" name="Shape 78"/>
          <p:cNvSpPr/>
          <p:nvPr/>
        </p:nvSpPr>
        <p:spPr>
          <a:xfrm>
            <a:off x="502920" y="5486400"/>
            <a:ext cx="2464308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39496" y="5541264"/>
            <a:ext cx="239115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Developer</a:t>
            </a:r>
            <a:endParaRPr lang="en-US" sz="710" dirty="0"/>
          </a:p>
        </p:txBody>
      </p:sp>
      <p:sp>
        <p:nvSpPr>
          <p:cNvPr id="82" name="Shape 80"/>
          <p:cNvSpPr/>
          <p:nvPr/>
        </p:nvSpPr>
        <p:spPr>
          <a:xfrm>
            <a:off x="2967228" y="5486400"/>
            <a:ext cx="1344168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003804" y="5541264"/>
            <a:ext cx="127101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68.8%</a:t>
            </a:r>
            <a:endParaRPr lang="en-US" sz="710" dirty="0"/>
          </a:p>
        </p:txBody>
      </p:sp>
      <p:sp>
        <p:nvSpPr>
          <p:cNvPr id="84" name="Shape 82"/>
          <p:cNvSpPr/>
          <p:nvPr/>
        </p:nvSpPr>
        <p:spPr>
          <a:xfrm>
            <a:off x="4311396" y="5486400"/>
            <a:ext cx="1344168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347972" y="5541264"/>
            <a:ext cx="127101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78.8%</a:t>
            </a:r>
            <a:endParaRPr lang="en-US" sz="710" dirty="0"/>
          </a:p>
        </p:txBody>
      </p:sp>
      <p:sp>
        <p:nvSpPr>
          <p:cNvPr id="86" name="Shape 84"/>
          <p:cNvSpPr/>
          <p:nvPr/>
        </p:nvSpPr>
        <p:spPr>
          <a:xfrm>
            <a:off x="5655564" y="5486400"/>
            <a:ext cx="1120140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692140" y="5541264"/>
            <a:ext cx="1046988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-10.0%</a:t>
            </a:r>
            <a:endParaRPr lang="en-US" sz="710" dirty="0"/>
          </a:p>
        </p:txBody>
      </p:sp>
      <p:sp>
        <p:nvSpPr>
          <p:cNvPr id="88" name="Shape 86"/>
          <p:cNvSpPr/>
          <p:nvPr/>
        </p:nvSpPr>
        <p:spPr>
          <a:xfrm>
            <a:off x="6775704" y="5486400"/>
            <a:ext cx="1792224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812280" y="5541264"/>
            <a:ext cx="1719072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ACTION</a:t>
            </a:r>
            <a:endParaRPr lang="en-US" sz="710" dirty="0"/>
          </a:p>
        </p:txBody>
      </p:sp>
      <p:sp>
        <p:nvSpPr>
          <p:cNvPr id="90" name="Shape 88"/>
          <p:cNvSpPr/>
          <p:nvPr/>
        </p:nvSpPr>
        <p:spPr>
          <a:xfrm>
            <a:off x="8567928" y="5486400"/>
            <a:ext cx="313639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604504" y="5541264"/>
            <a:ext cx="3063240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 corrective action</a:t>
            </a:r>
            <a:endParaRPr lang="en-US" sz="710" dirty="0"/>
          </a:p>
        </p:txBody>
      </p:sp>
      <p:sp>
        <p:nvSpPr>
          <p:cNvPr id="92" name="Shape 90"/>
          <p:cNvSpPr/>
          <p:nvPr/>
        </p:nvSpPr>
        <p:spPr>
          <a:xfrm>
            <a:off x="502920" y="5843016"/>
            <a:ext cx="2464308" cy="356616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39496" y="5897880"/>
            <a:ext cx="239115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Head</a:t>
            </a:r>
            <a:endParaRPr lang="en-US" sz="710" dirty="0"/>
          </a:p>
        </p:txBody>
      </p:sp>
      <p:sp>
        <p:nvSpPr>
          <p:cNvPr id="94" name="Shape 92"/>
          <p:cNvSpPr/>
          <p:nvPr/>
        </p:nvSpPr>
        <p:spPr>
          <a:xfrm>
            <a:off x="2967228" y="5843016"/>
            <a:ext cx="1344168" cy="356616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003804" y="5897880"/>
            <a:ext cx="127101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84.3%</a:t>
            </a:r>
            <a:endParaRPr lang="en-US" sz="710" dirty="0"/>
          </a:p>
        </p:txBody>
      </p:sp>
      <p:sp>
        <p:nvSpPr>
          <p:cNvPr id="96" name="Shape 94"/>
          <p:cNvSpPr/>
          <p:nvPr/>
        </p:nvSpPr>
        <p:spPr>
          <a:xfrm>
            <a:off x="4311396" y="5843016"/>
            <a:ext cx="1344168" cy="356616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347972" y="5897880"/>
            <a:ext cx="127101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77.5%</a:t>
            </a:r>
            <a:endParaRPr lang="en-US" sz="710" dirty="0"/>
          </a:p>
        </p:txBody>
      </p:sp>
      <p:sp>
        <p:nvSpPr>
          <p:cNvPr id="98" name="Shape 96"/>
          <p:cNvSpPr/>
          <p:nvPr/>
        </p:nvSpPr>
        <p:spPr>
          <a:xfrm>
            <a:off x="5655564" y="5843016"/>
            <a:ext cx="1120140" cy="356616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692140" y="5897880"/>
            <a:ext cx="1046988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+6.8%</a:t>
            </a:r>
            <a:endParaRPr lang="en-US" sz="710" dirty="0"/>
          </a:p>
        </p:txBody>
      </p:sp>
      <p:sp>
        <p:nvSpPr>
          <p:cNvPr id="100" name="Shape 98"/>
          <p:cNvSpPr/>
          <p:nvPr/>
        </p:nvSpPr>
        <p:spPr>
          <a:xfrm>
            <a:off x="6775704" y="5843016"/>
            <a:ext cx="1792224" cy="356616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812280" y="5897880"/>
            <a:ext cx="1719072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</a:t>
            </a:r>
            <a:endParaRPr lang="en-US" sz="710" dirty="0"/>
          </a:p>
        </p:txBody>
      </p:sp>
      <p:sp>
        <p:nvSpPr>
          <p:cNvPr id="102" name="Shape 100"/>
          <p:cNvSpPr/>
          <p:nvPr/>
        </p:nvSpPr>
        <p:spPr>
          <a:xfrm>
            <a:off x="8567928" y="5843016"/>
            <a:ext cx="3136392" cy="356616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604504" y="5897880"/>
            <a:ext cx="3063240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key gap</a:t>
            </a:r>
            <a:endParaRPr lang="en-US" sz="710" dirty="0"/>
          </a:p>
        </p:txBody>
      </p:sp>
      <p:sp>
        <p:nvSpPr>
          <p:cNvPr id="104" name="Shape 102"/>
          <p:cNvSpPr/>
          <p:nvPr/>
        </p:nvSpPr>
        <p:spPr>
          <a:xfrm>
            <a:off x="502920" y="6199632"/>
            <a:ext cx="2464308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39496" y="6254496"/>
            <a:ext cx="239115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 &amp; SEO Manager</a:t>
            </a:r>
            <a:endParaRPr lang="en-US" sz="710" dirty="0"/>
          </a:p>
        </p:txBody>
      </p:sp>
      <p:sp>
        <p:nvSpPr>
          <p:cNvPr id="106" name="Shape 104"/>
          <p:cNvSpPr/>
          <p:nvPr/>
        </p:nvSpPr>
        <p:spPr>
          <a:xfrm>
            <a:off x="2967228" y="6199632"/>
            <a:ext cx="1344168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003804" y="6254496"/>
            <a:ext cx="127101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90.7%</a:t>
            </a:r>
            <a:endParaRPr lang="en-US" sz="710" dirty="0"/>
          </a:p>
        </p:txBody>
      </p:sp>
      <p:sp>
        <p:nvSpPr>
          <p:cNvPr id="108" name="Shape 106"/>
          <p:cNvSpPr/>
          <p:nvPr/>
        </p:nvSpPr>
        <p:spPr>
          <a:xfrm>
            <a:off x="4311396" y="6199632"/>
            <a:ext cx="1344168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347972" y="6254496"/>
            <a:ext cx="127101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90.3%</a:t>
            </a:r>
            <a:endParaRPr lang="en-US" sz="710" dirty="0"/>
          </a:p>
        </p:txBody>
      </p:sp>
      <p:sp>
        <p:nvSpPr>
          <p:cNvPr id="110" name="Shape 108"/>
          <p:cNvSpPr/>
          <p:nvPr/>
        </p:nvSpPr>
        <p:spPr>
          <a:xfrm>
            <a:off x="5655564" y="6199632"/>
            <a:ext cx="1120140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692140" y="6254496"/>
            <a:ext cx="1046988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+0.5%</a:t>
            </a:r>
            <a:endParaRPr lang="en-US" sz="710" dirty="0"/>
          </a:p>
        </p:txBody>
      </p:sp>
      <p:sp>
        <p:nvSpPr>
          <p:cNvPr id="112" name="Shape 110"/>
          <p:cNvSpPr/>
          <p:nvPr/>
        </p:nvSpPr>
        <p:spPr>
          <a:xfrm>
            <a:off x="6775704" y="6199632"/>
            <a:ext cx="1792224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812280" y="6254496"/>
            <a:ext cx="1719072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710" dirty="0"/>
          </a:p>
        </p:txBody>
      </p:sp>
      <p:sp>
        <p:nvSpPr>
          <p:cNvPr id="114" name="Shape 112"/>
          <p:cNvSpPr/>
          <p:nvPr/>
        </p:nvSpPr>
        <p:spPr>
          <a:xfrm>
            <a:off x="8567928" y="6199632"/>
            <a:ext cx="313639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604504" y="6254496"/>
            <a:ext cx="3063240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 performance</a:t>
            </a:r>
            <a:endParaRPr lang="en-US" sz="71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2801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Performance by Role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56616" y="512064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performance, baseline and MoM by function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8854135" y="22860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2026  |  SGH Offshore Branch  |  16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EF5"/>
          </a:solidFill>
          <a:ln w="8890">
            <a:solidFill>
              <a:srgbClr val="E8EE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6693408"/>
            <a:ext cx="228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— INTERNAL USE ONLY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61343" y="6693408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580" dirty="0"/>
          </a:p>
        </p:txBody>
      </p:sp>
      <p:sp>
        <p:nvSpPr>
          <p:cNvPr id="10" name="Text 8"/>
          <p:cNvSpPr/>
          <p:nvPr/>
        </p:nvSpPr>
        <p:spPr>
          <a:xfrm>
            <a:off x="502920" y="1078992"/>
            <a:ext cx="662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Performance — Main Score &amp; MoM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1389888"/>
            <a:ext cx="6629400" cy="36576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600200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Manager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2926080" y="1627632"/>
            <a:ext cx="2743200" cy="109728"/>
          </a:xfrm>
          <a:prstGeom prst="roundRect">
            <a:avLst>
              <a:gd name="adj" fmla="val 33333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0" y="1627632"/>
            <a:ext cx="2678654" cy="109728"/>
          </a:xfrm>
          <a:prstGeom prst="roundRect">
            <a:avLst>
              <a:gd name="adj" fmla="val 33333"/>
            </a:avLst>
          </a:prstGeom>
          <a:solidFill>
            <a:srgbClr val="22A66F"/>
          </a:solidFill>
          <a:ln w="9525">
            <a:solidFill>
              <a:srgbClr val="22A6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1600200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97.6%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464808" y="160020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+3.1%</a:t>
            </a:r>
            <a:endParaRPr lang="en-US" sz="670" dirty="0"/>
          </a:p>
        </p:txBody>
      </p:sp>
      <p:sp>
        <p:nvSpPr>
          <p:cNvPr id="17" name="Text 15"/>
          <p:cNvSpPr/>
          <p:nvPr/>
        </p:nvSpPr>
        <p:spPr>
          <a:xfrm>
            <a:off x="594360" y="195681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Writer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2926080" y="1984248"/>
            <a:ext cx="2743200" cy="109728"/>
          </a:xfrm>
          <a:prstGeom prst="roundRect">
            <a:avLst>
              <a:gd name="adj" fmla="val 33333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0" y="1984248"/>
            <a:ext cx="2673755" cy="109728"/>
          </a:xfrm>
          <a:prstGeom prst="roundRect">
            <a:avLst>
              <a:gd name="adj" fmla="val 33333"/>
            </a:avLst>
          </a:prstGeom>
          <a:solidFill>
            <a:srgbClr val="22A66F"/>
          </a:solidFill>
          <a:ln w="9525">
            <a:solidFill>
              <a:srgbClr val="22A6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1956816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97.5%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464808" y="1956816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670" dirty="0"/>
          </a:p>
        </p:txBody>
      </p:sp>
      <p:sp>
        <p:nvSpPr>
          <p:cNvPr id="22" name="Text 20"/>
          <p:cNvSpPr/>
          <p:nvPr/>
        </p:nvSpPr>
        <p:spPr>
          <a:xfrm>
            <a:off x="594360" y="2313432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Creative Director</a:t>
            </a:r>
            <a:endParaRPr lang="en-US" sz="730" dirty="0"/>
          </a:p>
        </p:txBody>
      </p:sp>
      <p:sp>
        <p:nvSpPr>
          <p:cNvPr id="23" name="Shape 21"/>
          <p:cNvSpPr/>
          <p:nvPr/>
        </p:nvSpPr>
        <p:spPr>
          <a:xfrm>
            <a:off x="2926080" y="2340864"/>
            <a:ext cx="2743200" cy="109728"/>
          </a:xfrm>
          <a:prstGeom prst="roundRect">
            <a:avLst>
              <a:gd name="adj" fmla="val 33333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26080" y="2340864"/>
            <a:ext cx="2667762" cy="109728"/>
          </a:xfrm>
          <a:prstGeom prst="roundRect">
            <a:avLst>
              <a:gd name="adj" fmla="val 33333"/>
            </a:avLst>
          </a:prstGeom>
          <a:solidFill>
            <a:srgbClr val="22A66F"/>
          </a:solidFill>
          <a:ln w="9525">
            <a:solidFill>
              <a:srgbClr val="22A6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0" y="2313432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97.2%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464808" y="2313432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+2.7%</a:t>
            </a:r>
            <a:endParaRPr lang="en-US" sz="670" dirty="0"/>
          </a:p>
        </p:txBody>
      </p:sp>
      <p:sp>
        <p:nvSpPr>
          <p:cNvPr id="27" name="Text 25"/>
          <p:cNvSpPr/>
          <p:nvPr/>
        </p:nvSpPr>
        <p:spPr>
          <a:xfrm>
            <a:off x="594360" y="2670048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Graphic Designer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2926080" y="2697480"/>
            <a:ext cx="2743200" cy="109728"/>
          </a:xfrm>
          <a:prstGeom prst="roundRect">
            <a:avLst>
              <a:gd name="adj" fmla="val 33333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26080" y="2697480"/>
            <a:ext cx="2640330" cy="109728"/>
          </a:xfrm>
          <a:prstGeom prst="roundRect">
            <a:avLst>
              <a:gd name="adj" fmla="val 33333"/>
            </a:avLst>
          </a:prstGeom>
          <a:solidFill>
            <a:srgbClr val="22A66F"/>
          </a:solidFill>
          <a:ln w="9525">
            <a:solidFill>
              <a:srgbClr val="22A66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0" y="2670048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96.3%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464808" y="2670048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+3.9%</a:t>
            </a:r>
            <a:endParaRPr lang="en-US" sz="670" dirty="0"/>
          </a:p>
        </p:txBody>
      </p:sp>
      <p:sp>
        <p:nvSpPr>
          <p:cNvPr id="32" name="Text 30"/>
          <p:cNvSpPr/>
          <p:nvPr/>
        </p:nvSpPr>
        <p:spPr>
          <a:xfrm>
            <a:off x="594360" y="3026664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 &amp; SEO Manager</a:t>
            </a:r>
            <a:endParaRPr lang="en-US" sz="730" dirty="0"/>
          </a:p>
        </p:txBody>
      </p:sp>
      <p:sp>
        <p:nvSpPr>
          <p:cNvPr id="33" name="Shape 31"/>
          <p:cNvSpPr/>
          <p:nvPr/>
        </p:nvSpPr>
        <p:spPr>
          <a:xfrm>
            <a:off x="2926080" y="3054096"/>
            <a:ext cx="2743200" cy="109728"/>
          </a:xfrm>
          <a:prstGeom prst="roundRect">
            <a:avLst>
              <a:gd name="adj" fmla="val 33333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26080" y="3054096"/>
            <a:ext cx="2488441" cy="109728"/>
          </a:xfrm>
          <a:prstGeom prst="roundRect">
            <a:avLst>
              <a:gd name="adj" fmla="val 33333"/>
            </a:avLst>
          </a:prstGeom>
          <a:solidFill>
            <a:srgbClr val="22A66F"/>
          </a:solidFill>
          <a:ln w="9525">
            <a:solidFill>
              <a:srgbClr val="22A66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2160" y="3026664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90.7%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464808" y="3026664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+0.5%</a:t>
            </a:r>
            <a:endParaRPr lang="en-US" sz="670" dirty="0"/>
          </a:p>
        </p:txBody>
      </p:sp>
      <p:sp>
        <p:nvSpPr>
          <p:cNvPr id="37" name="Text 35"/>
          <p:cNvSpPr/>
          <p:nvPr/>
        </p:nvSpPr>
        <p:spPr>
          <a:xfrm>
            <a:off x="594360" y="3383280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Head</a:t>
            </a:r>
            <a:endParaRPr lang="en-US" sz="730" dirty="0"/>
          </a:p>
        </p:txBody>
      </p:sp>
      <p:sp>
        <p:nvSpPr>
          <p:cNvPr id="38" name="Shape 36"/>
          <p:cNvSpPr/>
          <p:nvPr/>
        </p:nvSpPr>
        <p:spPr>
          <a:xfrm>
            <a:off x="2926080" y="3410712"/>
            <a:ext cx="2743200" cy="109728"/>
          </a:xfrm>
          <a:prstGeom prst="roundRect">
            <a:avLst>
              <a:gd name="adj" fmla="val 33333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26080" y="3410712"/>
            <a:ext cx="2312518" cy="109728"/>
          </a:xfrm>
          <a:prstGeom prst="roundRect">
            <a:avLst>
              <a:gd name="adj" fmla="val 33333"/>
            </a:avLst>
          </a:prstGeom>
          <a:solidFill>
            <a:srgbClr val="E2A100"/>
          </a:solidFill>
          <a:ln w="9525">
            <a:solidFill>
              <a:srgbClr val="E2A1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52160" y="3383280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84.3%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464808" y="33832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+6.8%</a:t>
            </a:r>
            <a:endParaRPr lang="en-US" sz="670" dirty="0"/>
          </a:p>
        </p:txBody>
      </p:sp>
      <p:sp>
        <p:nvSpPr>
          <p:cNvPr id="42" name="Text 40"/>
          <p:cNvSpPr/>
          <p:nvPr/>
        </p:nvSpPr>
        <p:spPr>
          <a:xfrm>
            <a:off x="594360" y="373989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Developer</a:t>
            </a:r>
            <a:endParaRPr lang="en-US" sz="730" dirty="0"/>
          </a:p>
        </p:txBody>
      </p:sp>
      <p:sp>
        <p:nvSpPr>
          <p:cNvPr id="43" name="Shape 41"/>
          <p:cNvSpPr/>
          <p:nvPr/>
        </p:nvSpPr>
        <p:spPr>
          <a:xfrm>
            <a:off x="2926080" y="3767328"/>
            <a:ext cx="2743200" cy="109728"/>
          </a:xfrm>
          <a:prstGeom prst="roundRect">
            <a:avLst>
              <a:gd name="adj" fmla="val 33333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26080" y="3767328"/>
            <a:ext cx="1887322" cy="109728"/>
          </a:xfrm>
          <a:prstGeom prst="roundRect">
            <a:avLst>
              <a:gd name="adj" fmla="val 33333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52160" y="3739896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68.8%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464808" y="3739896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-10.0%</a:t>
            </a:r>
            <a:endParaRPr lang="en-US" sz="670" dirty="0"/>
          </a:p>
        </p:txBody>
      </p:sp>
      <p:sp>
        <p:nvSpPr>
          <p:cNvPr id="47" name="Text 45"/>
          <p:cNvSpPr/>
          <p:nvPr/>
        </p:nvSpPr>
        <p:spPr>
          <a:xfrm>
            <a:off x="594360" y="4096512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Specialist</a:t>
            </a:r>
            <a:endParaRPr lang="en-US" sz="730" dirty="0"/>
          </a:p>
        </p:txBody>
      </p:sp>
      <p:sp>
        <p:nvSpPr>
          <p:cNvPr id="48" name="Shape 46"/>
          <p:cNvSpPr/>
          <p:nvPr/>
        </p:nvSpPr>
        <p:spPr>
          <a:xfrm>
            <a:off x="2926080" y="4123944"/>
            <a:ext cx="2743200" cy="109728"/>
          </a:xfrm>
          <a:prstGeom prst="roundRect">
            <a:avLst>
              <a:gd name="adj" fmla="val 33333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926080" y="4123944"/>
            <a:ext cx="1828068" cy="109728"/>
          </a:xfrm>
          <a:prstGeom prst="roundRect">
            <a:avLst>
              <a:gd name="adj" fmla="val 33333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52160" y="4096512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66.6%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464808" y="4096512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+5.6%</a:t>
            </a:r>
            <a:endParaRPr lang="en-US" sz="670" dirty="0"/>
          </a:p>
        </p:txBody>
      </p:sp>
      <p:sp>
        <p:nvSpPr>
          <p:cNvPr id="52" name="Text 50"/>
          <p:cNvSpPr/>
          <p:nvPr/>
        </p:nvSpPr>
        <p:spPr>
          <a:xfrm>
            <a:off x="594360" y="4453128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730" dirty="0"/>
          </a:p>
        </p:txBody>
      </p:sp>
      <p:sp>
        <p:nvSpPr>
          <p:cNvPr id="53" name="Shape 51"/>
          <p:cNvSpPr/>
          <p:nvPr/>
        </p:nvSpPr>
        <p:spPr>
          <a:xfrm>
            <a:off x="2926080" y="4480560"/>
            <a:ext cx="2743200" cy="109728"/>
          </a:xfrm>
          <a:prstGeom prst="roundRect">
            <a:avLst>
              <a:gd name="adj" fmla="val 33333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926080" y="4480560"/>
            <a:ext cx="1393671" cy="109728"/>
          </a:xfrm>
          <a:prstGeom prst="roundRect">
            <a:avLst>
              <a:gd name="adj" fmla="val 33333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52160" y="4453128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50.8%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464808" y="4453128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-10.3%</a:t>
            </a:r>
            <a:endParaRPr lang="en-US" sz="670" dirty="0"/>
          </a:p>
        </p:txBody>
      </p:sp>
      <p:sp>
        <p:nvSpPr>
          <p:cNvPr id="57" name="Text 55"/>
          <p:cNvSpPr/>
          <p:nvPr/>
        </p:nvSpPr>
        <p:spPr>
          <a:xfrm>
            <a:off x="7452360" y="10789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Order</a:t>
            </a:r>
            <a:endParaRPr lang="en-US" sz="1350" dirty="0"/>
          </a:p>
        </p:txBody>
      </p:sp>
      <p:sp>
        <p:nvSpPr>
          <p:cNvPr id="58" name="Shape 56"/>
          <p:cNvSpPr/>
          <p:nvPr/>
        </p:nvSpPr>
        <p:spPr>
          <a:xfrm>
            <a:off x="7452360" y="1389888"/>
            <a:ext cx="4206240" cy="36576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452360" y="1581912"/>
            <a:ext cx="3886200" cy="713232"/>
          </a:xfrm>
          <a:prstGeom prst="roundRect">
            <a:avLst>
              <a:gd name="adj" fmla="val 10256"/>
            </a:avLst>
          </a:prstGeom>
          <a:solidFill>
            <a:srgbClr val="FCE8EA"/>
          </a:solidFill>
          <a:ln w="9525">
            <a:solidFill>
              <a:srgbClr val="D53F49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7662672" y="17830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Media Buyer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0469880" y="176479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50.8%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7662672" y="2048256"/>
            <a:ext cx="24688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1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 -10.3% | 2 employee(s)</a:t>
            </a:r>
            <a:endParaRPr lang="en-US" sz="610" dirty="0"/>
          </a:p>
        </p:txBody>
      </p:sp>
      <p:sp>
        <p:nvSpPr>
          <p:cNvPr id="63" name="Shape 61"/>
          <p:cNvSpPr/>
          <p:nvPr/>
        </p:nvSpPr>
        <p:spPr>
          <a:xfrm>
            <a:off x="7452360" y="2542032"/>
            <a:ext cx="3886200" cy="713232"/>
          </a:xfrm>
          <a:prstGeom prst="roundRect">
            <a:avLst>
              <a:gd name="adj" fmla="val 10256"/>
            </a:avLst>
          </a:prstGeom>
          <a:solidFill>
            <a:srgbClr val="FCE8EA"/>
          </a:solidFill>
          <a:ln w="9525">
            <a:solidFill>
              <a:srgbClr val="D53F49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7662672" y="274320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Social Media Specialist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0469880" y="272491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66.6%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662672" y="3008376"/>
            <a:ext cx="24688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1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 +5.6% | 2 employee(s)</a:t>
            </a:r>
            <a:endParaRPr lang="en-US" sz="610" dirty="0"/>
          </a:p>
        </p:txBody>
      </p:sp>
      <p:sp>
        <p:nvSpPr>
          <p:cNvPr id="67" name="Shape 65"/>
          <p:cNvSpPr/>
          <p:nvPr/>
        </p:nvSpPr>
        <p:spPr>
          <a:xfrm>
            <a:off x="7452360" y="3502152"/>
            <a:ext cx="3886200" cy="713232"/>
          </a:xfrm>
          <a:prstGeom prst="roundRect">
            <a:avLst>
              <a:gd name="adj" fmla="val 10256"/>
            </a:avLst>
          </a:prstGeom>
          <a:solidFill>
            <a:srgbClr val="FCE8EA"/>
          </a:solidFill>
          <a:ln w="9525">
            <a:solidFill>
              <a:srgbClr val="D53F49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7662672" y="370332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Web Developer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0469880" y="368503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68.8%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7662672" y="3968496"/>
            <a:ext cx="24688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1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 -10.0% | 1 employee(s)</a:t>
            </a:r>
            <a:endParaRPr lang="en-US" sz="610" dirty="0"/>
          </a:p>
        </p:txBody>
      </p:sp>
      <p:sp>
        <p:nvSpPr>
          <p:cNvPr id="71" name="Shape 69"/>
          <p:cNvSpPr/>
          <p:nvPr/>
        </p:nvSpPr>
        <p:spPr>
          <a:xfrm>
            <a:off x="7452360" y="4892040"/>
            <a:ext cx="3886200" cy="731520"/>
          </a:xfrm>
          <a:prstGeom prst="roundRect">
            <a:avLst>
              <a:gd name="adj" fmla="val 10000"/>
            </a:avLst>
          </a:prstGeom>
          <a:solidFill>
            <a:srgbClr val="102941"/>
          </a:solidFill>
          <a:ln w="9525">
            <a:solidFill>
              <a:srgbClr val="10294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699248" y="5138928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 signal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699248" y="542239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D6E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roles are masking low scores in Media Buyer, Social Media Specialist and Web Developer.</a:t>
            </a:r>
            <a:endParaRPr lang="en-US" sz="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2801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Trend &amp; KPI Driver Impact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56616" y="512064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direction before drilling into employee drivers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8854135" y="22860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2026  |  SGH Offshore Branch  |  17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EF5"/>
          </a:solidFill>
          <a:ln w="8890">
            <a:solidFill>
              <a:srgbClr val="E8EE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6693408"/>
            <a:ext cx="228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— INTERNAL USE ONLY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61343" y="6693408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>
            <a:off x="502920" y="1078992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0160">
            <a:solidFill>
              <a:srgbClr val="2D6CDF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078992"/>
            <a:ext cx="64008" cy="777240"/>
          </a:xfrm>
          <a:prstGeom prst="rect">
            <a:avLst/>
          </a:prstGeom>
          <a:solidFill>
            <a:srgbClr val="2D6CDF"/>
          </a:solidFill>
          <a:ln w="8890">
            <a:solidFill>
              <a:srgbClr val="2D6C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188720"/>
            <a:ext cx="1801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 COVERAGE</a:t>
            </a:r>
            <a:endParaRPr lang="en-US" sz="590" dirty="0"/>
          </a:p>
        </p:txBody>
      </p:sp>
      <p:sp>
        <p:nvSpPr>
          <p:cNvPr id="13" name="Text 11"/>
          <p:cNvSpPr/>
          <p:nvPr/>
        </p:nvSpPr>
        <p:spPr>
          <a:xfrm>
            <a:off x="640080" y="13716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PERIODS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1645920"/>
            <a:ext cx="1783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 measured rows</a:t>
            </a:r>
            <a:endParaRPr lang="en-US" sz="580" dirty="0"/>
          </a:p>
        </p:txBody>
      </p:sp>
      <p:sp>
        <p:nvSpPr>
          <p:cNvPr id="15" name="Shape 13"/>
          <p:cNvSpPr/>
          <p:nvPr/>
        </p:nvSpPr>
        <p:spPr>
          <a:xfrm>
            <a:off x="2834640" y="1078992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0160">
            <a:solidFill>
              <a:srgbClr val="22A66F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834640" y="1078992"/>
            <a:ext cx="64008" cy="777240"/>
          </a:xfrm>
          <a:prstGeom prst="rect">
            <a:avLst/>
          </a:prstGeom>
          <a:solidFill>
            <a:srgbClr val="22A66F"/>
          </a:solidFill>
          <a:ln w="8890">
            <a:solidFill>
              <a:srgbClr val="22A6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1188720"/>
            <a:ext cx="1801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PERIOD</a:t>
            </a:r>
            <a:endParaRPr lang="en-US" sz="590" dirty="0"/>
          </a:p>
        </p:txBody>
      </p:sp>
      <p:sp>
        <p:nvSpPr>
          <p:cNvPr id="18" name="Text 16"/>
          <p:cNvSpPr/>
          <p:nvPr/>
        </p:nvSpPr>
        <p:spPr>
          <a:xfrm>
            <a:off x="2971800" y="13716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81.0%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71800" y="1645920"/>
            <a:ext cx="1783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June</a:t>
            </a:r>
            <a:endParaRPr lang="en-US" sz="580" dirty="0"/>
          </a:p>
        </p:txBody>
      </p:sp>
      <p:sp>
        <p:nvSpPr>
          <p:cNvPr id="20" name="Shape 18"/>
          <p:cNvSpPr/>
          <p:nvPr/>
        </p:nvSpPr>
        <p:spPr>
          <a:xfrm>
            <a:off x="5166360" y="1078992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0160">
            <a:solidFill>
              <a:srgbClr val="D53F49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166360" y="1078992"/>
            <a:ext cx="64008" cy="777240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0" y="1188720"/>
            <a:ext cx="1801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WORST PERIOD</a:t>
            </a:r>
            <a:endParaRPr lang="en-US" sz="590" dirty="0"/>
          </a:p>
        </p:txBody>
      </p:sp>
      <p:sp>
        <p:nvSpPr>
          <p:cNvPr id="23" name="Text 21"/>
          <p:cNvSpPr/>
          <p:nvPr/>
        </p:nvSpPr>
        <p:spPr>
          <a:xfrm>
            <a:off x="5303520" y="13716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77.3%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03520" y="1645920"/>
            <a:ext cx="1783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</a:t>
            </a:r>
            <a:endParaRPr lang="en-US" sz="580" dirty="0"/>
          </a:p>
        </p:txBody>
      </p:sp>
      <p:sp>
        <p:nvSpPr>
          <p:cNvPr id="25" name="Shape 23"/>
          <p:cNvSpPr/>
          <p:nvPr/>
        </p:nvSpPr>
        <p:spPr>
          <a:xfrm>
            <a:off x="7498080" y="1078992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0160">
            <a:solidFill>
              <a:srgbClr val="22A66F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0" y="1078992"/>
            <a:ext cx="64008" cy="777240"/>
          </a:xfrm>
          <a:prstGeom prst="rect">
            <a:avLst/>
          </a:prstGeom>
          <a:solidFill>
            <a:srgbClr val="22A66F"/>
          </a:solidFill>
          <a:ln w="8890">
            <a:solidFill>
              <a:srgbClr val="22A6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5240" y="1188720"/>
            <a:ext cx="1801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 MOVEMENT</a:t>
            </a:r>
            <a:endParaRPr lang="en-US" sz="590" dirty="0"/>
          </a:p>
        </p:txBody>
      </p:sp>
      <p:sp>
        <p:nvSpPr>
          <p:cNvPr id="28" name="Text 26"/>
          <p:cNvSpPr/>
          <p:nvPr/>
        </p:nvSpPr>
        <p:spPr>
          <a:xfrm>
            <a:off x="7635240" y="13716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+3.0%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635240" y="1645920"/>
            <a:ext cx="1783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to latest</a:t>
            </a:r>
            <a:endParaRPr lang="en-US" sz="580" dirty="0"/>
          </a:p>
        </p:txBody>
      </p:sp>
      <p:sp>
        <p:nvSpPr>
          <p:cNvPr id="30" name="Shape 28"/>
          <p:cNvSpPr/>
          <p:nvPr/>
        </p:nvSpPr>
        <p:spPr>
          <a:xfrm>
            <a:off x="9829800" y="1078992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0160">
            <a:solidFill>
              <a:srgbClr val="E2A100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829800" y="1078992"/>
            <a:ext cx="64008" cy="777240"/>
          </a:xfrm>
          <a:prstGeom prst="rect">
            <a:avLst/>
          </a:prstGeom>
          <a:solidFill>
            <a:srgbClr val="E2A100"/>
          </a:solidFill>
          <a:ln w="8890">
            <a:solidFill>
              <a:srgbClr val="E2A1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66960" y="1188720"/>
            <a:ext cx="1618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GAP</a:t>
            </a:r>
            <a:endParaRPr lang="en-US" sz="590" dirty="0"/>
          </a:p>
        </p:txBody>
      </p:sp>
      <p:sp>
        <p:nvSpPr>
          <p:cNvPr id="33" name="Text 31"/>
          <p:cNvSpPr/>
          <p:nvPr/>
        </p:nvSpPr>
        <p:spPr>
          <a:xfrm>
            <a:off x="9966960" y="13716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19.7%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966960" y="1645920"/>
            <a:ext cx="1600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vs 100%</a:t>
            </a:r>
            <a:endParaRPr lang="en-US" sz="580" dirty="0"/>
          </a:p>
        </p:txBody>
      </p:sp>
      <p:sp>
        <p:nvSpPr>
          <p:cNvPr id="35" name="Text 33"/>
          <p:cNvSpPr/>
          <p:nvPr/>
        </p:nvSpPr>
        <p:spPr>
          <a:xfrm>
            <a:off x="502920" y="2240280"/>
            <a:ext cx="1120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 score loss by KPI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502920" y="2551176"/>
            <a:ext cx="11201400" cy="36576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2743200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3154680" y="2770632"/>
            <a:ext cx="4800600" cy="100584"/>
          </a:xfrm>
          <a:prstGeom prst="roundRect">
            <a:avLst>
              <a:gd name="adj" fmla="val 36364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154680" y="2770632"/>
            <a:ext cx="4560570" cy="100584"/>
          </a:xfrm>
          <a:prstGeom prst="roundRect">
            <a:avLst>
              <a:gd name="adj" fmla="val 36364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83880" y="2743200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57.0%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9098280" y="2743200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gap(s) / 3 &lt;70%</a:t>
            </a:r>
            <a:endParaRPr lang="en-US" sz="620" dirty="0"/>
          </a:p>
        </p:txBody>
      </p:sp>
      <p:sp>
        <p:nvSpPr>
          <p:cNvPr id="42" name="Text 40"/>
          <p:cNvSpPr/>
          <p:nvPr/>
        </p:nvSpPr>
        <p:spPr>
          <a:xfrm>
            <a:off x="685800" y="3099816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</a:t>
            </a:r>
            <a:endParaRPr lang="en-US" sz="720" dirty="0"/>
          </a:p>
        </p:txBody>
      </p:sp>
      <p:sp>
        <p:nvSpPr>
          <p:cNvPr id="43" name="Shape 41"/>
          <p:cNvSpPr/>
          <p:nvPr/>
        </p:nvSpPr>
        <p:spPr>
          <a:xfrm>
            <a:off x="3154680" y="3127248"/>
            <a:ext cx="4800600" cy="100584"/>
          </a:xfrm>
          <a:prstGeom prst="roundRect">
            <a:avLst>
              <a:gd name="adj" fmla="val 36364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154680" y="3127248"/>
            <a:ext cx="3336919" cy="100584"/>
          </a:xfrm>
          <a:prstGeom prst="roundRect">
            <a:avLst>
              <a:gd name="adj" fmla="val 36364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83880" y="3099816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41.7%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9098280" y="3099816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gap(s) / 2 &lt;70%</a:t>
            </a:r>
            <a:endParaRPr lang="en-US" sz="620" dirty="0"/>
          </a:p>
        </p:txBody>
      </p:sp>
      <p:sp>
        <p:nvSpPr>
          <p:cNvPr id="47" name="Text 45"/>
          <p:cNvSpPr/>
          <p:nvPr/>
        </p:nvSpPr>
        <p:spPr>
          <a:xfrm>
            <a:off x="685800" y="3456432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Leads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3154680" y="3483864"/>
            <a:ext cx="4800600" cy="100584"/>
          </a:xfrm>
          <a:prstGeom prst="roundRect">
            <a:avLst>
              <a:gd name="adj" fmla="val 36364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54680" y="3483864"/>
            <a:ext cx="1974624" cy="100584"/>
          </a:xfrm>
          <a:prstGeom prst="roundRect">
            <a:avLst>
              <a:gd name="adj" fmla="val 36364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83880" y="345643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24.7%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9098280" y="3456432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gap(s) / 1 &lt;70%</a:t>
            </a:r>
            <a:endParaRPr lang="en-US" sz="620" dirty="0"/>
          </a:p>
        </p:txBody>
      </p:sp>
      <p:sp>
        <p:nvSpPr>
          <p:cNvPr id="52" name="Text 50"/>
          <p:cNvSpPr/>
          <p:nvPr/>
        </p:nvSpPr>
        <p:spPr>
          <a:xfrm>
            <a:off x="685800" y="3813048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CPV</a:t>
            </a:r>
            <a:endParaRPr lang="en-US" sz="720" dirty="0"/>
          </a:p>
        </p:txBody>
      </p:sp>
      <p:sp>
        <p:nvSpPr>
          <p:cNvPr id="53" name="Shape 51"/>
          <p:cNvSpPr/>
          <p:nvPr/>
        </p:nvSpPr>
        <p:spPr>
          <a:xfrm>
            <a:off x="3154680" y="3840480"/>
            <a:ext cx="4800600" cy="100584"/>
          </a:xfrm>
          <a:prstGeom prst="roundRect">
            <a:avLst>
              <a:gd name="adj" fmla="val 36364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154680" y="3840480"/>
            <a:ext cx="1222128" cy="100584"/>
          </a:xfrm>
          <a:prstGeom prst="roundRect">
            <a:avLst>
              <a:gd name="adj" fmla="val 36364"/>
            </a:avLst>
          </a:prstGeom>
          <a:solidFill>
            <a:srgbClr val="E2A100"/>
          </a:solidFill>
          <a:ln w="9525">
            <a:solidFill>
              <a:srgbClr val="E2A1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83880" y="3813048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15.3%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9098280" y="3813048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gap(s) / 2 &lt;70%</a:t>
            </a:r>
            <a:endParaRPr lang="en-US" sz="620" dirty="0"/>
          </a:p>
        </p:txBody>
      </p:sp>
      <p:sp>
        <p:nvSpPr>
          <p:cNvPr id="57" name="Text 55"/>
          <p:cNvSpPr/>
          <p:nvPr/>
        </p:nvSpPr>
        <p:spPr>
          <a:xfrm>
            <a:off x="685800" y="4169664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Channels growth rate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3154680" y="4197096"/>
            <a:ext cx="4800600" cy="100584"/>
          </a:xfrm>
          <a:prstGeom prst="roundRect">
            <a:avLst>
              <a:gd name="adj" fmla="val 36364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154680" y="4197096"/>
            <a:ext cx="1200150" cy="100584"/>
          </a:xfrm>
          <a:prstGeom prst="roundRect">
            <a:avLst>
              <a:gd name="adj" fmla="val 36364"/>
            </a:avLst>
          </a:prstGeom>
          <a:solidFill>
            <a:srgbClr val="E2A100"/>
          </a:solidFill>
          <a:ln w="9525">
            <a:solidFill>
              <a:srgbClr val="E2A1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183880" y="4169664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15.0%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9098280" y="4169664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gap(s) / 0 &lt;70%</a:t>
            </a:r>
            <a:endParaRPr lang="en-US" sz="620" dirty="0"/>
          </a:p>
        </p:txBody>
      </p:sp>
      <p:sp>
        <p:nvSpPr>
          <p:cNvPr id="62" name="Text 60"/>
          <p:cNvSpPr/>
          <p:nvPr/>
        </p:nvSpPr>
        <p:spPr>
          <a:xfrm>
            <a:off x="685800" y="4526280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720" dirty="0"/>
          </a:p>
        </p:txBody>
      </p:sp>
      <p:sp>
        <p:nvSpPr>
          <p:cNvPr id="63" name="Shape 61"/>
          <p:cNvSpPr/>
          <p:nvPr/>
        </p:nvSpPr>
        <p:spPr>
          <a:xfrm>
            <a:off x="3154680" y="4553712"/>
            <a:ext cx="4800600" cy="100584"/>
          </a:xfrm>
          <a:prstGeom prst="roundRect">
            <a:avLst>
              <a:gd name="adj" fmla="val 36364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154680" y="4553712"/>
            <a:ext cx="1108766" cy="100584"/>
          </a:xfrm>
          <a:prstGeom prst="roundRect">
            <a:avLst>
              <a:gd name="adj" fmla="val 36364"/>
            </a:avLst>
          </a:prstGeom>
          <a:solidFill>
            <a:srgbClr val="E2A100"/>
          </a:solidFill>
          <a:ln w="9525">
            <a:solidFill>
              <a:srgbClr val="E2A1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183880" y="4526280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13.9%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9098280" y="4526280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gap(s) / 2 &lt;70%</a:t>
            </a:r>
            <a:endParaRPr lang="en-US" sz="620" dirty="0"/>
          </a:p>
        </p:txBody>
      </p:sp>
      <p:sp>
        <p:nvSpPr>
          <p:cNvPr id="67" name="Text 65"/>
          <p:cNvSpPr/>
          <p:nvPr/>
        </p:nvSpPr>
        <p:spPr>
          <a:xfrm>
            <a:off x="685800" y="4882896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uptime (%)</a:t>
            </a:r>
            <a:endParaRPr lang="en-US" sz="720" dirty="0"/>
          </a:p>
        </p:txBody>
      </p:sp>
      <p:sp>
        <p:nvSpPr>
          <p:cNvPr id="68" name="Shape 66"/>
          <p:cNvSpPr/>
          <p:nvPr/>
        </p:nvSpPr>
        <p:spPr>
          <a:xfrm>
            <a:off x="3154680" y="4910328"/>
            <a:ext cx="4800600" cy="100584"/>
          </a:xfrm>
          <a:prstGeom prst="roundRect">
            <a:avLst>
              <a:gd name="adj" fmla="val 36364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154680" y="4910328"/>
            <a:ext cx="1000125" cy="100584"/>
          </a:xfrm>
          <a:prstGeom prst="roundRect">
            <a:avLst>
              <a:gd name="adj" fmla="val 36364"/>
            </a:avLst>
          </a:prstGeom>
          <a:solidFill>
            <a:srgbClr val="22A66F"/>
          </a:solidFill>
          <a:ln w="9525">
            <a:solidFill>
              <a:srgbClr val="22A66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183880" y="4882896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12.5%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9098280" y="4882896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gap(s) / 1 &lt;70%</a:t>
            </a:r>
            <a:endParaRPr lang="en-US" sz="620" dirty="0"/>
          </a:p>
        </p:txBody>
      </p:sp>
      <p:sp>
        <p:nvSpPr>
          <p:cNvPr id="72" name="Text 70"/>
          <p:cNvSpPr/>
          <p:nvPr/>
        </p:nvSpPr>
        <p:spPr>
          <a:xfrm>
            <a:off x="685800" y="5239512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load speed</a:t>
            </a:r>
            <a:endParaRPr lang="en-US" sz="720" dirty="0"/>
          </a:p>
        </p:txBody>
      </p:sp>
      <p:sp>
        <p:nvSpPr>
          <p:cNvPr id="73" name="Shape 71"/>
          <p:cNvSpPr/>
          <p:nvPr/>
        </p:nvSpPr>
        <p:spPr>
          <a:xfrm>
            <a:off x="3154680" y="5266944"/>
            <a:ext cx="4800600" cy="100584"/>
          </a:xfrm>
          <a:prstGeom prst="roundRect">
            <a:avLst>
              <a:gd name="adj" fmla="val 36364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154680" y="5266944"/>
            <a:ext cx="1000125" cy="100584"/>
          </a:xfrm>
          <a:prstGeom prst="roundRect">
            <a:avLst>
              <a:gd name="adj" fmla="val 36364"/>
            </a:avLst>
          </a:prstGeom>
          <a:solidFill>
            <a:srgbClr val="22A66F"/>
          </a:solidFill>
          <a:ln w="9525">
            <a:solidFill>
              <a:srgbClr val="22A66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183880" y="523951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12.5%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9098280" y="5239512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gap(s) / 1 &lt;70%</a:t>
            </a:r>
            <a:endParaRPr lang="en-US" sz="620" dirty="0"/>
          </a:p>
        </p:txBody>
      </p:sp>
      <p:sp>
        <p:nvSpPr>
          <p:cNvPr id="77" name="Shape 75"/>
          <p:cNvSpPr/>
          <p:nvPr/>
        </p:nvSpPr>
        <p:spPr>
          <a:xfrm>
            <a:off x="502920" y="5897880"/>
            <a:ext cx="11201400" cy="384048"/>
          </a:xfrm>
          <a:prstGeom prst="roundRect">
            <a:avLst>
              <a:gd name="adj" fmla="val 14286"/>
            </a:avLst>
          </a:prstGeom>
          <a:solidFill>
            <a:srgbClr val="FFF9E8"/>
          </a:solidFill>
          <a:ln w="9525">
            <a:solidFill>
              <a:srgbClr val="F0CE7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49808" y="6035040"/>
            <a:ext cx="10698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 rule: do not treat every KPI gap equally; solve the highest weighted-loss drivers first.</a:t>
            </a:r>
            <a:endParaRPr lang="en-US" sz="7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2801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Driver → Role → Employee Map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56616" y="512064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overall KPI loss to affected people and functions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8854135" y="22860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2026  |  SGH Offshore Branch  |  18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EF5"/>
          </a:solidFill>
          <a:ln w="8890">
            <a:solidFill>
              <a:srgbClr val="E8EE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6693408"/>
            <a:ext cx="228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— INTERNAL USE ONLY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61343" y="6693408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580" dirty="0"/>
          </a:p>
        </p:txBody>
      </p:sp>
      <p:sp>
        <p:nvSpPr>
          <p:cNvPr id="10" name="Text 8"/>
          <p:cNvSpPr/>
          <p:nvPr/>
        </p:nvSpPr>
        <p:spPr>
          <a:xfrm>
            <a:off x="502920" y="1078992"/>
            <a:ext cx="1120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driver map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1389888"/>
            <a:ext cx="11201400" cy="36576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600200"/>
            <a:ext cx="2128266" cy="420624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1655064"/>
            <a:ext cx="205511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2631186" y="1600200"/>
            <a:ext cx="2016252" cy="420624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67762" y="1655064"/>
            <a:ext cx="19431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/ Function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4647438" y="1600200"/>
            <a:ext cx="3360420" cy="420624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4014" y="1655064"/>
            <a:ext cx="328726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Affected employee(s)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8007858" y="1600200"/>
            <a:ext cx="3696462" cy="420624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4434" y="1655064"/>
            <a:ext cx="362331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management action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502920" y="2020824"/>
            <a:ext cx="2128266" cy="658368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" y="2075688"/>
            <a:ext cx="2055114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</a:t>
            </a:r>
            <a:endParaRPr lang="en-US" sz="710" dirty="0"/>
          </a:p>
          <a:p>
            <a:pPr algn="l" indent="0" marL="0">
              <a:buNone/>
            </a:pPr>
            <a:r>
              <a:rPr lang="en-US" sz="71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57.0% loss</a:t>
            </a:r>
            <a:endParaRPr lang="en-US" sz="710" dirty="0"/>
          </a:p>
        </p:txBody>
      </p:sp>
      <p:sp>
        <p:nvSpPr>
          <p:cNvPr id="22" name="Shape 20"/>
          <p:cNvSpPr/>
          <p:nvPr/>
        </p:nvSpPr>
        <p:spPr>
          <a:xfrm>
            <a:off x="2631186" y="2020824"/>
            <a:ext cx="2016252" cy="658368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67762" y="2075688"/>
            <a:ext cx="194310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</a:t>
            </a:r>
            <a:endParaRPr lang="en-US" sz="710" dirty="0"/>
          </a:p>
        </p:txBody>
      </p:sp>
      <p:sp>
        <p:nvSpPr>
          <p:cNvPr id="24" name="Shape 22"/>
          <p:cNvSpPr/>
          <p:nvPr/>
        </p:nvSpPr>
        <p:spPr>
          <a:xfrm>
            <a:off x="4647438" y="2020824"/>
            <a:ext cx="3360420" cy="658368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4014" y="2075688"/>
            <a:ext cx="328726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Mina Nabil, Samya Ismail, Hossam El-Naggar</a:t>
            </a:r>
            <a:endParaRPr lang="en-US" sz="710" dirty="0"/>
          </a:p>
        </p:txBody>
      </p:sp>
      <p:sp>
        <p:nvSpPr>
          <p:cNvPr id="26" name="Shape 24"/>
          <p:cNvSpPr/>
          <p:nvPr/>
        </p:nvSpPr>
        <p:spPr>
          <a:xfrm>
            <a:off x="8007858" y="2020824"/>
            <a:ext cx="3696462" cy="658368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4434" y="2075688"/>
            <a:ext cx="362331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response time toward 30 min target</a:t>
            </a:r>
            <a:endParaRPr lang="en-US" sz="710" dirty="0"/>
          </a:p>
        </p:txBody>
      </p:sp>
      <p:sp>
        <p:nvSpPr>
          <p:cNvPr id="28" name="Shape 26"/>
          <p:cNvSpPr/>
          <p:nvPr/>
        </p:nvSpPr>
        <p:spPr>
          <a:xfrm>
            <a:off x="502920" y="2679192"/>
            <a:ext cx="2128266" cy="658368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9496" y="2734056"/>
            <a:ext cx="2055114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</a:t>
            </a:r>
            <a:endParaRPr lang="en-US" sz="710" dirty="0"/>
          </a:p>
          <a:p>
            <a:pPr algn="l" indent="0" marL="0">
              <a:buNone/>
            </a:pPr>
            <a:r>
              <a:rPr lang="en-US" sz="71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41.7% loss</a:t>
            </a:r>
            <a:endParaRPr lang="en-US" sz="710" dirty="0"/>
          </a:p>
        </p:txBody>
      </p:sp>
      <p:sp>
        <p:nvSpPr>
          <p:cNvPr id="30" name="Shape 28"/>
          <p:cNvSpPr/>
          <p:nvPr/>
        </p:nvSpPr>
        <p:spPr>
          <a:xfrm>
            <a:off x="2631186" y="2679192"/>
            <a:ext cx="2016252" cy="658368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67762" y="2734056"/>
            <a:ext cx="194310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710" dirty="0"/>
          </a:p>
        </p:txBody>
      </p:sp>
      <p:sp>
        <p:nvSpPr>
          <p:cNvPr id="32" name="Shape 30"/>
          <p:cNvSpPr/>
          <p:nvPr/>
        </p:nvSpPr>
        <p:spPr>
          <a:xfrm>
            <a:off x="4647438" y="2679192"/>
            <a:ext cx="3360420" cy="658368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4014" y="2734056"/>
            <a:ext cx="328726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Bahy Hamed Amer, Ziad Sayed Hassan</a:t>
            </a:r>
            <a:endParaRPr lang="en-US" sz="710" dirty="0"/>
          </a:p>
        </p:txBody>
      </p:sp>
      <p:sp>
        <p:nvSpPr>
          <p:cNvPr id="34" name="Shape 32"/>
          <p:cNvSpPr/>
          <p:nvPr/>
        </p:nvSpPr>
        <p:spPr>
          <a:xfrm>
            <a:off x="8007858" y="2679192"/>
            <a:ext cx="3696462" cy="658368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4434" y="2734056"/>
            <a:ext cx="362331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CR workflow, targeting, landing page and handoff</a:t>
            </a:r>
            <a:endParaRPr lang="en-US" sz="710" dirty="0"/>
          </a:p>
        </p:txBody>
      </p:sp>
      <p:sp>
        <p:nvSpPr>
          <p:cNvPr id="36" name="Shape 34"/>
          <p:cNvSpPr/>
          <p:nvPr/>
        </p:nvSpPr>
        <p:spPr>
          <a:xfrm>
            <a:off x="502920" y="3337560"/>
            <a:ext cx="2128266" cy="658368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" y="3392424"/>
            <a:ext cx="2055114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Leads</a:t>
            </a:r>
            <a:endParaRPr lang="en-US" sz="710" dirty="0"/>
          </a:p>
          <a:p>
            <a:pPr algn="l" indent="0" marL="0">
              <a:buNone/>
            </a:pPr>
            <a:r>
              <a:rPr lang="en-US" sz="71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24.7% loss</a:t>
            </a:r>
            <a:endParaRPr lang="en-US" sz="710" dirty="0"/>
          </a:p>
        </p:txBody>
      </p:sp>
      <p:sp>
        <p:nvSpPr>
          <p:cNvPr id="38" name="Shape 36"/>
          <p:cNvSpPr/>
          <p:nvPr/>
        </p:nvSpPr>
        <p:spPr>
          <a:xfrm>
            <a:off x="2631186" y="3337560"/>
            <a:ext cx="2016252" cy="658368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67762" y="3392424"/>
            <a:ext cx="194310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Media</a:t>
            </a:r>
            <a:endParaRPr lang="en-US" sz="710" dirty="0"/>
          </a:p>
        </p:txBody>
      </p:sp>
      <p:sp>
        <p:nvSpPr>
          <p:cNvPr id="40" name="Shape 38"/>
          <p:cNvSpPr/>
          <p:nvPr/>
        </p:nvSpPr>
        <p:spPr>
          <a:xfrm>
            <a:off x="4647438" y="3337560"/>
            <a:ext cx="3360420" cy="658368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84014" y="3392424"/>
            <a:ext cx="328726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Bahy Hamed Amer, Ziad Sayed Hassan, Ahmed Mohamed Shehata</a:t>
            </a:r>
            <a:endParaRPr lang="en-US" sz="710" dirty="0"/>
          </a:p>
        </p:txBody>
      </p:sp>
      <p:sp>
        <p:nvSpPr>
          <p:cNvPr id="42" name="Shape 40"/>
          <p:cNvSpPr/>
          <p:nvPr/>
        </p:nvSpPr>
        <p:spPr>
          <a:xfrm>
            <a:off x="8007858" y="3337560"/>
            <a:ext cx="3696462" cy="658368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4434" y="3392424"/>
            <a:ext cx="362331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lead volume drivers and coaching scope</a:t>
            </a:r>
            <a:endParaRPr lang="en-US" sz="710" dirty="0"/>
          </a:p>
        </p:txBody>
      </p:sp>
      <p:sp>
        <p:nvSpPr>
          <p:cNvPr id="44" name="Shape 42"/>
          <p:cNvSpPr/>
          <p:nvPr/>
        </p:nvSpPr>
        <p:spPr>
          <a:xfrm>
            <a:off x="502920" y="3995928"/>
            <a:ext cx="2128266" cy="658368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9496" y="4050792"/>
            <a:ext cx="2055114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Performance</a:t>
            </a:r>
            <a:endParaRPr lang="en-US" sz="710" dirty="0"/>
          </a:p>
          <a:p>
            <a:pPr algn="l" indent="0" marL="0">
              <a:buNone/>
            </a:pPr>
            <a:r>
              <a:rPr lang="en-US" sz="71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25.0% loss</a:t>
            </a:r>
            <a:endParaRPr lang="en-US" sz="710" dirty="0"/>
          </a:p>
        </p:txBody>
      </p:sp>
      <p:sp>
        <p:nvSpPr>
          <p:cNvPr id="46" name="Shape 44"/>
          <p:cNvSpPr/>
          <p:nvPr/>
        </p:nvSpPr>
        <p:spPr>
          <a:xfrm>
            <a:off x="2631186" y="3995928"/>
            <a:ext cx="2016252" cy="658368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67762" y="4050792"/>
            <a:ext cx="194310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Developer</a:t>
            </a:r>
            <a:endParaRPr lang="en-US" sz="710" dirty="0"/>
          </a:p>
        </p:txBody>
      </p:sp>
      <p:sp>
        <p:nvSpPr>
          <p:cNvPr id="48" name="Shape 46"/>
          <p:cNvSpPr/>
          <p:nvPr/>
        </p:nvSpPr>
        <p:spPr>
          <a:xfrm>
            <a:off x="4647438" y="3995928"/>
            <a:ext cx="3360420" cy="658368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84014" y="4050792"/>
            <a:ext cx="328726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Abdelrahman Yousry</a:t>
            </a:r>
            <a:endParaRPr lang="en-US" sz="710" dirty="0"/>
          </a:p>
        </p:txBody>
      </p:sp>
      <p:sp>
        <p:nvSpPr>
          <p:cNvPr id="50" name="Shape 48"/>
          <p:cNvSpPr/>
          <p:nvPr/>
        </p:nvSpPr>
        <p:spPr>
          <a:xfrm>
            <a:off x="8007858" y="3995928"/>
            <a:ext cx="3696462" cy="658368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44434" y="4050792"/>
            <a:ext cx="362331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 uptime and page-load speed</a:t>
            </a:r>
            <a:endParaRPr lang="en-US" sz="710" dirty="0"/>
          </a:p>
        </p:txBody>
      </p:sp>
      <p:sp>
        <p:nvSpPr>
          <p:cNvPr id="52" name="Shape 50"/>
          <p:cNvSpPr/>
          <p:nvPr/>
        </p:nvSpPr>
        <p:spPr>
          <a:xfrm>
            <a:off x="502920" y="5440680"/>
            <a:ext cx="11201400" cy="502920"/>
          </a:xfrm>
          <a:prstGeom prst="roundRect">
            <a:avLst>
              <a:gd name="adj" fmla="val 10909"/>
            </a:avLst>
          </a:prstGeom>
          <a:solidFill>
            <a:srgbClr val="102941"/>
          </a:solidFill>
          <a:ln w="9525">
            <a:solidFill>
              <a:srgbClr val="10294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9808" y="5632704"/>
            <a:ext cx="10698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interpretation: the Marketing score is not the story; the story is which driver touches which role, then which employees require intervention.</a:t>
            </a:r>
            <a:endParaRPr lang="en-US" sz="86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2801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Employee Performance Priority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56616" y="512064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Exceptions first; on-track people stay visible but secondary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8854135" y="22860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2026  |  SGH Offshore Branch  |  19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EF5"/>
          </a:solidFill>
          <a:ln w="8890">
            <a:solidFill>
              <a:srgbClr val="E8EE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6693408"/>
            <a:ext cx="228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— INTERNAL USE ONLY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61343" y="6693408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>
            <a:off x="502920" y="1078992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D53F49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078992"/>
            <a:ext cx="3429000" cy="64008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13716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Action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04088" y="1737360"/>
            <a:ext cx="2377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employee(s) | Score below 70%</a:t>
            </a:r>
            <a:endParaRPr lang="en-US" sz="710" dirty="0"/>
          </a:p>
        </p:txBody>
      </p:sp>
      <p:sp>
        <p:nvSpPr>
          <p:cNvPr id="14" name="Text 12"/>
          <p:cNvSpPr/>
          <p:nvPr/>
        </p:nvSpPr>
        <p:spPr>
          <a:xfrm>
            <a:off x="722376" y="2148840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Bahy Hamed Amer</a:t>
            </a:r>
            <a:endParaRPr lang="en-US" sz="710" dirty="0"/>
          </a:p>
        </p:txBody>
      </p:sp>
      <p:sp>
        <p:nvSpPr>
          <p:cNvPr id="15" name="Text 13"/>
          <p:cNvSpPr/>
          <p:nvPr/>
        </p:nvSpPr>
        <p:spPr>
          <a:xfrm>
            <a:off x="2560320" y="2148840"/>
            <a:ext cx="484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9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43.8%</a:t>
            </a:r>
            <a:endParaRPr lang="en-US" sz="690" dirty="0"/>
          </a:p>
        </p:txBody>
      </p:sp>
      <p:sp>
        <p:nvSpPr>
          <p:cNvPr id="16" name="Text 14"/>
          <p:cNvSpPr/>
          <p:nvPr/>
        </p:nvSpPr>
        <p:spPr>
          <a:xfrm>
            <a:off x="3200400" y="214884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-17.3%</a:t>
            </a:r>
            <a:endParaRPr lang="en-US" sz="640" dirty="0"/>
          </a:p>
        </p:txBody>
      </p:sp>
      <p:sp>
        <p:nvSpPr>
          <p:cNvPr id="17" name="Text 15"/>
          <p:cNvSpPr/>
          <p:nvPr/>
        </p:nvSpPr>
        <p:spPr>
          <a:xfrm>
            <a:off x="722376" y="2651760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Ziad Sayed Hassan</a:t>
            </a:r>
            <a:endParaRPr lang="en-US" sz="710" dirty="0"/>
          </a:p>
        </p:txBody>
      </p:sp>
      <p:sp>
        <p:nvSpPr>
          <p:cNvPr id="18" name="Text 16"/>
          <p:cNvSpPr/>
          <p:nvPr/>
        </p:nvSpPr>
        <p:spPr>
          <a:xfrm>
            <a:off x="2560320" y="2651760"/>
            <a:ext cx="484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9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57.8%</a:t>
            </a:r>
            <a:endParaRPr lang="en-US" sz="690" dirty="0"/>
          </a:p>
        </p:txBody>
      </p:sp>
      <p:sp>
        <p:nvSpPr>
          <p:cNvPr id="19" name="Text 17"/>
          <p:cNvSpPr/>
          <p:nvPr/>
        </p:nvSpPr>
        <p:spPr>
          <a:xfrm>
            <a:off x="3200400" y="265176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640" dirty="0"/>
          </a:p>
        </p:txBody>
      </p:sp>
      <p:sp>
        <p:nvSpPr>
          <p:cNvPr id="20" name="Text 18"/>
          <p:cNvSpPr/>
          <p:nvPr/>
        </p:nvSpPr>
        <p:spPr>
          <a:xfrm>
            <a:off x="722376" y="3154680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Samya Ismail</a:t>
            </a:r>
            <a:endParaRPr lang="en-US" sz="710" dirty="0"/>
          </a:p>
        </p:txBody>
      </p:sp>
      <p:sp>
        <p:nvSpPr>
          <p:cNvPr id="21" name="Text 19"/>
          <p:cNvSpPr/>
          <p:nvPr/>
        </p:nvSpPr>
        <p:spPr>
          <a:xfrm>
            <a:off x="2560320" y="3154680"/>
            <a:ext cx="484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9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66.6%</a:t>
            </a:r>
            <a:endParaRPr lang="en-US" sz="690" dirty="0"/>
          </a:p>
        </p:txBody>
      </p:sp>
      <p:sp>
        <p:nvSpPr>
          <p:cNvPr id="22" name="Text 20"/>
          <p:cNvSpPr/>
          <p:nvPr/>
        </p:nvSpPr>
        <p:spPr>
          <a:xfrm>
            <a:off x="3200400" y="315468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+5.6%</a:t>
            </a:r>
            <a:endParaRPr lang="en-US" sz="640" dirty="0"/>
          </a:p>
        </p:txBody>
      </p:sp>
      <p:sp>
        <p:nvSpPr>
          <p:cNvPr id="23" name="Text 21"/>
          <p:cNvSpPr/>
          <p:nvPr/>
        </p:nvSpPr>
        <p:spPr>
          <a:xfrm>
            <a:off x="722376" y="3657600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Mina Nabil</a:t>
            </a:r>
            <a:endParaRPr lang="en-US" sz="710" dirty="0"/>
          </a:p>
        </p:txBody>
      </p:sp>
      <p:sp>
        <p:nvSpPr>
          <p:cNvPr id="24" name="Text 22"/>
          <p:cNvSpPr/>
          <p:nvPr/>
        </p:nvSpPr>
        <p:spPr>
          <a:xfrm>
            <a:off x="2560320" y="3657600"/>
            <a:ext cx="484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9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66.6%</a:t>
            </a:r>
            <a:endParaRPr lang="en-US" sz="690" dirty="0"/>
          </a:p>
        </p:txBody>
      </p:sp>
      <p:sp>
        <p:nvSpPr>
          <p:cNvPr id="25" name="Text 23"/>
          <p:cNvSpPr/>
          <p:nvPr/>
        </p:nvSpPr>
        <p:spPr>
          <a:xfrm>
            <a:off x="3200400" y="365760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+5.6%</a:t>
            </a:r>
            <a:endParaRPr lang="en-US" sz="640" dirty="0"/>
          </a:p>
        </p:txBody>
      </p:sp>
      <p:sp>
        <p:nvSpPr>
          <p:cNvPr id="26" name="Text 24"/>
          <p:cNvSpPr/>
          <p:nvPr/>
        </p:nvSpPr>
        <p:spPr>
          <a:xfrm>
            <a:off x="722376" y="4160520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Abdelrahman Yousry</a:t>
            </a:r>
            <a:endParaRPr lang="en-US" sz="710" dirty="0"/>
          </a:p>
        </p:txBody>
      </p:sp>
      <p:sp>
        <p:nvSpPr>
          <p:cNvPr id="27" name="Text 25"/>
          <p:cNvSpPr/>
          <p:nvPr/>
        </p:nvSpPr>
        <p:spPr>
          <a:xfrm>
            <a:off x="2560320" y="4160520"/>
            <a:ext cx="484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9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68.8%</a:t>
            </a:r>
            <a:endParaRPr lang="en-US" sz="690" dirty="0"/>
          </a:p>
        </p:txBody>
      </p:sp>
      <p:sp>
        <p:nvSpPr>
          <p:cNvPr id="28" name="Text 26"/>
          <p:cNvSpPr/>
          <p:nvPr/>
        </p:nvSpPr>
        <p:spPr>
          <a:xfrm>
            <a:off x="3200400" y="416052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-10.0%</a:t>
            </a:r>
            <a:endParaRPr lang="en-US" sz="640" dirty="0"/>
          </a:p>
        </p:txBody>
      </p:sp>
      <p:sp>
        <p:nvSpPr>
          <p:cNvPr id="29" name="Shape 27"/>
          <p:cNvSpPr/>
          <p:nvPr/>
        </p:nvSpPr>
        <p:spPr>
          <a:xfrm>
            <a:off x="4389120" y="1078992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E2A100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89120" y="1078992"/>
            <a:ext cx="3429000" cy="64008"/>
          </a:xfrm>
          <a:prstGeom prst="rect">
            <a:avLst/>
          </a:prstGeom>
          <a:solidFill>
            <a:srgbClr val="E2A100"/>
          </a:solidFill>
          <a:ln w="8890">
            <a:solidFill>
              <a:srgbClr val="E2A1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90288" y="13716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90288" y="1737360"/>
            <a:ext cx="2377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employee(s) | 70–89%</a:t>
            </a:r>
            <a:endParaRPr lang="en-US" sz="710" dirty="0"/>
          </a:p>
        </p:txBody>
      </p:sp>
      <p:sp>
        <p:nvSpPr>
          <p:cNvPr id="33" name="Text 31"/>
          <p:cNvSpPr/>
          <p:nvPr/>
        </p:nvSpPr>
        <p:spPr>
          <a:xfrm>
            <a:off x="4608576" y="2148840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Hossam El-naggar</a:t>
            </a:r>
            <a:endParaRPr lang="en-US" sz="710" dirty="0"/>
          </a:p>
        </p:txBody>
      </p:sp>
      <p:sp>
        <p:nvSpPr>
          <p:cNvPr id="34" name="Text 32"/>
          <p:cNvSpPr/>
          <p:nvPr/>
        </p:nvSpPr>
        <p:spPr>
          <a:xfrm>
            <a:off x="6446520" y="2148840"/>
            <a:ext cx="484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9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84.3%</a:t>
            </a:r>
            <a:endParaRPr lang="en-US" sz="690" dirty="0"/>
          </a:p>
        </p:txBody>
      </p:sp>
      <p:sp>
        <p:nvSpPr>
          <p:cNvPr id="35" name="Text 33"/>
          <p:cNvSpPr/>
          <p:nvPr/>
        </p:nvSpPr>
        <p:spPr>
          <a:xfrm>
            <a:off x="7086600" y="214884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+6.8%</a:t>
            </a:r>
            <a:endParaRPr lang="en-US" sz="640" dirty="0"/>
          </a:p>
        </p:txBody>
      </p:sp>
      <p:sp>
        <p:nvSpPr>
          <p:cNvPr id="36" name="Shape 34"/>
          <p:cNvSpPr/>
          <p:nvPr/>
        </p:nvSpPr>
        <p:spPr>
          <a:xfrm>
            <a:off x="8275320" y="1078992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22A66F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275320" y="1078992"/>
            <a:ext cx="3429000" cy="64008"/>
          </a:xfrm>
          <a:prstGeom prst="rect">
            <a:avLst/>
          </a:prstGeom>
          <a:solidFill>
            <a:srgbClr val="22A66F"/>
          </a:solidFill>
          <a:ln w="8890">
            <a:solidFill>
              <a:srgbClr val="22A66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76488" y="13716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476488" y="1737360"/>
            <a:ext cx="2377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employee(s) | 90%+</a:t>
            </a:r>
            <a:endParaRPr lang="en-US" sz="710" dirty="0"/>
          </a:p>
        </p:txBody>
      </p:sp>
      <p:sp>
        <p:nvSpPr>
          <p:cNvPr id="40" name="Text 38"/>
          <p:cNvSpPr/>
          <p:nvPr/>
        </p:nvSpPr>
        <p:spPr>
          <a:xfrm>
            <a:off x="8494776" y="2148840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Ahmed Mohamed Shehata</a:t>
            </a:r>
            <a:endParaRPr lang="en-US" sz="710" dirty="0"/>
          </a:p>
        </p:txBody>
      </p:sp>
      <p:sp>
        <p:nvSpPr>
          <p:cNvPr id="41" name="Text 39"/>
          <p:cNvSpPr/>
          <p:nvPr/>
        </p:nvSpPr>
        <p:spPr>
          <a:xfrm>
            <a:off x="10332720" y="2148840"/>
            <a:ext cx="484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9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90.7%</a:t>
            </a:r>
            <a:endParaRPr lang="en-US" sz="690" dirty="0"/>
          </a:p>
        </p:txBody>
      </p:sp>
      <p:sp>
        <p:nvSpPr>
          <p:cNvPr id="42" name="Text 40"/>
          <p:cNvSpPr/>
          <p:nvPr/>
        </p:nvSpPr>
        <p:spPr>
          <a:xfrm>
            <a:off x="10972800" y="214884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+0.5%</a:t>
            </a:r>
            <a:endParaRPr lang="en-US" sz="640" dirty="0"/>
          </a:p>
        </p:txBody>
      </p:sp>
      <p:sp>
        <p:nvSpPr>
          <p:cNvPr id="43" name="Text 41"/>
          <p:cNvSpPr/>
          <p:nvPr/>
        </p:nvSpPr>
        <p:spPr>
          <a:xfrm>
            <a:off x="8494776" y="2651760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Asser Mohamed</a:t>
            </a:r>
            <a:endParaRPr lang="en-US" sz="710" dirty="0"/>
          </a:p>
        </p:txBody>
      </p:sp>
      <p:sp>
        <p:nvSpPr>
          <p:cNvPr id="44" name="Text 42"/>
          <p:cNvSpPr/>
          <p:nvPr/>
        </p:nvSpPr>
        <p:spPr>
          <a:xfrm>
            <a:off x="10332720" y="2651760"/>
            <a:ext cx="484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9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93.5%</a:t>
            </a:r>
            <a:endParaRPr lang="en-US" sz="690" dirty="0"/>
          </a:p>
        </p:txBody>
      </p:sp>
      <p:sp>
        <p:nvSpPr>
          <p:cNvPr id="45" name="Text 43"/>
          <p:cNvSpPr/>
          <p:nvPr/>
        </p:nvSpPr>
        <p:spPr>
          <a:xfrm>
            <a:off x="10972800" y="265176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+0.0%</a:t>
            </a:r>
            <a:endParaRPr lang="en-US" sz="640" dirty="0"/>
          </a:p>
        </p:txBody>
      </p:sp>
      <p:sp>
        <p:nvSpPr>
          <p:cNvPr id="46" name="Text 44"/>
          <p:cNvSpPr/>
          <p:nvPr/>
        </p:nvSpPr>
        <p:spPr>
          <a:xfrm>
            <a:off x="8494776" y="3154680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Mohamed Abdelmegid Diab</a:t>
            </a:r>
            <a:endParaRPr lang="en-US" sz="710" dirty="0"/>
          </a:p>
        </p:txBody>
      </p:sp>
      <p:sp>
        <p:nvSpPr>
          <p:cNvPr id="47" name="Text 45"/>
          <p:cNvSpPr/>
          <p:nvPr/>
        </p:nvSpPr>
        <p:spPr>
          <a:xfrm>
            <a:off x="10332720" y="3154680"/>
            <a:ext cx="484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9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97.2%</a:t>
            </a:r>
            <a:endParaRPr lang="en-US" sz="690" dirty="0"/>
          </a:p>
        </p:txBody>
      </p:sp>
      <p:sp>
        <p:nvSpPr>
          <p:cNvPr id="48" name="Text 46"/>
          <p:cNvSpPr/>
          <p:nvPr/>
        </p:nvSpPr>
        <p:spPr>
          <a:xfrm>
            <a:off x="10972800" y="315468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+2.7%</a:t>
            </a:r>
            <a:endParaRPr lang="en-US" sz="640" dirty="0"/>
          </a:p>
        </p:txBody>
      </p:sp>
      <p:sp>
        <p:nvSpPr>
          <p:cNvPr id="49" name="Text 47"/>
          <p:cNvSpPr/>
          <p:nvPr/>
        </p:nvSpPr>
        <p:spPr>
          <a:xfrm>
            <a:off x="8494776" y="3657600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Nourshan</a:t>
            </a:r>
            <a:endParaRPr lang="en-US" sz="710" dirty="0"/>
          </a:p>
        </p:txBody>
      </p:sp>
      <p:sp>
        <p:nvSpPr>
          <p:cNvPr id="50" name="Text 48"/>
          <p:cNvSpPr/>
          <p:nvPr/>
        </p:nvSpPr>
        <p:spPr>
          <a:xfrm>
            <a:off x="10332720" y="3657600"/>
            <a:ext cx="484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9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97.5%</a:t>
            </a:r>
            <a:endParaRPr lang="en-US" sz="690" dirty="0"/>
          </a:p>
        </p:txBody>
      </p:sp>
      <p:sp>
        <p:nvSpPr>
          <p:cNvPr id="51" name="Text 49"/>
          <p:cNvSpPr/>
          <p:nvPr/>
        </p:nvSpPr>
        <p:spPr>
          <a:xfrm>
            <a:off x="10972800" y="365760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640" dirty="0"/>
          </a:p>
        </p:txBody>
      </p:sp>
      <p:sp>
        <p:nvSpPr>
          <p:cNvPr id="52" name="Text 50"/>
          <p:cNvSpPr/>
          <p:nvPr/>
        </p:nvSpPr>
        <p:spPr>
          <a:xfrm>
            <a:off x="8494776" y="4160520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Dina Samir</a:t>
            </a:r>
            <a:endParaRPr lang="en-US" sz="710" dirty="0"/>
          </a:p>
        </p:txBody>
      </p:sp>
      <p:sp>
        <p:nvSpPr>
          <p:cNvPr id="53" name="Text 51"/>
          <p:cNvSpPr/>
          <p:nvPr/>
        </p:nvSpPr>
        <p:spPr>
          <a:xfrm>
            <a:off x="10332720" y="4160520"/>
            <a:ext cx="484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9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97.6%</a:t>
            </a:r>
            <a:endParaRPr lang="en-US" sz="690" dirty="0"/>
          </a:p>
        </p:txBody>
      </p:sp>
      <p:sp>
        <p:nvSpPr>
          <p:cNvPr id="54" name="Text 52"/>
          <p:cNvSpPr/>
          <p:nvPr/>
        </p:nvSpPr>
        <p:spPr>
          <a:xfrm>
            <a:off x="10972800" y="416052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+3.1%</a:t>
            </a:r>
            <a:endParaRPr lang="en-US" sz="640" dirty="0"/>
          </a:p>
        </p:txBody>
      </p:sp>
      <p:sp>
        <p:nvSpPr>
          <p:cNvPr id="55" name="Text 53"/>
          <p:cNvSpPr/>
          <p:nvPr/>
        </p:nvSpPr>
        <p:spPr>
          <a:xfrm>
            <a:off x="8494776" y="4663440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Abdulwahab</a:t>
            </a:r>
            <a:endParaRPr lang="en-US" sz="710" dirty="0"/>
          </a:p>
        </p:txBody>
      </p:sp>
      <p:sp>
        <p:nvSpPr>
          <p:cNvPr id="56" name="Text 54"/>
          <p:cNvSpPr/>
          <p:nvPr/>
        </p:nvSpPr>
        <p:spPr>
          <a:xfrm>
            <a:off x="10332720" y="4663440"/>
            <a:ext cx="484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9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99.0%</a:t>
            </a:r>
            <a:endParaRPr lang="en-US" sz="690" dirty="0"/>
          </a:p>
        </p:txBody>
      </p:sp>
      <p:sp>
        <p:nvSpPr>
          <p:cNvPr id="57" name="Text 55"/>
          <p:cNvSpPr/>
          <p:nvPr/>
        </p:nvSpPr>
        <p:spPr>
          <a:xfrm>
            <a:off x="10972800" y="466344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+7.8%</a:t>
            </a:r>
            <a:endParaRPr lang="en-US" sz="640" dirty="0"/>
          </a:p>
        </p:txBody>
      </p:sp>
      <p:sp>
        <p:nvSpPr>
          <p:cNvPr id="58" name="Shape 56"/>
          <p:cNvSpPr/>
          <p:nvPr/>
        </p:nvSpPr>
        <p:spPr>
          <a:xfrm>
            <a:off x="502920" y="5852160"/>
            <a:ext cx="11201400" cy="384048"/>
          </a:xfrm>
          <a:prstGeom prst="roundRect">
            <a:avLst>
              <a:gd name="adj" fmla="val 14286"/>
            </a:avLst>
          </a:prstGeom>
          <a:solidFill>
            <a:srgbClr val="FFF7E7"/>
          </a:solidFill>
          <a:ln w="9525">
            <a:solidFill>
              <a:srgbClr val="F0C36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5989320"/>
            <a:ext cx="10698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 focus: 5 employees below 70% — Bahy Hamed Amer, Ziad Sayed Hassan, Samya Ismail, Mina Nabil, Abdelrahman Yousry.</a:t>
            </a:r>
            <a:endParaRPr lang="en-US" sz="7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2801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Employee Detail — Bahy Hamed Amer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56616" y="512064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vs Target is shown for every KPI so the employee number is clear and auditable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8854135" y="22860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2026  |  SGH Offshore Branch  |  20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EF5"/>
          </a:solidFill>
          <a:ln w="8890">
            <a:solidFill>
              <a:srgbClr val="E8EE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6693408"/>
            <a:ext cx="228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— INTERNAL USE ONLY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61343" y="6693408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>
            <a:off x="502920" y="1097280"/>
            <a:ext cx="2971800" cy="429768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097280"/>
            <a:ext cx="64008" cy="4297680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14447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Bahy Hamed Amer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722376" y="1755648"/>
            <a:ext cx="25146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2286000" y="1371600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142646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ACTION</a:t>
            </a:r>
            <a:endParaRPr lang="en-US" sz="580" dirty="0"/>
          </a:p>
        </p:txBody>
      </p:sp>
      <p:sp>
        <p:nvSpPr>
          <p:cNvPr id="16" name="Text 14"/>
          <p:cNvSpPr/>
          <p:nvPr/>
        </p:nvSpPr>
        <p:spPr>
          <a:xfrm>
            <a:off x="722376" y="2359152"/>
            <a:ext cx="84124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SCORE</a:t>
            </a:r>
            <a:endParaRPr lang="en-US" sz="500" dirty="0"/>
          </a:p>
        </p:txBody>
      </p:sp>
      <p:sp>
        <p:nvSpPr>
          <p:cNvPr id="17" name="Text 15"/>
          <p:cNvSpPr/>
          <p:nvPr/>
        </p:nvSpPr>
        <p:spPr>
          <a:xfrm>
            <a:off x="722376" y="2651760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43.8%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1920240" y="2359152"/>
            <a:ext cx="84124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500" dirty="0"/>
          </a:p>
        </p:txBody>
      </p:sp>
      <p:sp>
        <p:nvSpPr>
          <p:cNvPr id="19" name="Text 17"/>
          <p:cNvSpPr/>
          <p:nvPr/>
        </p:nvSpPr>
        <p:spPr>
          <a:xfrm>
            <a:off x="1920240" y="267004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61.1%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2999232"/>
            <a:ext cx="8412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</a:t>
            </a:r>
            <a:endParaRPr lang="en-US" sz="500" dirty="0"/>
          </a:p>
        </p:txBody>
      </p:sp>
      <p:sp>
        <p:nvSpPr>
          <p:cNvPr id="21" name="Text 19"/>
          <p:cNvSpPr/>
          <p:nvPr/>
        </p:nvSpPr>
        <p:spPr>
          <a:xfrm>
            <a:off x="1920240" y="321868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-17.3%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722376" y="4315968"/>
            <a:ext cx="2532888" cy="749808"/>
          </a:xfrm>
          <a:prstGeom prst="roundRect">
            <a:avLst>
              <a:gd name="adj" fmla="val 7317"/>
            </a:avLst>
          </a:prstGeom>
          <a:solidFill>
            <a:srgbClr val="FFF7E7"/>
          </a:solidFill>
          <a:ln w="9525">
            <a:solidFill>
              <a:srgbClr val="F0CE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" y="4517136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focus</a:t>
            </a:r>
            <a:endParaRPr lang="en-US" sz="640" dirty="0"/>
          </a:p>
        </p:txBody>
      </p:sp>
      <p:sp>
        <p:nvSpPr>
          <p:cNvPr id="24" name="Text 22"/>
          <p:cNvSpPr/>
          <p:nvPr/>
        </p:nvSpPr>
        <p:spPr>
          <a:xfrm>
            <a:off x="886968" y="478231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Leads gap review and corrective action tracking.</a:t>
            </a:r>
            <a:endParaRPr lang="en-US" sz="630" dirty="0"/>
          </a:p>
        </p:txBody>
      </p:sp>
      <p:sp>
        <p:nvSpPr>
          <p:cNvPr id="25" name="Text 23"/>
          <p:cNvSpPr/>
          <p:nvPr/>
        </p:nvSpPr>
        <p:spPr>
          <a:xfrm>
            <a:off x="3794760" y="1097280"/>
            <a:ext cx="7726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Drivers — Actual / Target / Achievement / Weighted Loss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3794760" y="1408176"/>
            <a:ext cx="7726680" cy="36576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94760" y="1664208"/>
            <a:ext cx="22402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94760" y="1664208"/>
            <a:ext cx="54864" cy="1261872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41064" y="1773936"/>
            <a:ext cx="1984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Leads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3941064" y="204825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35.5%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3959352" y="2322576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560" dirty="0"/>
          </a:p>
        </p:txBody>
      </p:sp>
      <p:sp>
        <p:nvSpPr>
          <p:cNvPr id="32" name="Text 30"/>
          <p:cNvSpPr/>
          <p:nvPr/>
        </p:nvSpPr>
        <p:spPr>
          <a:xfrm>
            <a:off x="5193792" y="2048256"/>
            <a:ext cx="704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64.5%</a:t>
            </a:r>
            <a:endParaRPr lang="en-US" sz="520" dirty="0"/>
          </a:p>
          <a:p>
            <a:pPr algn="r" indent="0" marL="0">
              <a:buNone/>
            </a:pPr>
            <a:r>
              <a:rPr lang="en-US" sz="5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19.4%</a:t>
            </a:r>
            <a:endParaRPr lang="en-US" sz="520" dirty="0"/>
          </a:p>
        </p:txBody>
      </p:sp>
      <p:sp>
        <p:nvSpPr>
          <p:cNvPr id="33" name="Shape 31"/>
          <p:cNvSpPr/>
          <p:nvPr/>
        </p:nvSpPr>
        <p:spPr>
          <a:xfrm>
            <a:off x="3959352" y="2496312"/>
            <a:ext cx="1911096" cy="73152"/>
          </a:xfrm>
          <a:prstGeom prst="roundRect">
            <a:avLst>
              <a:gd name="adj" fmla="val 50000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959352" y="2496312"/>
            <a:ext cx="677593" cy="73152"/>
          </a:xfrm>
          <a:prstGeom prst="roundRect">
            <a:avLst>
              <a:gd name="adj" fmla="val 50000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59352" y="2651760"/>
            <a:ext cx="9464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2,302</a:t>
            </a:r>
            <a:endParaRPr lang="en-US" sz="530" dirty="0"/>
          </a:p>
        </p:txBody>
      </p:sp>
      <p:sp>
        <p:nvSpPr>
          <p:cNvPr id="36" name="Text 34"/>
          <p:cNvSpPr/>
          <p:nvPr/>
        </p:nvSpPr>
        <p:spPr>
          <a:xfrm>
            <a:off x="4905756" y="2651760"/>
            <a:ext cx="9464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6,493</a:t>
            </a:r>
            <a:endParaRPr lang="en-US" sz="530" dirty="0"/>
          </a:p>
        </p:txBody>
      </p:sp>
      <p:sp>
        <p:nvSpPr>
          <p:cNvPr id="37" name="Text 35"/>
          <p:cNvSpPr/>
          <p:nvPr/>
        </p:nvSpPr>
        <p:spPr>
          <a:xfrm>
            <a:off x="3959352" y="2788920"/>
            <a:ext cx="19110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</a:t>
            </a:r>
            <a:endParaRPr lang="en-US" sz="490" dirty="0"/>
          </a:p>
        </p:txBody>
      </p:sp>
      <p:sp>
        <p:nvSpPr>
          <p:cNvPr id="38" name="Shape 36"/>
          <p:cNvSpPr/>
          <p:nvPr/>
        </p:nvSpPr>
        <p:spPr>
          <a:xfrm>
            <a:off x="6355080" y="1664208"/>
            <a:ext cx="22402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355080" y="1664208"/>
            <a:ext cx="54864" cy="1261872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01384" y="1773936"/>
            <a:ext cx="1984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6501384" y="204825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41.5%</a:t>
            </a:r>
            <a:endParaRPr lang="en-US" sz="1550" dirty="0"/>
          </a:p>
        </p:txBody>
      </p:sp>
      <p:sp>
        <p:nvSpPr>
          <p:cNvPr id="42" name="Text 40"/>
          <p:cNvSpPr/>
          <p:nvPr/>
        </p:nvSpPr>
        <p:spPr>
          <a:xfrm>
            <a:off x="6519672" y="2322576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560" dirty="0"/>
          </a:p>
        </p:txBody>
      </p:sp>
      <p:sp>
        <p:nvSpPr>
          <p:cNvPr id="43" name="Text 41"/>
          <p:cNvSpPr/>
          <p:nvPr/>
        </p:nvSpPr>
        <p:spPr>
          <a:xfrm>
            <a:off x="7754112" y="2048256"/>
            <a:ext cx="704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58.5%</a:t>
            </a:r>
            <a:endParaRPr lang="en-US" sz="520" dirty="0"/>
          </a:p>
          <a:p>
            <a:pPr algn="r" indent="0" marL="0">
              <a:buNone/>
            </a:pPr>
            <a:r>
              <a:rPr lang="en-US" sz="5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17.6%</a:t>
            </a:r>
            <a:endParaRPr lang="en-US" sz="520" dirty="0"/>
          </a:p>
        </p:txBody>
      </p:sp>
      <p:sp>
        <p:nvSpPr>
          <p:cNvPr id="44" name="Shape 42"/>
          <p:cNvSpPr/>
          <p:nvPr/>
        </p:nvSpPr>
        <p:spPr>
          <a:xfrm>
            <a:off x="6519672" y="2496312"/>
            <a:ext cx="1911096" cy="73152"/>
          </a:xfrm>
          <a:prstGeom prst="roundRect">
            <a:avLst>
              <a:gd name="adj" fmla="val 50000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19672" y="2496312"/>
            <a:ext cx="792524" cy="73152"/>
          </a:xfrm>
          <a:prstGeom prst="roundRect">
            <a:avLst>
              <a:gd name="adj" fmla="val 50000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19672" y="2651760"/>
            <a:ext cx="9464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33.4%</a:t>
            </a:r>
            <a:endParaRPr lang="en-US" sz="530" dirty="0"/>
          </a:p>
        </p:txBody>
      </p:sp>
      <p:sp>
        <p:nvSpPr>
          <p:cNvPr id="47" name="Text 45"/>
          <p:cNvSpPr/>
          <p:nvPr/>
        </p:nvSpPr>
        <p:spPr>
          <a:xfrm>
            <a:off x="7466076" y="2651760"/>
            <a:ext cx="9464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80.5%</a:t>
            </a:r>
            <a:endParaRPr lang="en-US" sz="530" dirty="0"/>
          </a:p>
        </p:txBody>
      </p:sp>
      <p:sp>
        <p:nvSpPr>
          <p:cNvPr id="48" name="Text 46"/>
          <p:cNvSpPr/>
          <p:nvPr/>
        </p:nvSpPr>
        <p:spPr>
          <a:xfrm>
            <a:off x="6519672" y="2788920"/>
            <a:ext cx="19110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</a:t>
            </a:r>
            <a:endParaRPr lang="en-US" sz="490" dirty="0"/>
          </a:p>
        </p:txBody>
      </p:sp>
      <p:sp>
        <p:nvSpPr>
          <p:cNvPr id="49" name="Shape 47"/>
          <p:cNvSpPr/>
          <p:nvPr/>
        </p:nvSpPr>
        <p:spPr>
          <a:xfrm>
            <a:off x="8915400" y="1664208"/>
            <a:ext cx="22402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915400" y="1664208"/>
            <a:ext cx="54864" cy="1261872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61704" y="1773936"/>
            <a:ext cx="1984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CPV</a:t>
            </a:r>
            <a:endParaRPr lang="en-US" sz="880" dirty="0"/>
          </a:p>
        </p:txBody>
      </p:sp>
      <p:sp>
        <p:nvSpPr>
          <p:cNvPr id="52" name="Text 50"/>
          <p:cNvSpPr/>
          <p:nvPr/>
        </p:nvSpPr>
        <p:spPr>
          <a:xfrm>
            <a:off x="9061704" y="204825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21.3%</a:t>
            </a:r>
            <a:endParaRPr lang="en-US" sz="1550" dirty="0"/>
          </a:p>
        </p:txBody>
      </p:sp>
      <p:sp>
        <p:nvSpPr>
          <p:cNvPr id="53" name="Text 51"/>
          <p:cNvSpPr/>
          <p:nvPr/>
        </p:nvSpPr>
        <p:spPr>
          <a:xfrm>
            <a:off x="9079992" y="2322576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560" dirty="0"/>
          </a:p>
        </p:txBody>
      </p:sp>
      <p:sp>
        <p:nvSpPr>
          <p:cNvPr id="54" name="Text 52"/>
          <p:cNvSpPr/>
          <p:nvPr/>
        </p:nvSpPr>
        <p:spPr>
          <a:xfrm>
            <a:off x="10314432" y="2048256"/>
            <a:ext cx="704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78.7%</a:t>
            </a:r>
            <a:endParaRPr lang="en-US" sz="520" dirty="0"/>
          </a:p>
          <a:p>
            <a:pPr algn="r" indent="0" marL="0">
              <a:buNone/>
            </a:pPr>
            <a:r>
              <a:rPr lang="en-US" sz="5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7.9%</a:t>
            </a:r>
            <a:endParaRPr lang="en-US" sz="520" dirty="0"/>
          </a:p>
        </p:txBody>
      </p:sp>
      <p:sp>
        <p:nvSpPr>
          <p:cNvPr id="55" name="Shape 53"/>
          <p:cNvSpPr/>
          <p:nvPr/>
        </p:nvSpPr>
        <p:spPr>
          <a:xfrm>
            <a:off x="9079992" y="2496312"/>
            <a:ext cx="1911096" cy="73152"/>
          </a:xfrm>
          <a:prstGeom prst="roundRect">
            <a:avLst>
              <a:gd name="adj" fmla="val 50000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079992" y="2496312"/>
            <a:ext cx="406642" cy="73152"/>
          </a:xfrm>
          <a:prstGeom prst="roundRect">
            <a:avLst>
              <a:gd name="adj" fmla="val 50000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079992" y="2651760"/>
            <a:ext cx="9464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460 AED</a:t>
            </a:r>
            <a:endParaRPr lang="en-US" sz="530" dirty="0"/>
          </a:p>
        </p:txBody>
      </p:sp>
      <p:sp>
        <p:nvSpPr>
          <p:cNvPr id="58" name="Text 56"/>
          <p:cNvSpPr/>
          <p:nvPr/>
        </p:nvSpPr>
        <p:spPr>
          <a:xfrm>
            <a:off x="10026396" y="2651760"/>
            <a:ext cx="9464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98 AED</a:t>
            </a:r>
            <a:endParaRPr lang="en-US" sz="530" dirty="0"/>
          </a:p>
        </p:txBody>
      </p:sp>
      <p:sp>
        <p:nvSpPr>
          <p:cNvPr id="59" name="Text 57"/>
          <p:cNvSpPr/>
          <p:nvPr/>
        </p:nvSpPr>
        <p:spPr>
          <a:xfrm>
            <a:off x="9079992" y="2788920"/>
            <a:ext cx="19110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is better</a:t>
            </a:r>
            <a:endParaRPr lang="en-US" sz="490" dirty="0"/>
          </a:p>
        </p:txBody>
      </p:sp>
      <p:sp>
        <p:nvSpPr>
          <p:cNvPr id="60" name="Shape 58"/>
          <p:cNvSpPr/>
          <p:nvPr/>
        </p:nvSpPr>
        <p:spPr>
          <a:xfrm>
            <a:off x="3794760" y="3291840"/>
            <a:ext cx="22402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794760" y="3291840"/>
            <a:ext cx="54864" cy="1261872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941064" y="3401568"/>
            <a:ext cx="1984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880" dirty="0"/>
          </a:p>
        </p:txBody>
      </p:sp>
      <p:sp>
        <p:nvSpPr>
          <p:cNvPr id="63" name="Text 61"/>
          <p:cNvSpPr/>
          <p:nvPr/>
        </p:nvSpPr>
        <p:spPr>
          <a:xfrm>
            <a:off x="3941064" y="367588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34.3%</a:t>
            </a:r>
            <a:endParaRPr lang="en-US" sz="1550" dirty="0"/>
          </a:p>
        </p:txBody>
      </p:sp>
      <p:sp>
        <p:nvSpPr>
          <p:cNvPr id="64" name="Text 62"/>
          <p:cNvSpPr/>
          <p:nvPr/>
        </p:nvSpPr>
        <p:spPr>
          <a:xfrm>
            <a:off x="3959352" y="3950208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560" dirty="0"/>
          </a:p>
        </p:txBody>
      </p:sp>
      <p:sp>
        <p:nvSpPr>
          <p:cNvPr id="65" name="Text 63"/>
          <p:cNvSpPr/>
          <p:nvPr/>
        </p:nvSpPr>
        <p:spPr>
          <a:xfrm>
            <a:off x="5193792" y="3675888"/>
            <a:ext cx="704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65.7%</a:t>
            </a:r>
            <a:endParaRPr lang="en-US" sz="520" dirty="0"/>
          </a:p>
          <a:p>
            <a:pPr algn="r" indent="0" marL="0">
              <a:buNone/>
            </a:pPr>
            <a:r>
              <a:rPr lang="en-US" sz="5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6.6%</a:t>
            </a:r>
            <a:endParaRPr lang="en-US" sz="520" dirty="0"/>
          </a:p>
        </p:txBody>
      </p:sp>
      <p:sp>
        <p:nvSpPr>
          <p:cNvPr id="66" name="Shape 64"/>
          <p:cNvSpPr/>
          <p:nvPr/>
        </p:nvSpPr>
        <p:spPr>
          <a:xfrm>
            <a:off x="3959352" y="4123944"/>
            <a:ext cx="1911096" cy="73152"/>
          </a:xfrm>
          <a:prstGeom prst="roundRect">
            <a:avLst>
              <a:gd name="adj" fmla="val 50000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959352" y="4123944"/>
            <a:ext cx="654722" cy="73152"/>
          </a:xfrm>
          <a:prstGeom prst="roundRect">
            <a:avLst>
              <a:gd name="adj" fmla="val 50000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959352" y="4279392"/>
            <a:ext cx="9464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1,557,613 AED</a:t>
            </a:r>
            <a:endParaRPr lang="en-US" sz="530" dirty="0"/>
          </a:p>
        </p:txBody>
      </p:sp>
      <p:sp>
        <p:nvSpPr>
          <p:cNvPr id="69" name="Text 67"/>
          <p:cNvSpPr/>
          <p:nvPr/>
        </p:nvSpPr>
        <p:spPr>
          <a:xfrm>
            <a:off x="4905756" y="4279392"/>
            <a:ext cx="9464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4,546,582 AED</a:t>
            </a:r>
            <a:endParaRPr lang="en-US" sz="530" dirty="0"/>
          </a:p>
        </p:txBody>
      </p:sp>
      <p:sp>
        <p:nvSpPr>
          <p:cNvPr id="70" name="Text 68"/>
          <p:cNvSpPr/>
          <p:nvPr/>
        </p:nvSpPr>
        <p:spPr>
          <a:xfrm>
            <a:off x="3959352" y="4416552"/>
            <a:ext cx="19110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</a:t>
            </a:r>
            <a:endParaRPr lang="en-US" sz="490" dirty="0"/>
          </a:p>
        </p:txBody>
      </p:sp>
      <p:sp>
        <p:nvSpPr>
          <p:cNvPr id="71" name="Shape 69"/>
          <p:cNvSpPr/>
          <p:nvPr/>
        </p:nvSpPr>
        <p:spPr>
          <a:xfrm>
            <a:off x="6355080" y="3291840"/>
            <a:ext cx="22402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6355080" y="3291840"/>
            <a:ext cx="54864" cy="1261872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501384" y="3401568"/>
            <a:ext cx="1984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CPL</a:t>
            </a:r>
            <a:endParaRPr lang="en-US" sz="880" dirty="0"/>
          </a:p>
        </p:txBody>
      </p:sp>
      <p:sp>
        <p:nvSpPr>
          <p:cNvPr id="74" name="Text 72"/>
          <p:cNvSpPr/>
          <p:nvPr/>
        </p:nvSpPr>
        <p:spPr>
          <a:xfrm>
            <a:off x="6501384" y="367588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51.3%</a:t>
            </a:r>
            <a:endParaRPr lang="en-US" sz="1550" dirty="0"/>
          </a:p>
        </p:txBody>
      </p:sp>
      <p:sp>
        <p:nvSpPr>
          <p:cNvPr id="75" name="Text 73"/>
          <p:cNvSpPr/>
          <p:nvPr/>
        </p:nvSpPr>
        <p:spPr>
          <a:xfrm>
            <a:off x="6519672" y="3950208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560" dirty="0"/>
          </a:p>
        </p:txBody>
      </p:sp>
      <p:sp>
        <p:nvSpPr>
          <p:cNvPr id="76" name="Text 74"/>
          <p:cNvSpPr/>
          <p:nvPr/>
        </p:nvSpPr>
        <p:spPr>
          <a:xfrm>
            <a:off x="7754112" y="3675888"/>
            <a:ext cx="704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48.7%</a:t>
            </a:r>
            <a:endParaRPr lang="en-US" sz="520" dirty="0"/>
          </a:p>
          <a:p>
            <a:pPr algn="r" indent="0" marL="0">
              <a:buNone/>
            </a:pPr>
            <a:r>
              <a:rPr lang="en-US" sz="5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4.9%</a:t>
            </a:r>
            <a:endParaRPr lang="en-US" sz="520" dirty="0"/>
          </a:p>
        </p:txBody>
      </p:sp>
      <p:sp>
        <p:nvSpPr>
          <p:cNvPr id="77" name="Shape 75"/>
          <p:cNvSpPr/>
          <p:nvPr/>
        </p:nvSpPr>
        <p:spPr>
          <a:xfrm>
            <a:off x="6519672" y="4123944"/>
            <a:ext cx="1911096" cy="73152"/>
          </a:xfrm>
          <a:prstGeom prst="roundRect">
            <a:avLst>
              <a:gd name="adj" fmla="val 50000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519672" y="4123944"/>
            <a:ext cx="980493" cy="73152"/>
          </a:xfrm>
          <a:prstGeom prst="roundRect">
            <a:avLst>
              <a:gd name="adj" fmla="val 50000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519672" y="4279392"/>
            <a:ext cx="9464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154 AED</a:t>
            </a:r>
            <a:endParaRPr lang="en-US" sz="530" dirty="0"/>
          </a:p>
        </p:txBody>
      </p:sp>
      <p:sp>
        <p:nvSpPr>
          <p:cNvPr id="80" name="Text 78"/>
          <p:cNvSpPr/>
          <p:nvPr/>
        </p:nvSpPr>
        <p:spPr>
          <a:xfrm>
            <a:off x="7466076" y="4279392"/>
            <a:ext cx="9464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79 AED</a:t>
            </a:r>
            <a:endParaRPr lang="en-US" sz="530" dirty="0"/>
          </a:p>
        </p:txBody>
      </p:sp>
      <p:sp>
        <p:nvSpPr>
          <p:cNvPr id="81" name="Text 79"/>
          <p:cNvSpPr/>
          <p:nvPr/>
        </p:nvSpPr>
        <p:spPr>
          <a:xfrm>
            <a:off x="6519672" y="4416552"/>
            <a:ext cx="19110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is better</a:t>
            </a:r>
            <a:endParaRPr lang="en-US" sz="490" dirty="0"/>
          </a:p>
        </p:txBody>
      </p:sp>
      <p:sp>
        <p:nvSpPr>
          <p:cNvPr id="82" name="Shape 80"/>
          <p:cNvSpPr/>
          <p:nvPr/>
        </p:nvSpPr>
        <p:spPr>
          <a:xfrm>
            <a:off x="3794760" y="5742432"/>
            <a:ext cx="7726680" cy="384048"/>
          </a:xfrm>
          <a:prstGeom prst="roundRect">
            <a:avLst>
              <a:gd name="adj" fmla="val 14286"/>
            </a:avLst>
          </a:prstGeom>
          <a:solidFill>
            <a:srgbClr val="EAF1FF"/>
          </a:solidFill>
          <a:ln w="9525">
            <a:solidFill>
              <a:srgbClr val="D7E6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041648" y="5879592"/>
            <a:ext cx="7269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rule: prioritize the highest weighted-loss KPI first; use Actual / Target to validate the gap before assigning corrective action.</a:t>
            </a:r>
            <a:endParaRPr lang="en-US" sz="71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2801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Employee Detail — Ziad Sayed Hassan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56616" y="512064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vs Target is shown for every KPI so the employee number is clear and auditable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8854135" y="22860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2026  |  SGH Offshore Branch  |  21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EF5"/>
          </a:solidFill>
          <a:ln w="8890">
            <a:solidFill>
              <a:srgbClr val="E8EE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6693408"/>
            <a:ext cx="228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— INTERNAL USE ONLY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61343" y="6693408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>
            <a:off x="502920" y="1097280"/>
            <a:ext cx="2971800" cy="429768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097280"/>
            <a:ext cx="64008" cy="4297680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14447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Ziad Sayed Hassan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722376" y="1755648"/>
            <a:ext cx="25146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2286000" y="1371600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142646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ACTION</a:t>
            </a:r>
            <a:endParaRPr lang="en-US" sz="580" dirty="0"/>
          </a:p>
        </p:txBody>
      </p:sp>
      <p:sp>
        <p:nvSpPr>
          <p:cNvPr id="16" name="Text 14"/>
          <p:cNvSpPr/>
          <p:nvPr/>
        </p:nvSpPr>
        <p:spPr>
          <a:xfrm>
            <a:off x="722376" y="2359152"/>
            <a:ext cx="84124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SCORE</a:t>
            </a:r>
            <a:endParaRPr lang="en-US" sz="500" dirty="0"/>
          </a:p>
        </p:txBody>
      </p:sp>
      <p:sp>
        <p:nvSpPr>
          <p:cNvPr id="17" name="Text 15"/>
          <p:cNvSpPr/>
          <p:nvPr/>
        </p:nvSpPr>
        <p:spPr>
          <a:xfrm>
            <a:off x="722376" y="2651760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57.8%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1920240" y="2359152"/>
            <a:ext cx="84124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500" dirty="0"/>
          </a:p>
        </p:txBody>
      </p:sp>
      <p:sp>
        <p:nvSpPr>
          <p:cNvPr id="19" name="Text 17"/>
          <p:cNvSpPr/>
          <p:nvPr/>
        </p:nvSpPr>
        <p:spPr>
          <a:xfrm>
            <a:off x="1920240" y="267004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2999232"/>
            <a:ext cx="8412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</a:t>
            </a:r>
            <a:endParaRPr lang="en-US" sz="500" dirty="0"/>
          </a:p>
        </p:txBody>
      </p:sp>
      <p:sp>
        <p:nvSpPr>
          <p:cNvPr id="21" name="Text 19"/>
          <p:cNvSpPr/>
          <p:nvPr/>
        </p:nvSpPr>
        <p:spPr>
          <a:xfrm>
            <a:off x="1920240" y="321868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722376" y="4315968"/>
            <a:ext cx="2532888" cy="749808"/>
          </a:xfrm>
          <a:prstGeom prst="roundRect">
            <a:avLst>
              <a:gd name="adj" fmla="val 7317"/>
            </a:avLst>
          </a:prstGeom>
          <a:solidFill>
            <a:srgbClr val="FFF7E7"/>
          </a:solidFill>
          <a:ln w="9525">
            <a:solidFill>
              <a:srgbClr val="F0CE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" y="4517136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focus</a:t>
            </a:r>
            <a:endParaRPr lang="en-US" sz="640" dirty="0"/>
          </a:p>
        </p:txBody>
      </p:sp>
      <p:sp>
        <p:nvSpPr>
          <p:cNvPr id="24" name="Text 22"/>
          <p:cNvSpPr/>
          <p:nvPr/>
        </p:nvSpPr>
        <p:spPr>
          <a:xfrm>
            <a:off x="886968" y="478231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 gap review and corrective action tracking.</a:t>
            </a:r>
            <a:endParaRPr lang="en-US" sz="630" dirty="0"/>
          </a:p>
        </p:txBody>
      </p:sp>
      <p:sp>
        <p:nvSpPr>
          <p:cNvPr id="25" name="Text 23"/>
          <p:cNvSpPr/>
          <p:nvPr/>
        </p:nvSpPr>
        <p:spPr>
          <a:xfrm>
            <a:off x="3794760" y="1097280"/>
            <a:ext cx="7726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Drivers — Actual / Target / Achievement / Weighted Loss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3794760" y="1408176"/>
            <a:ext cx="7726680" cy="36576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94760" y="1664208"/>
            <a:ext cx="22402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94760" y="1664208"/>
            <a:ext cx="54864" cy="1261872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41064" y="1773936"/>
            <a:ext cx="1984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3941064" y="204825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19.5%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3959352" y="2322576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560" dirty="0"/>
          </a:p>
        </p:txBody>
      </p:sp>
      <p:sp>
        <p:nvSpPr>
          <p:cNvPr id="32" name="Text 30"/>
          <p:cNvSpPr/>
          <p:nvPr/>
        </p:nvSpPr>
        <p:spPr>
          <a:xfrm>
            <a:off x="5193792" y="2048256"/>
            <a:ext cx="704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80.5%</a:t>
            </a:r>
            <a:endParaRPr lang="en-US" sz="520" dirty="0"/>
          </a:p>
          <a:p>
            <a:pPr algn="r" indent="0" marL="0">
              <a:buNone/>
            </a:pPr>
            <a:r>
              <a:rPr lang="en-US" sz="5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24.1%</a:t>
            </a:r>
            <a:endParaRPr lang="en-US" sz="520" dirty="0"/>
          </a:p>
        </p:txBody>
      </p:sp>
      <p:sp>
        <p:nvSpPr>
          <p:cNvPr id="33" name="Shape 31"/>
          <p:cNvSpPr/>
          <p:nvPr/>
        </p:nvSpPr>
        <p:spPr>
          <a:xfrm>
            <a:off x="3959352" y="2496312"/>
            <a:ext cx="1911096" cy="73152"/>
          </a:xfrm>
          <a:prstGeom prst="roundRect">
            <a:avLst>
              <a:gd name="adj" fmla="val 50000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959352" y="2496312"/>
            <a:ext cx="372845" cy="73152"/>
          </a:xfrm>
          <a:prstGeom prst="roundRect">
            <a:avLst>
              <a:gd name="adj" fmla="val 50000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59352" y="2651760"/>
            <a:ext cx="9464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9.0%</a:t>
            </a:r>
            <a:endParaRPr lang="en-US" sz="530" dirty="0"/>
          </a:p>
        </p:txBody>
      </p:sp>
      <p:sp>
        <p:nvSpPr>
          <p:cNvPr id="36" name="Text 34"/>
          <p:cNvSpPr/>
          <p:nvPr/>
        </p:nvSpPr>
        <p:spPr>
          <a:xfrm>
            <a:off x="4905756" y="2651760"/>
            <a:ext cx="9464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46.0%</a:t>
            </a:r>
            <a:endParaRPr lang="en-US" sz="530" dirty="0"/>
          </a:p>
        </p:txBody>
      </p:sp>
      <p:sp>
        <p:nvSpPr>
          <p:cNvPr id="37" name="Text 35"/>
          <p:cNvSpPr/>
          <p:nvPr/>
        </p:nvSpPr>
        <p:spPr>
          <a:xfrm>
            <a:off x="3959352" y="2788920"/>
            <a:ext cx="19110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</a:t>
            </a:r>
            <a:endParaRPr lang="en-US" sz="490" dirty="0"/>
          </a:p>
        </p:txBody>
      </p:sp>
      <p:sp>
        <p:nvSpPr>
          <p:cNvPr id="38" name="Shape 36"/>
          <p:cNvSpPr/>
          <p:nvPr/>
        </p:nvSpPr>
        <p:spPr>
          <a:xfrm>
            <a:off x="6355080" y="1664208"/>
            <a:ext cx="22402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355080" y="1664208"/>
            <a:ext cx="54864" cy="1261872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01384" y="1773936"/>
            <a:ext cx="1984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CPV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6501384" y="204825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26.0%</a:t>
            </a:r>
            <a:endParaRPr lang="en-US" sz="1550" dirty="0"/>
          </a:p>
        </p:txBody>
      </p:sp>
      <p:sp>
        <p:nvSpPr>
          <p:cNvPr id="42" name="Text 40"/>
          <p:cNvSpPr/>
          <p:nvPr/>
        </p:nvSpPr>
        <p:spPr>
          <a:xfrm>
            <a:off x="6519672" y="2322576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560" dirty="0"/>
          </a:p>
        </p:txBody>
      </p:sp>
      <p:sp>
        <p:nvSpPr>
          <p:cNvPr id="43" name="Text 41"/>
          <p:cNvSpPr/>
          <p:nvPr/>
        </p:nvSpPr>
        <p:spPr>
          <a:xfrm>
            <a:off x="7754112" y="2048256"/>
            <a:ext cx="704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74.0%</a:t>
            </a:r>
            <a:endParaRPr lang="en-US" sz="520" dirty="0"/>
          </a:p>
          <a:p>
            <a:pPr algn="r" indent="0" marL="0">
              <a:buNone/>
            </a:pPr>
            <a:r>
              <a:rPr lang="en-US" sz="5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7.4%</a:t>
            </a:r>
            <a:endParaRPr lang="en-US" sz="520" dirty="0"/>
          </a:p>
        </p:txBody>
      </p:sp>
      <p:sp>
        <p:nvSpPr>
          <p:cNvPr id="44" name="Shape 42"/>
          <p:cNvSpPr/>
          <p:nvPr/>
        </p:nvSpPr>
        <p:spPr>
          <a:xfrm>
            <a:off x="6519672" y="2496312"/>
            <a:ext cx="1911096" cy="73152"/>
          </a:xfrm>
          <a:prstGeom prst="roundRect">
            <a:avLst>
              <a:gd name="adj" fmla="val 50000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19672" y="2496312"/>
            <a:ext cx="496409" cy="73152"/>
          </a:xfrm>
          <a:prstGeom prst="roundRect">
            <a:avLst>
              <a:gd name="adj" fmla="val 50000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19672" y="2651760"/>
            <a:ext cx="9464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822 AED</a:t>
            </a:r>
            <a:endParaRPr lang="en-US" sz="530" dirty="0"/>
          </a:p>
        </p:txBody>
      </p:sp>
      <p:sp>
        <p:nvSpPr>
          <p:cNvPr id="47" name="Text 45"/>
          <p:cNvSpPr/>
          <p:nvPr/>
        </p:nvSpPr>
        <p:spPr>
          <a:xfrm>
            <a:off x="7466076" y="2651760"/>
            <a:ext cx="9464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214 AED</a:t>
            </a:r>
            <a:endParaRPr lang="en-US" sz="530" dirty="0"/>
          </a:p>
        </p:txBody>
      </p:sp>
      <p:sp>
        <p:nvSpPr>
          <p:cNvPr id="48" name="Text 46"/>
          <p:cNvSpPr/>
          <p:nvPr/>
        </p:nvSpPr>
        <p:spPr>
          <a:xfrm>
            <a:off x="6519672" y="2788920"/>
            <a:ext cx="19110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is better</a:t>
            </a:r>
            <a:endParaRPr lang="en-US" sz="490" dirty="0"/>
          </a:p>
        </p:txBody>
      </p:sp>
      <p:sp>
        <p:nvSpPr>
          <p:cNvPr id="49" name="Shape 47"/>
          <p:cNvSpPr/>
          <p:nvPr/>
        </p:nvSpPr>
        <p:spPr>
          <a:xfrm>
            <a:off x="8915400" y="1664208"/>
            <a:ext cx="22402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915400" y="1664208"/>
            <a:ext cx="54864" cy="1261872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61704" y="1773936"/>
            <a:ext cx="1984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880" dirty="0"/>
          </a:p>
        </p:txBody>
      </p:sp>
      <p:sp>
        <p:nvSpPr>
          <p:cNvPr id="52" name="Text 50"/>
          <p:cNvSpPr/>
          <p:nvPr/>
        </p:nvSpPr>
        <p:spPr>
          <a:xfrm>
            <a:off x="9061704" y="204825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27.2%</a:t>
            </a:r>
            <a:endParaRPr lang="en-US" sz="1550" dirty="0"/>
          </a:p>
        </p:txBody>
      </p:sp>
      <p:sp>
        <p:nvSpPr>
          <p:cNvPr id="53" name="Text 51"/>
          <p:cNvSpPr/>
          <p:nvPr/>
        </p:nvSpPr>
        <p:spPr>
          <a:xfrm>
            <a:off x="9079992" y="2322576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560" dirty="0"/>
          </a:p>
        </p:txBody>
      </p:sp>
      <p:sp>
        <p:nvSpPr>
          <p:cNvPr id="54" name="Text 52"/>
          <p:cNvSpPr/>
          <p:nvPr/>
        </p:nvSpPr>
        <p:spPr>
          <a:xfrm>
            <a:off x="10314432" y="2048256"/>
            <a:ext cx="704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72.8%</a:t>
            </a:r>
            <a:endParaRPr lang="en-US" sz="520" dirty="0"/>
          </a:p>
          <a:p>
            <a:pPr algn="r" indent="0" marL="0">
              <a:buNone/>
            </a:pPr>
            <a:r>
              <a:rPr lang="en-US" sz="5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7.3%</a:t>
            </a:r>
            <a:endParaRPr lang="en-US" sz="520" dirty="0"/>
          </a:p>
        </p:txBody>
      </p:sp>
      <p:sp>
        <p:nvSpPr>
          <p:cNvPr id="55" name="Shape 53"/>
          <p:cNvSpPr/>
          <p:nvPr/>
        </p:nvSpPr>
        <p:spPr>
          <a:xfrm>
            <a:off x="9079992" y="2496312"/>
            <a:ext cx="1911096" cy="73152"/>
          </a:xfrm>
          <a:prstGeom prst="roundRect">
            <a:avLst>
              <a:gd name="adj" fmla="val 50000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079992" y="2496312"/>
            <a:ext cx="519104" cy="73152"/>
          </a:xfrm>
          <a:prstGeom prst="roundRect">
            <a:avLst>
              <a:gd name="adj" fmla="val 50000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079992" y="2651760"/>
            <a:ext cx="9464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38,042 AED</a:t>
            </a:r>
            <a:endParaRPr lang="en-US" sz="530" dirty="0"/>
          </a:p>
        </p:txBody>
      </p:sp>
      <p:sp>
        <p:nvSpPr>
          <p:cNvPr id="58" name="Text 56"/>
          <p:cNvSpPr/>
          <p:nvPr/>
        </p:nvSpPr>
        <p:spPr>
          <a:xfrm>
            <a:off x="10026396" y="2651760"/>
            <a:ext cx="9464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140,053 AED</a:t>
            </a:r>
            <a:endParaRPr lang="en-US" sz="530" dirty="0"/>
          </a:p>
        </p:txBody>
      </p:sp>
      <p:sp>
        <p:nvSpPr>
          <p:cNvPr id="59" name="Text 57"/>
          <p:cNvSpPr/>
          <p:nvPr/>
        </p:nvSpPr>
        <p:spPr>
          <a:xfrm>
            <a:off x="9079992" y="2788920"/>
            <a:ext cx="19110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</a:t>
            </a:r>
            <a:endParaRPr lang="en-US" sz="490" dirty="0"/>
          </a:p>
        </p:txBody>
      </p:sp>
      <p:sp>
        <p:nvSpPr>
          <p:cNvPr id="60" name="Shape 58"/>
          <p:cNvSpPr/>
          <p:nvPr/>
        </p:nvSpPr>
        <p:spPr>
          <a:xfrm>
            <a:off x="3794760" y="3291840"/>
            <a:ext cx="22402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794760" y="3291840"/>
            <a:ext cx="54864" cy="1261872"/>
          </a:xfrm>
          <a:prstGeom prst="rect">
            <a:avLst/>
          </a:prstGeom>
          <a:solidFill>
            <a:srgbClr val="E2A100"/>
          </a:solidFill>
          <a:ln w="8890">
            <a:solidFill>
              <a:srgbClr val="E2A1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941064" y="3401568"/>
            <a:ext cx="1984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Leads</a:t>
            </a:r>
            <a:endParaRPr lang="en-US" sz="880" dirty="0"/>
          </a:p>
        </p:txBody>
      </p:sp>
      <p:sp>
        <p:nvSpPr>
          <p:cNvPr id="63" name="Text 61"/>
          <p:cNvSpPr/>
          <p:nvPr/>
        </p:nvSpPr>
        <p:spPr>
          <a:xfrm>
            <a:off x="3941064" y="367588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88.9%</a:t>
            </a:r>
            <a:endParaRPr lang="en-US" sz="1550" dirty="0"/>
          </a:p>
        </p:txBody>
      </p:sp>
      <p:sp>
        <p:nvSpPr>
          <p:cNvPr id="64" name="Text 62"/>
          <p:cNvSpPr/>
          <p:nvPr/>
        </p:nvSpPr>
        <p:spPr>
          <a:xfrm>
            <a:off x="3959352" y="3950208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560" dirty="0"/>
          </a:p>
        </p:txBody>
      </p:sp>
      <p:sp>
        <p:nvSpPr>
          <p:cNvPr id="65" name="Text 63"/>
          <p:cNvSpPr/>
          <p:nvPr/>
        </p:nvSpPr>
        <p:spPr>
          <a:xfrm>
            <a:off x="5193792" y="3675888"/>
            <a:ext cx="704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11.1%</a:t>
            </a:r>
            <a:endParaRPr lang="en-US" sz="520" dirty="0"/>
          </a:p>
          <a:p>
            <a:pPr algn="r" indent="0" marL="0">
              <a:buNone/>
            </a:pPr>
            <a:r>
              <a:rPr lang="en-US" sz="52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3.3%</a:t>
            </a:r>
            <a:endParaRPr lang="en-US" sz="520" dirty="0"/>
          </a:p>
        </p:txBody>
      </p:sp>
      <p:sp>
        <p:nvSpPr>
          <p:cNvPr id="66" name="Shape 64"/>
          <p:cNvSpPr/>
          <p:nvPr/>
        </p:nvSpPr>
        <p:spPr>
          <a:xfrm>
            <a:off x="3959352" y="4123944"/>
            <a:ext cx="1911096" cy="73152"/>
          </a:xfrm>
          <a:prstGeom prst="roundRect">
            <a:avLst>
              <a:gd name="adj" fmla="val 50000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959352" y="4123944"/>
            <a:ext cx="1699648" cy="73152"/>
          </a:xfrm>
          <a:prstGeom prst="roundRect">
            <a:avLst>
              <a:gd name="adj" fmla="val 50000"/>
            </a:avLst>
          </a:prstGeom>
          <a:solidFill>
            <a:srgbClr val="E2A100"/>
          </a:solidFill>
          <a:ln w="9525">
            <a:solidFill>
              <a:srgbClr val="E2A1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959352" y="4279392"/>
            <a:ext cx="9464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624</a:t>
            </a:r>
            <a:endParaRPr lang="en-US" sz="530" dirty="0"/>
          </a:p>
        </p:txBody>
      </p:sp>
      <p:sp>
        <p:nvSpPr>
          <p:cNvPr id="69" name="Text 67"/>
          <p:cNvSpPr/>
          <p:nvPr/>
        </p:nvSpPr>
        <p:spPr>
          <a:xfrm>
            <a:off x="4905756" y="4279392"/>
            <a:ext cx="9464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701.6</a:t>
            </a:r>
            <a:endParaRPr lang="en-US" sz="530" dirty="0"/>
          </a:p>
        </p:txBody>
      </p:sp>
      <p:sp>
        <p:nvSpPr>
          <p:cNvPr id="70" name="Text 68"/>
          <p:cNvSpPr/>
          <p:nvPr/>
        </p:nvSpPr>
        <p:spPr>
          <a:xfrm>
            <a:off x="3959352" y="4416552"/>
            <a:ext cx="19110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</a:t>
            </a:r>
            <a:endParaRPr lang="en-US" sz="490" dirty="0"/>
          </a:p>
        </p:txBody>
      </p:sp>
      <p:sp>
        <p:nvSpPr>
          <p:cNvPr id="71" name="Shape 69"/>
          <p:cNvSpPr/>
          <p:nvPr/>
        </p:nvSpPr>
        <p:spPr>
          <a:xfrm>
            <a:off x="3794760" y="5742432"/>
            <a:ext cx="7726680" cy="384048"/>
          </a:xfrm>
          <a:prstGeom prst="roundRect">
            <a:avLst>
              <a:gd name="adj" fmla="val 14286"/>
            </a:avLst>
          </a:prstGeom>
          <a:solidFill>
            <a:srgbClr val="EAF1FF"/>
          </a:solidFill>
          <a:ln w="9525">
            <a:solidFill>
              <a:srgbClr val="D7E6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041648" y="5879592"/>
            <a:ext cx="7269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rule: prioritize the highest weighted-loss KPI first; use Actual / Target to validate the gap before assigning corrective action.</a:t>
            </a:r>
            <a:endParaRPr lang="en-US" sz="71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2801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Employee Detail — Social Media Specialists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56616" y="512064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employees share the same leading response-time and growth gaps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8854135" y="22860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2026  |  SGH Offshore Branch  |  22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EF5"/>
          </a:solidFill>
          <a:ln w="8890">
            <a:solidFill>
              <a:srgbClr val="E8EE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6693408"/>
            <a:ext cx="228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— INTERNAL USE ONLY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61343" y="6693408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>
            <a:off x="502920" y="1060704"/>
            <a:ext cx="11201400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1280160"/>
            <a:ext cx="2578608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280160"/>
            <a:ext cx="50292" cy="1627632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31720" y="1408176"/>
            <a:ext cx="804672" cy="292608"/>
          </a:xfrm>
          <a:prstGeom prst="roundRect">
            <a:avLst>
              <a:gd name="adj" fmla="val 18750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146304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ACTION</a:t>
            </a:r>
            <a:endParaRPr lang="en-US" sz="580" dirty="0"/>
          </a:p>
        </p:txBody>
      </p:sp>
      <p:sp>
        <p:nvSpPr>
          <p:cNvPr id="15" name="Text 13"/>
          <p:cNvSpPr/>
          <p:nvPr/>
        </p:nvSpPr>
        <p:spPr>
          <a:xfrm>
            <a:off x="850392" y="148132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Mina Nabil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850392" y="1737360"/>
            <a:ext cx="22494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Specialist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850392" y="2084832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460" dirty="0"/>
          </a:p>
        </p:txBody>
      </p:sp>
      <p:sp>
        <p:nvSpPr>
          <p:cNvPr id="18" name="Text 16"/>
          <p:cNvSpPr/>
          <p:nvPr/>
        </p:nvSpPr>
        <p:spPr>
          <a:xfrm>
            <a:off x="850392" y="224028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66.6%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1764792" y="2084832"/>
            <a:ext cx="4114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</a:t>
            </a:r>
            <a:endParaRPr lang="en-US" sz="460" dirty="0"/>
          </a:p>
        </p:txBody>
      </p:sp>
      <p:sp>
        <p:nvSpPr>
          <p:cNvPr id="20" name="Text 18"/>
          <p:cNvSpPr/>
          <p:nvPr/>
        </p:nvSpPr>
        <p:spPr>
          <a:xfrm>
            <a:off x="1764792" y="224942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+5.6%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850392" y="2496312"/>
            <a:ext cx="2249424" cy="292608"/>
          </a:xfrm>
          <a:prstGeom prst="roundRect">
            <a:avLst>
              <a:gd name="adj" fmla="val 12500"/>
            </a:avLst>
          </a:prstGeom>
          <a:solidFill>
            <a:srgbClr val="FFF7E7"/>
          </a:solidFill>
          <a:ln w="9525">
            <a:solidFill>
              <a:srgbClr val="F0CE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2606040"/>
            <a:ext cx="21214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8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focus: Response Time gap review.</a:t>
            </a:r>
            <a:endParaRPr lang="en-US" sz="480" dirty="0"/>
          </a:p>
        </p:txBody>
      </p:sp>
      <p:sp>
        <p:nvSpPr>
          <p:cNvPr id="23" name="Shape 21"/>
          <p:cNvSpPr/>
          <p:nvPr/>
        </p:nvSpPr>
        <p:spPr>
          <a:xfrm>
            <a:off x="3584448" y="1380744"/>
            <a:ext cx="233172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584448" y="1380744"/>
            <a:ext cx="54864" cy="1389888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30752" y="1490472"/>
            <a:ext cx="2075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3730752" y="176479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40.0%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3749040" y="2039112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560" dirty="0"/>
          </a:p>
        </p:txBody>
      </p:sp>
      <p:sp>
        <p:nvSpPr>
          <p:cNvPr id="28" name="Text 26"/>
          <p:cNvSpPr/>
          <p:nvPr/>
        </p:nvSpPr>
        <p:spPr>
          <a:xfrm>
            <a:off x="5074920" y="1764792"/>
            <a:ext cx="704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60.0%</a:t>
            </a:r>
            <a:endParaRPr lang="en-US" sz="520" dirty="0"/>
          </a:p>
          <a:p>
            <a:pPr algn="r" indent="0" marL="0">
              <a:buNone/>
            </a:pPr>
            <a:r>
              <a:rPr lang="en-US" sz="5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24.0%</a:t>
            </a:r>
            <a:endParaRPr lang="en-US" sz="520" dirty="0"/>
          </a:p>
        </p:txBody>
      </p:sp>
      <p:sp>
        <p:nvSpPr>
          <p:cNvPr id="29" name="Shape 27"/>
          <p:cNvSpPr/>
          <p:nvPr/>
        </p:nvSpPr>
        <p:spPr>
          <a:xfrm>
            <a:off x="3749040" y="2212848"/>
            <a:ext cx="2002536" cy="73152"/>
          </a:xfrm>
          <a:prstGeom prst="roundRect">
            <a:avLst>
              <a:gd name="adj" fmla="val 50000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49040" y="2212848"/>
            <a:ext cx="801014" cy="73152"/>
          </a:xfrm>
          <a:prstGeom prst="roundRect">
            <a:avLst>
              <a:gd name="adj" fmla="val 50000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0" y="2368296"/>
            <a:ext cx="9921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75 min</a:t>
            </a:r>
            <a:endParaRPr lang="en-US" sz="530" dirty="0"/>
          </a:p>
        </p:txBody>
      </p:sp>
      <p:sp>
        <p:nvSpPr>
          <p:cNvPr id="32" name="Text 30"/>
          <p:cNvSpPr/>
          <p:nvPr/>
        </p:nvSpPr>
        <p:spPr>
          <a:xfrm>
            <a:off x="4741164" y="2368296"/>
            <a:ext cx="9921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30 min</a:t>
            </a:r>
            <a:endParaRPr lang="en-US" sz="530" dirty="0"/>
          </a:p>
        </p:txBody>
      </p:sp>
      <p:sp>
        <p:nvSpPr>
          <p:cNvPr id="33" name="Text 31"/>
          <p:cNvSpPr/>
          <p:nvPr/>
        </p:nvSpPr>
        <p:spPr>
          <a:xfrm>
            <a:off x="3749040" y="2505456"/>
            <a:ext cx="20025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is better</a:t>
            </a:r>
            <a:endParaRPr lang="en-US" sz="490" dirty="0"/>
          </a:p>
        </p:txBody>
      </p:sp>
      <p:sp>
        <p:nvSpPr>
          <p:cNvPr id="34" name="Shape 32"/>
          <p:cNvSpPr/>
          <p:nvPr/>
        </p:nvSpPr>
        <p:spPr>
          <a:xfrm>
            <a:off x="6144768" y="1380744"/>
            <a:ext cx="233172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44768" y="1380744"/>
            <a:ext cx="54864" cy="1389888"/>
          </a:xfrm>
          <a:prstGeom prst="rect">
            <a:avLst/>
          </a:prstGeom>
          <a:solidFill>
            <a:srgbClr val="E2A100"/>
          </a:solidFill>
          <a:ln w="8890">
            <a:solidFill>
              <a:srgbClr val="E2A1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91072" y="1490472"/>
            <a:ext cx="2075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Channels growth rate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6291072" y="176479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70.0%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6309360" y="2039112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560" dirty="0"/>
          </a:p>
        </p:txBody>
      </p:sp>
      <p:sp>
        <p:nvSpPr>
          <p:cNvPr id="39" name="Text 37"/>
          <p:cNvSpPr/>
          <p:nvPr/>
        </p:nvSpPr>
        <p:spPr>
          <a:xfrm>
            <a:off x="7635240" y="1764792"/>
            <a:ext cx="704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30.0%</a:t>
            </a:r>
            <a:endParaRPr lang="en-US" sz="520" dirty="0"/>
          </a:p>
          <a:p>
            <a:pPr algn="r" indent="0" marL="0">
              <a:buNone/>
            </a:pPr>
            <a:r>
              <a:rPr lang="en-US" sz="52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6.0%</a:t>
            </a:r>
            <a:endParaRPr lang="en-US" sz="520" dirty="0"/>
          </a:p>
        </p:txBody>
      </p:sp>
      <p:sp>
        <p:nvSpPr>
          <p:cNvPr id="40" name="Shape 38"/>
          <p:cNvSpPr/>
          <p:nvPr/>
        </p:nvSpPr>
        <p:spPr>
          <a:xfrm>
            <a:off x="6309360" y="2212848"/>
            <a:ext cx="2002536" cy="73152"/>
          </a:xfrm>
          <a:prstGeom prst="roundRect">
            <a:avLst>
              <a:gd name="adj" fmla="val 50000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09360" y="2212848"/>
            <a:ext cx="1401775" cy="73152"/>
          </a:xfrm>
          <a:prstGeom prst="roundRect">
            <a:avLst>
              <a:gd name="adj" fmla="val 50000"/>
            </a:avLst>
          </a:prstGeom>
          <a:solidFill>
            <a:srgbClr val="E2A100"/>
          </a:solidFill>
          <a:ln w="9525">
            <a:solidFill>
              <a:srgbClr val="E2A1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2368296"/>
            <a:ext cx="9921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7.0%</a:t>
            </a:r>
            <a:endParaRPr lang="en-US" sz="530" dirty="0"/>
          </a:p>
        </p:txBody>
      </p:sp>
      <p:sp>
        <p:nvSpPr>
          <p:cNvPr id="43" name="Text 41"/>
          <p:cNvSpPr/>
          <p:nvPr/>
        </p:nvSpPr>
        <p:spPr>
          <a:xfrm>
            <a:off x="7301484" y="2368296"/>
            <a:ext cx="9921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10.0%</a:t>
            </a:r>
            <a:endParaRPr lang="en-US" sz="530" dirty="0"/>
          </a:p>
        </p:txBody>
      </p:sp>
      <p:sp>
        <p:nvSpPr>
          <p:cNvPr id="44" name="Text 42"/>
          <p:cNvSpPr/>
          <p:nvPr/>
        </p:nvSpPr>
        <p:spPr>
          <a:xfrm>
            <a:off x="6309360" y="2505456"/>
            <a:ext cx="20025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</a:t>
            </a:r>
            <a:endParaRPr lang="en-US" sz="490" dirty="0"/>
          </a:p>
        </p:txBody>
      </p:sp>
      <p:sp>
        <p:nvSpPr>
          <p:cNvPr id="45" name="Shape 43"/>
          <p:cNvSpPr/>
          <p:nvPr/>
        </p:nvSpPr>
        <p:spPr>
          <a:xfrm>
            <a:off x="8705088" y="1380744"/>
            <a:ext cx="233172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705088" y="1380744"/>
            <a:ext cx="54864" cy="1389888"/>
          </a:xfrm>
          <a:prstGeom prst="rect">
            <a:avLst/>
          </a:prstGeom>
          <a:solidFill>
            <a:srgbClr val="22A66F"/>
          </a:solidFill>
          <a:ln w="8890">
            <a:solidFill>
              <a:srgbClr val="22A66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851392" y="1490472"/>
            <a:ext cx="2075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rate (%)</a:t>
            </a:r>
            <a:endParaRPr lang="en-US" sz="880" dirty="0"/>
          </a:p>
        </p:txBody>
      </p:sp>
      <p:sp>
        <p:nvSpPr>
          <p:cNvPr id="48" name="Text 46"/>
          <p:cNvSpPr/>
          <p:nvPr/>
        </p:nvSpPr>
        <p:spPr>
          <a:xfrm>
            <a:off x="8851392" y="176479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91.6%</a:t>
            </a:r>
            <a:endParaRPr lang="en-US" sz="1550" dirty="0"/>
          </a:p>
        </p:txBody>
      </p:sp>
      <p:sp>
        <p:nvSpPr>
          <p:cNvPr id="49" name="Text 47"/>
          <p:cNvSpPr/>
          <p:nvPr/>
        </p:nvSpPr>
        <p:spPr>
          <a:xfrm>
            <a:off x="8869680" y="2039112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560" dirty="0"/>
          </a:p>
        </p:txBody>
      </p:sp>
      <p:sp>
        <p:nvSpPr>
          <p:cNvPr id="50" name="Text 48"/>
          <p:cNvSpPr/>
          <p:nvPr/>
        </p:nvSpPr>
        <p:spPr>
          <a:xfrm>
            <a:off x="10195560" y="1764792"/>
            <a:ext cx="704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8.4%</a:t>
            </a:r>
            <a:endParaRPr lang="en-US" sz="520" dirty="0"/>
          </a:p>
          <a:p>
            <a:pPr algn="r" indent="0" marL="0">
              <a:buNone/>
            </a:pPr>
            <a:r>
              <a:rPr lang="en-US" sz="52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3.4%</a:t>
            </a:r>
            <a:endParaRPr lang="en-US" sz="520" dirty="0"/>
          </a:p>
        </p:txBody>
      </p:sp>
      <p:sp>
        <p:nvSpPr>
          <p:cNvPr id="51" name="Shape 49"/>
          <p:cNvSpPr/>
          <p:nvPr/>
        </p:nvSpPr>
        <p:spPr>
          <a:xfrm>
            <a:off x="8869680" y="2212848"/>
            <a:ext cx="2002536" cy="73152"/>
          </a:xfrm>
          <a:prstGeom prst="roundRect">
            <a:avLst>
              <a:gd name="adj" fmla="val 50000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869680" y="2212848"/>
            <a:ext cx="1834323" cy="73152"/>
          </a:xfrm>
          <a:prstGeom prst="roundRect">
            <a:avLst>
              <a:gd name="adj" fmla="val 50000"/>
            </a:avLst>
          </a:prstGeom>
          <a:solidFill>
            <a:srgbClr val="22A66F"/>
          </a:solidFill>
          <a:ln w="9525">
            <a:solidFill>
              <a:srgbClr val="22A66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869680" y="2368296"/>
            <a:ext cx="9921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91.6%</a:t>
            </a:r>
            <a:endParaRPr lang="en-US" sz="530" dirty="0"/>
          </a:p>
        </p:txBody>
      </p:sp>
      <p:sp>
        <p:nvSpPr>
          <p:cNvPr id="54" name="Text 52"/>
          <p:cNvSpPr/>
          <p:nvPr/>
        </p:nvSpPr>
        <p:spPr>
          <a:xfrm>
            <a:off x="9861804" y="2368296"/>
            <a:ext cx="9921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100.0%</a:t>
            </a:r>
            <a:endParaRPr lang="en-US" sz="530" dirty="0"/>
          </a:p>
        </p:txBody>
      </p:sp>
      <p:sp>
        <p:nvSpPr>
          <p:cNvPr id="55" name="Text 53"/>
          <p:cNvSpPr/>
          <p:nvPr/>
        </p:nvSpPr>
        <p:spPr>
          <a:xfrm>
            <a:off x="8869680" y="2505456"/>
            <a:ext cx="20025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</a:t>
            </a:r>
            <a:endParaRPr lang="en-US" sz="490" dirty="0"/>
          </a:p>
        </p:txBody>
      </p:sp>
      <p:sp>
        <p:nvSpPr>
          <p:cNvPr id="56" name="Shape 54"/>
          <p:cNvSpPr/>
          <p:nvPr/>
        </p:nvSpPr>
        <p:spPr>
          <a:xfrm>
            <a:off x="502920" y="3547872"/>
            <a:ext cx="11201400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85800" y="3767328"/>
            <a:ext cx="2578608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85800" y="3767328"/>
            <a:ext cx="50292" cy="1627632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31720" y="3895344"/>
            <a:ext cx="804672" cy="292608"/>
          </a:xfrm>
          <a:prstGeom prst="roundRect">
            <a:avLst>
              <a:gd name="adj" fmla="val 18750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377440" y="395020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ACTION</a:t>
            </a:r>
            <a:endParaRPr lang="en-US" sz="580" dirty="0"/>
          </a:p>
        </p:txBody>
      </p:sp>
      <p:sp>
        <p:nvSpPr>
          <p:cNvPr id="61" name="Text 59"/>
          <p:cNvSpPr/>
          <p:nvPr/>
        </p:nvSpPr>
        <p:spPr>
          <a:xfrm>
            <a:off x="850392" y="396849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Samya Ismail</a:t>
            </a:r>
            <a:endParaRPr lang="en-US" sz="810" dirty="0"/>
          </a:p>
        </p:txBody>
      </p:sp>
      <p:sp>
        <p:nvSpPr>
          <p:cNvPr id="62" name="Text 60"/>
          <p:cNvSpPr/>
          <p:nvPr/>
        </p:nvSpPr>
        <p:spPr>
          <a:xfrm>
            <a:off x="850392" y="4224528"/>
            <a:ext cx="22494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Specialist</a:t>
            </a:r>
            <a:endParaRPr lang="en-US" sz="550" dirty="0"/>
          </a:p>
        </p:txBody>
      </p:sp>
      <p:sp>
        <p:nvSpPr>
          <p:cNvPr id="63" name="Text 61"/>
          <p:cNvSpPr/>
          <p:nvPr/>
        </p:nvSpPr>
        <p:spPr>
          <a:xfrm>
            <a:off x="850392" y="4572000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460" dirty="0"/>
          </a:p>
        </p:txBody>
      </p:sp>
      <p:sp>
        <p:nvSpPr>
          <p:cNvPr id="64" name="Text 62"/>
          <p:cNvSpPr/>
          <p:nvPr/>
        </p:nvSpPr>
        <p:spPr>
          <a:xfrm>
            <a:off x="850392" y="472744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66.6%</a:t>
            </a:r>
            <a:endParaRPr lang="en-US" sz="1080" dirty="0"/>
          </a:p>
        </p:txBody>
      </p:sp>
      <p:sp>
        <p:nvSpPr>
          <p:cNvPr id="65" name="Text 63"/>
          <p:cNvSpPr/>
          <p:nvPr/>
        </p:nvSpPr>
        <p:spPr>
          <a:xfrm>
            <a:off x="1764792" y="4572000"/>
            <a:ext cx="4114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</a:t>
            </a:r>
            <a:endParaRPr lang="en-US" sz="460" dirty="0"/>
          </a:p>
        </p:txBody>
      </p:sp>
      <p:sp>
        <p:nvSpPr>
          <p:cNvPr id="66" name="Text 64"/>
          <p:cNvSpPr/>
          <p:nvPr/>
        </p:nvSpPr>
        <p:spPr>
          <a:xfrm>
            <a:off x="1764792" y="47365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+5.6%</a:t>
            </a:r>
            <a:endParaRPr lang="en-US" sz="720" dirty="0"/>
          </a:p>
        </p:txBody>
      </p:sp>
      <p:sp>
        <p:nvSpPr>
          <p:cNvPr id="67" name="Shape 65"/>
          <p:cNvSpPr/>
          <p:nvPr/>
        </p:nvSpPr>
        <p:spPr>
          <a:xfrm>
            <a:off x="850392" y="4983480"/>
            <a:ext cx="2249424" cy="292608"/>
          </a:xfrm>
          <a:prstGeom prst="roundRect">
            <a:avLst>
              <a:gd name="adj" fmla="val 12500"/>
            </a:avLst>
          </a:prstGeom>
          <a:solidFill>
            <a:srgbClr val="FFF7E7"/>
          </a:solidFill>
          <a:ln w="9525">
            <a:solidFill>
              <a:srgbClr val="F0CE7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14400" y="5093208"/>
            <a:ext cx="21214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8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focus: Response Time gap review.</a:t>
            </a:r>
            <a:endParaRPr lang="en-US" sz="480" dirty="0"/>
          </a:p>
        </p:txBody>
      </p:sp>
      <p:sp>
        <p:nvSpPr>
          <p:cNvPr id="69" name="Shape 67"/>
          <p:cNvSpPr/>
          <p:nvPr/>
        </p:nvSpPr>
        <p:spPr>
          <a:xfrm>
            <a:off x="3584448" y="3867912"/>
            <a:ext cx="233172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3584448" y="3867912"/>
            <a:ext cx="54864" cy="1389888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730752" y="3977640"/>
            <a:ext cx="2075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</a:t>
            </a:r>
            <a:endParaRPr lang="en-US" sz="880" dirty="0"/>
          </a:p>
        </p:txBody>
      </p:sp>
      <p:sp>
        <p:nvSpPr>
          <p:cNvPr id="72" name="Text 70"/>
          <p:cNvSpPr/>
          <p:nvPr/>
        </p:nvSpPr>
        <p:spPr>
          <a:xfrm>
            <a:off x="3730752" y="425196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40.0%</a:t>
            </a:r>
            <a:endParaRPr lang="en-US" sz="1550" dirty="0"/>
          </a:p>
        </p:txBody>
      </p:sp>
      <p:sp>
        <p:nvSpPr>
          <p:cNvPr id="73" name="Text 71"/>
          <p:cNvSpPr/>
          <p:nvPr/>
        </p:nvSpPr>
        <p:spPr>
          <a:xfrm>
            <a:off x="3749040" y="4526280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560" dirty="0"/>
          </a:p>
        </p:txBody>
      </p:sp>
      <p:sp>
        <p:nvSpPr>
          <p:cNvPr id="74" name="Text 72"/>
          <p:cNvSpPr/>
          <p:nvPr/>
        </p:nvSpPr>
        <p:spPr>
          <a:xfrm>
            <a:off x="5074920" y="4251960"/>
            <a:ext cx="704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60.0%</a:t>
            </a:r>
            <a:endParaRPr lang="en-US" sz="520" dirty="0"/>
          </a:p>
          <a:p>
            <a:pPr algn="r" indent="0" marL="0">
              <a:buNone/>
            </a:pPr>
            <a:r>
              <a:rPr lang="en-US" sz="5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24.0%</a:t>
            </a:r>
            <a:endParaRPr lang="en-US" sz="520" dirty="0"/>
          </a:p>
        </p:txBody>
      </p:sp>
      <p:sp>
        <p:nvSpPr>
          <p:cNvPr id="75" name="Shape 73"/>
          <p:cNvSpPr/>
          <p:nvPr/>
        </p:nvSpPr>
        <p:spPr>
          <a:xfrm>
            <a:off x="3749040" y="4700016"/>
            <a:ext cx="2002536" cy="73152"/>
          </a:xfrm>
          <a:prstGeom prst="roundRect">
            <a:avLst>
              <a:gd name="adj" fmla="val 50000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749040" y="4700016"/>
            <a:ext cx="801014" cy="73152"/>
          </a:xfrm>
          <a:prstGeom prst="roundRect">
            <a:avLst>
              <a:gd name="adj" fmla="val 50000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749040" y="4855464"/>
            <a:ext cx="9921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75 min</a:t>
            </a:r>
            <a:endParaRPr lang="en-US" sz="530" dirty="0"/>
          </a:p>
        </p:txBody>
      </p:sp>
      <p:sp>
        <p:nvSpPr>
          <p:cNvPr id="78" name="Text 76"/>
          <p:cNvSpPr/>
          <p:nvPr/>
        </p:nvSpPr>
        <p:spPr>
          <a:xfrm>
            <a:off x="4741164" y="4855464"/>
            <a:ext cx="9921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30 min</a:t>
            </a:r>
            <a:endParaRPr lang="en-US" sz="530" dirty="0"/>
          </a:p>
        </p:txBody>
      </p:sp>
      <p:sp>
        <p:nvSpPr>
          <p:cNvPr id="79" name="Text 77"/>
          <p:cNvSpPr/>
          <p:nvPr/>
        </p:nvSpPr>
        <p:spPr>
          <a:xfrm>
            <a:off x="3749040" y="4992624"/>
            <a:ext cx="20025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is better</a:t>
            </a:r>
            <a:endParaRPr lang="en-US" sz="490" dirty="0"/>
          </a:p>
        </p:txBody>
      </p:sp>
      <p:sp>
        <p:nvSpPr>
          <p:cNvPr id="80" name="Shape 78"/>
          <p:cNvSpPr/>
          <p:nvPr/>
        </p:nvSpPr>
        <p:spPr>
          <a:xfrm>
            <a:off x="6144768" y="3867912"/>
            <a:ext cx="233172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6144768" y="3867912"/>
            <a:ext cx="54864" cy="1389888"/>
          </a:xfrm>
          <a:prstGeom prst="rect">
            <a:avLst/>
          </a:prstGeom>
          <a:solidFill>
            <a:srgbClr val="E2A100"/>
          </a:solidFill>
          <a:ln w="8890">
            <a:solidFill>
              <a:srgbClr val="E2A10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291072" y="3977640"/>
            <a:ext cx="2075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Channels growth rate</a:t>
            </a:r>
            <a:endParaRPr lang="en-US" sz="880" dirty="0"/>
          </a:p>
        </p:txBody>
      </p:sp>
      <p:sp>
        <p:nvSpPr>
          <p:cNvPr id="83" name="Text 81"/>
          <p:cNvSpPr/>
          <p:nvPr/>
        </p:nvSpPr>
        <p:spPr>
          <a:xfrm>
            <a:off x="6291072" y="425196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70.0%</a:t>
            </a:r>
            <a:endParaRPr lang="en-US" sz="1550" dirty="0"/>
          </a:p>
        </p:txBody>
      </p:sp>
      <p:sp>
        <p:nvSpPr>
          <p:cNvPr id="84" name="Text 82"/>
          <p:cNvSpPr/>
          <p:nvPr/>
        </p:nvSpPr>
        <p:spPr>
          <a:xfrm>
            <a:off x="6309360" y="4526280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560" dirty="0"/>
          </a:p>
        </p:txBody>
      </p:sp>
      <p:sp>
        <p:nvSpPr>
          <p:cNvPr id="85" name="Text 83"/>
          <p:cNvSpPr/>
          <p:nvPr/>
        </p:nvSpPr>
        <p:spPr>
          <a:xfrm>
            <a:off x="7635240" y="4251960"/>
            <a:ext cx="704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30.0%</a:t>
            </a:r>
            <a:endParaRPr lang="en-US" sz="520" dirty="0"/>
          </a:p>
          <a:p>
            <a:pPr algn="r" indent="0" marL="0">
              <a:buNone/>
            </a:pPr>
            <a:r>
              <a:rPr lang="en-US" sz="52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6.0%</a:t>
            </a:r>
            <a:endParaRPr lang="en-US" sz="520" dirty="0"/>
          </a:p>
        </p:txBody>
      </p:sp>
      <p:sp>
        <p:nvSpPr>
          <p:cNvPr id="86" name="Shape 84"/>
          <p:cNvSpPr/>
          <p:nvPr/>
        </p:nvSpPr>
        <p:spPr>
          <a:xfrm>
            <a:off x="6309360" y="4700016"/>
            <a:ext cx="2002536" cy="73152"/>
          </a:xfrm>
          <a:prstGeom prst="roundRect">
            <a:avLst>
              <a:gd name="adj" fmla="val 50000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309360" y="4700016"/>
            <a:ext cx="1401775" cy="73152"/>
          </a:xfrm>
          <a:prstGeom prst="roundRect">
            <a:avLst>
              <a:gd name="adj" fmla="val 50000"/>
            </a:avLst>
          </a:prstGeom>
          <a:solidFill>
            <a:srgbClr val="E2A100"/>
          </a:solidFill>
          <a:ln w="9525">
            <a:solidFill>
              <a:srgbClr val="E2A10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309360" y="4855464"/>
            <a:ext cx="9921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7.0%</a:t>
            </a:r>
            <a:endParaRPr lang="en-US" sz="530" dirty="0"/>
          </a:p>
        </p:txBody>
      </p:sp>
      <p:sp>
        <p:nvSpPr>
          <p:cNvPr id="89" name="Text 87"/>
          <p:cNvSpPr/>
          <p:nvPr/>
        </p:nvSpPr>
        <p:spPr>
          <a:xfrm>
            <a:off x="7301484" y="4855464"/>
            <a:ext cx="9921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10.0%</a:t>
            </a:r>
            <a:endParaRPr lang="en-US" sz="530" dirty="0"/>
          </a:p>
        </p:txBody>
      </p:sp>
      <p:sp>
        <p:nvSpPr>
          <p:cNvPr id="90" name="Text 88"/>
          <p:cNvSpPr/>
          <p:nvPr/>
        </p:nvSpPr>
        <p:spPr>
          <a:xfrm>
            <a:off x="6309360" y="4992624"/>
            <a:ext cx="20025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</a:t>
            </a:r>
            <a:endParaRPr lang="en-US" sz="490" dirty="0"/>
          </a:p>
        </p:txBody>
      </p:sp>
      <p:sp>
        <p:nvSpPr>
          <p:cNvPr id="91" name="Shape 89"/>
          <p:cNvSpPr/>
          <p:nvPr/>
        </p:nvSpPr>
        <p:spPr>
          <a:xfrm>
            <a:off x="8705088" y="3867912"/>
            <a:ext cx="233172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8705088" y="3867912"/>
            <a:ext cx="54864" cy="1389888"/>
          </a:xfrm>
          <a:prstGeom prst="rect">
            <a:avLst/>
          </a:prstGeom>
          <a:solidFill>
            <a:srgbClr val="22A66F"/>
          </a:solidFill>
          <a:ln w="8890">
            <a:solidFill>
              <a:srgbClr val="22A66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851392" y="3977640"/>
            <a:ext cx="2075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rate (%)</a:t>
            </a:r>
            <a:endParaRPr lang="en-US" sz="880" dirty="0"/>
          </a:p>
        </p:txBody>
      </p:sp>
      <p:sp>
        <p:nvSpPr>
          <p:cNvPr id="94" name="Text 92"/>
          <p:cNvSpPr/>
          <p:nvPr/>
        </p:nvSpPr>
        <p:spPr>
          <a:xfrm>
            <a:off x="8851392" y="425196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91.6%</a:t>
            </a:r>
            <a:endParaRPr lang="en-US" sz="1550" dirty="0"/>
          </a:p>
        </p:txBody>
      </p:sp>
      <p:sp>
        <p:nvSpPr>
          <p:cNvPr id="95" name="Text 93"/>
          <p:cNvSpPr/>
          <p:nvPr/>
        </p:nvSpPr>
        <p:spPr>
          <a:xfrm>
            <a:off x="8869680" y="4526280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560" dirty="0"/>
          </a:p>
        </p:txBody>
      </p:sp>
      <p:sp>
        <p:nvSpPr>
          <p:cNvPr id="96" name="Text 94"/>
          <p:cNvSpPr/>
          <p:nvPr/>
        </p:nvSpPr>
        <p:spPr>
          <a:xfrm>
            <a:off x="10195560" y="4251960"/>
            <a:ext cx="704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8.4%</a:t>
            </a:r>
            <a:endParaRPr lang="en-US" sz="520" dirty="0"/>
          </a:p>
          <a:p>
            <a:pPr algn="r" indent="0" marL="0">
              <a:buNone/>
            </a:pPr>
            <a:r>
              <a:rPr lang="en-US" sz="52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3.4%</a:t>
            </a:r>
            <a:endParaRPr lang="en-US" sz="520" dirty="0"/>
          </a:p>
        </p:txBody>
      </p:sp>
      <p:sp>
        <p:nvSpPr>
          <p:cNvPr id="97" name="Shape 95"/>
          <p:cNvSpPr/>
          <p:nvPr/>
        </p:nvSpPr>
        <p:spPr>
          <a:xfrm>
            <a:off x="8869680" y="4700016"/>
            <a:ext cx="2002536" cy="73152"/>
          </a:xfrm>
          <a:prstGeom prst="roundRect">
            <a:avLst>
              <a:gd name="adj" fmla="val 50000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869680" y="4700016"/>
            <a:ext cx="1834323" cy="73152"/>
          </a:xfrm>
          <a:prstGeom prst="roundRect">
            <a:avLst>
              <a:gd name="adj" fmla="val 50000"/>
            </a:avLst>
          </a:prstGeom>
          <a:solidFill>
            <a:srgbClr val="22A66F"/>
          </a:solidFill>
          <a:ln w="9525">
            <a:solidFill>
              <a:srgbClr val="22A66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869680" y="4855464"/>
            <a:ext cx="9921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91.6%</a:t>
            </a:r>
            <a:endParaRPr lang="en-US" sz="530" dirty="0"/>
          </a:p>
        </p:txBody>
      </p:sp>
      <p:sp>
        <p:nvSpPr>
          <p:cNvPr id="100" name="Text 98"/>
          <p:cNvSpPr/>
          <p:nvPr/>
        </p:nvSpPr>
        <p:spPr>
          <a:xfrm>
            <a:off x="9861804" y="4855464"/>
            <a:ext cx="9921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100.0%</a:t>
            </a:r>
            <a:endParaRPr lang="en-US" sz="530" dirty="0"/>
          </a:p>
        </p:txBody>
      </p:sp>
      <p:sp>
        <p:nvSpPr>
          <p:cNvPr id="101" name="Text 99"/>
          <p:cNvSpPr/>
          <p:nvPr/>
        </p:nvSpPr>
        <p:spPr>
          <a:xfrm>
            <a:off x="8869680" y="4992624"/>
            <a:ext cx="20025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</a:t>
            </a:r>
            <a:endParaRPr lang="en-US" sz="49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2801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Employee Detail — Abdelrahman Yousry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56616" y="512064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performance gap is concentrated in uptime and page load speed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8854135" y="22860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2026  |  SGH Offshore Branch  |  23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EF5"/>
          </a:solidFill>
          <a:ln w="8890">
            <a:solidFill>
              <a:srgbClr val="E8EE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6693408"/>
            <a:ext cx="228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— INTERNAL USE ONLY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61343" y="6693408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>
            <a:off x="502920" y="1097280"/>
            <a:ext cx="2971800" cy="429768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097280"/>
            <a:ext cx="64008" cy="4297680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14447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Abdelrahman Yousry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722376" y="1755648"/>
            <a:ext cx="25146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Developer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2286000" y="1371600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142646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ACTION</a:t>
            </a:r>
            <a:endParaRPr lang="en-US" sz="580" dirty="0"/>
          </a:p>
        </p:txBody>
      </p:sp>
      <p:sp>
        <p:nvSpPr>
          <p:cNvPr id="16" name="Text 14"/>
          <p:cNvSpPr/>
          <p:nvPr/>
        </p:nvSpPr>
        <p:spPr>
          <a:xfrm>
            <a:off x="722376" y="2359152"/>
            <a:ext cx="84124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SCORE</a:t>
            </a:r>
            <a:endParaRPr lang="en-US" sz="500" dirty="0"/>
          </a:p>
        </p:txBody>
      </p:sp>
      <p:sp>
        <p:nvSpPr>
          <p:cNvPr id="17" name="Text 15"/>
          <p:cNvSpPr/>
          <p:nvPr/>
        </p:nvSpPr>
        <p:spPr>
          <a:xfrm>
            <a:off x="722376" y="2651760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68.8%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1920240" y="2359152"/>
            <a:ext cx="84124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500" dirty="0"/>
          </a:p>
        </p:txBody>
      </p:sp>
      <p:sp>
        <p:nvSpPr>
          <p:cNvPr id="19" name="Text 17"/>
          <p:cNvSpPr/>
          <p:nvPr/>
        </p:nvSpPr>
        <p:spPr>
          <a:xfrm>
            <a:off x="1920240" y="267004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78.8%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2999232"/>
            <a:ext cx="8412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</a:t>
            </a:r>
            <a:endParaRPr lang="en-US" sz="500" dirty="0"/>
          </a:p>
        </p:txBody>
      </p:sp>
      <p:sp>
        <p:nvSpPr>
          <p:cNvPr id="21" name="Text 19"/>
          <p:cNvSpPr/>
          <p:nvPr/>
        </p:nvSpPr>
        <p:spPr>
          <a:xfrm>
            <a:off x="1920240" y="321868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-10.0%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722376" y="4315968"/>
            <a:ext cx="2532888" cy="749808"/>
          </a:xfrm>
          <a:prstGeom prst="roundRect">
            <a:avLst>
              <a:gd name="adj" fmla="val 7317"/>
            </a:avLst>
          </a:prstGeom>
          <a:solidFill>
            <a:srgbClr val="FFF7E7"/>
          </a:solidFill>
          <a:ln w="9525">
            <a:solidFill>
              <a:srgbClr val="F0CE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" y="4517136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focus</a:t>
            </a:r>
            <a:endParaRPr lang="en-US" sz="640" dirty="0"/>
          </a:p>
        </p:txBody>
      </p:sp>
      <p:sp>
        <p:nvSpPr>
          <p:cNvPr id="24" name="Text 22"/>
          <p:cNvSpPr/>
          <p:nvPr/>
        </p:nvSpPr>
        <p:spPr>
          <a:xfrm>
            <a:off x="886968" y="478231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uptime (%) gap review and corrective action tracking.</a:t>
            </a:r>
            <a:endParaRPr lang="en-US" sz="630" dirty="0"/>
          </a:p>
        </p:txBody>
      </p:sp>
      <p:sp>
        <p:nvSpPr>
          <p:cNvPr id="25" name="Text 23"/>
          <p:cNvSpPr/>
          <p:nvPr/>
        </p:nvSpPr>
        <p:spPr>
          <a:xfrm>
            <a:off x="3794760" y="1097280"/>
            <a:ext cx="7726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Drivers — Actual / Target / Achievement / Weighted Loss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3794760" y="1408176"/>
            <a:ext cx="7726680" cy="36576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94760" y="1664208"/>
            <a:ext cx="22402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94760" y="1664208"/>
            <a:ext cx="54864" cy="1261872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41064" y="1773936"/>
            <a:ext cx="1984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uptime (%)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3941064" y="204825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50.0%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3959352" y="2322576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560" dirty="0"/>
          </a:p>
        </p:txBody>
      </p:sp>
      <p:sp>
        <p:nvSpPr>
          <p:cNvPr id="32" name="Text 30"/>
          <p:cNvSpPr/>
          <p:nvPr/>
        </p:nvSpPr>
        <p:spPr>
          <a:xfrm>
            <a:off x="5193792" y="2048256"/>
            <a:ext cx="704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50.0%</a:t>
            </a:r>
            <a:endParaRPr lang="en-US" sz="520" dirty="0"/>
          </a:p>
          <a:p>
            <a:pPr algn="r" indent="0" marL="0">
              <a:buNone/>
            </a:pPr>
            <a:r>
              <a:rPr lang="en-US" sz="5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12.5%</a:t>
            </a:r>
            <a:endParaRPr lang="en-US" sz="520" dirty="0"/>
          </a:p>
        </p:txBody>
      </p:sp>
      <p:sp>
        <p:nvSpPr>
          <p:cNvPr id="33" name="Shape 31"/>
          <p:cNvSpPr/>
          <p:nvPr/>
        </p:nvSpPr>
        <p:spPr>
          <a:xfrm>
            <a:off x="3959352" y="2496312"/>
            <a:ext cx="1911096" cy="73152"/>
          </a:xfrm>
          <a:prstGeom prst="roundRect">
            <a:avLst>
              <a:gd name="adj" fmla="val 50000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959352" y="2496312"/>
            <a:ext cx="955548" cy="73152"/>
          </a:xfrm>
          <a:prstGeom prst="roundRect">
            <a:avLst>
              <a:gd name="adj" fmla="val 50000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59352" y="2651760"/>
            <a:ext cx="9464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50.0%</a:t>
            </a:r>
            <a:endParaRPr lang="en-US" sz="530" dirty="0"/>
          </a:p>
        </p:txBody>
      </p:sp>
      <p:sp>
        <p:nvSpPr>
          <p:cNvPr id="36" name="Text 34"/>
          <p:cNvSpPr/>
          <p:nvPr/>
        </p:nvSpPr>
        <p:spPr>
          <a:xfrm>
            <a:off x="4905756" y="2651760"/>
            <a:ext cx="9464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100.0%</a:t>
            </a:r>
            <a:endParaRPr lang="en-US" sz="530" dirty="0"/>
          </a:p>
        </p:txBody>
      </p:sp>
      <p:sp>
        <p:nvSpPr>
          <p:cNvPr id="37" name="Text 35"/>
          <p:cNvSpPr/>
          <p:nvPr/>
        </p:nvSpPr>
        <p:spPr>
          <a:xfrm>
            <a:off x="3959352" y="2788920"/>
            <a:ext cx="19110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is better</a:t>
            </a:r>
            <a:endParaRPr lang="en-US" sz="490" dirty="0"/>
          </a:p>
        </p:txBody>
      </p:sp>
      <p:sp>
        <p:nvSpPr>
          <p:cNvPr id="38" name="Shape 36"/>
          <p:cNvSpPr/>
          <p:nvPr/>
        </p:nvSpPr>
        <p:spPr>
          <a:xfrm>
            <a:off x="6355080" y="1664208"/>
            <a:ext cx="22402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355080" y="1664208"/>
            <a:ext cx="54864" cy="1261872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01384" y="1773936"/>
            <a:ext cx="1984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load speed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6501384" y="204825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50.0%</a:t>
            </a:r>
            <a:endParaRPr lang="en-US" sz="1550" dirty="0"/>
          </a:p>
        </p:txBody>
      </p:sp>
      <p:sp>
        <p:nvSpPr>
          <p:cNvPr id="42" name="Text 40"/>
          <p:cNvSpPr/>
          <p:nvPr/>
        </p:nvSpPr>
        <p:spPr>
          <a:xfrm>
            <a:off x="6519672" y="2322576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560" dirty="0"/>
          </a:p>
        </p:txBody>
      </p:sp>
      <p:sp>
        <p:nvSpPr>
          <p:cNvPr id="43" name="Text 41"/>
          <p:cNvSpPr/>
          <p:nvPr/>
        </p:nvSpPr>
        <p:spPr>
          <a:xfrm>
            <a:off x="7754112" y="2048256"/>
            <a:ext cx="704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50.0%</a:t>
            </a:r>
            <a:endParaRPr lang="en-US" sz="520" dirty="0"/>
          </a:p>
          <a:p>
            <a:pPr algn="r" indent="0" marL="0">
              <a:buNone/>
            </a:pPr>
            <a:r>
              <a:rPr lang="en-US" sz="5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12.5%</a:t>
            </a:r>
            <a:endParaRPr lang="en-US" sz="520" dirty="0"/>
          </a:p>
        </p:txBody>
      </p:sp>
      <p:sp>
        <p:nvSpPr>
          <p:cNvPr id="44" name="Shape 42"/>
          <p:cNvSpPr/>
          <p:nvPr/>
        </p:nvSpPr>
        <p:spPr>
          <a:xfrm>
            <a:off x="6519672" y="2496312"/>
            <a:ext cx="1911096" cy="73152"/>
          </a:xfrm>
          <a:prstGeom prst="roundRect">
            <a:avLst>
              <a:gd name="adj" fmla="val 50000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19672" y="2496312"/>
            <a:ext cx="955548" cy="73152"/>
          </a:xfrm>
          <a:prstGeom prst="roundRect">
            <a:avLst>
              <a:gd name="adj" fmla="val 50000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19672" y="2651760"/>
            <a:ext cx="9464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6 sec</a:t>
            </a:r>
            <a:endParaRPr lang="en-US" sz="530" dirty="0"/>
          </a:p>
        </p:txBody>
      </p:sp>
      <p:sp>
        <p:nvSpPr>
          <p:cNvPr id="47" name="Text 45"/>
          <p:cNvSpPr/>
          <p:nvPr/>
        </p:nvSpPr>
        <p:spPr>
          <a:xfrm>
            <a:off x="7466076" y="2651760"/>
            <a:ext cx="9464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3 sec</a:t>
            </a:r>
            <a:endParaRPr lang="en-US" sz="530" dirty="0"/>
          </a:p>
        </p:txBody>
      </p:sp>
      <p:sp>
        <p:nvSpPr>
          <p:cNvPr id="48" name="Text 46"/>
          <p:cNvSpPr/>
          <p:nvPr/>
        </p:nvSpPr>
        <p:spPr>
          <a:xfrm>
            <a:off x="6519672" y="2788920"/>
            <a:ext cx="19110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is better</a:t>
            </a:r>
            <a:endParaRPr lang="en-US" sz="490" dirty="0"/>
          </a:p>
        </p:txBody>
      </p:sp>
      <p:sp>
        <p:nvSpPr>
          <p:cNvPr id="49" name="Shape 47"/>
          <p:cNvSpPr/>
          <p:nvPr/>
        </p:nvSpPr>
        <p:spPr>
          <a:xfrm>
            <a:off x="8915400" y="1664208"/>
            <a:ext cx="22402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915400" y="1664208"/>
            <a:ext cx="54864" cy="1261872"/>
          </a:xfrm>
          <a:prstGeom prst="rect">
            <a:avLst/>
          </a:prstGeom>
          <a:solidFill>
            <a:srgbClr val="E2A100"/>
          </a:solidFill>
          <a:ln w="8890">
            <a:solidFill>
              <a:srgbClr val="E2A1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61704" y="1773936"/>
            <a:ext cx="1984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/ bug resolution r…</a:t>
            </a:r>
            <a:endParaRPr lang="en-US" sz="880" dirty="0"/>
          </a:p>
        </p:txBody>
      </p:sp>
      <p:sp>
        <p:nvSpPr>
          <p:cNvPr id="52" name="Text 50"/>
          <p:cNvSpPr/>
          <p:nvPr/>
        </p:nvSpPr>
        <p:spPr>
          <a:xfrm>
            <a:off x="9061704" y="204825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85.0%</a:t>
            </a:r>
            <a:endParaRPr lang="en-US" sz="1550" dirty="0"/>
          </a:p>
        </p:txBody>
      </p:sp>
      <p:sp>
        <p:nvSpPr>
          <p:cNvPr id="53" name="Text 51"/>
          <p:cNvSpPr/>
          <p:nvPr/>
        </p:nvSpPr>
        <p:spPr>
          <a:xfrm>
            <a:off x="9079992" y="2322576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560" dirty="0"/>
          </a:p>
        </p:txBody>
      </p:sp>
      <p:sp>
        <p:nvSpPr>
          <p:cNvPr id="54" name="Text 52"/>
          <p:cNvSpPr/>
          <p:nvPr/>
        </p:nvSpPr>
        <p:spPr>
          <a:xfrm>
            <a:off x="10314432" y="2048256"/>
            <a:ext cx="704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15.0%</a:t>
            </a:r>
            <a:endParaRPr lang="en-US" sz="520" dirty="0"/>
          </a:p>
          <a:p>
            <a:pPr algn="r" indent="0" marL="0">
              <a:buNone/>
            </a:pPr>
            <a:r>
              <a:rPr lang="en-US" sz="52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3.8%</a:t>
            </a:r>
            <a:endParaRPr lang="en-US" sz="520" dirty="0"/>
          </a:p>
        </p:txBody>
      </p:sp>
      <p:sp>
        <p:nvSpPr>
          <p:cNvPr id="55" name="Shape 53"/>
          <p:cNvSpPr/>
          <p:nvPr/>
        </p:nvSpPr>
        <p:spPr>
          <a:xfrm>
            <a:off x="9079992" y="2496312"/>
            <a:ext cx="1911096" cy="73152"/>
          </a:xfrm>
          <a:prstGeom prst="roundRect">
            <a:avLst>
              <a:gd name="adj" fmla="val 50000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079992" y="2496312"/>
            <a:ext cx="1624432" cy="73152"/>
          </a:xfrm>
          <a:prstGeom prst="roundRect">
            <a:avLst>
              <a:gd name="adj" fmla="val 50000"/>
            </a:avLst>
          </a:prstGeom>
          <a:solidFill>
            <a:srgbClr val="E2A100"/>
          </a:solidFill>
          <a:ln w="9525">
            <a:solidFill>
              <a:srgbClr val="E2A1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079992" y="2651760"/>
            <a:ext cx="9464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85.0%</a:t>
            </a:r>
            <a:endParaRPr lang="en-US" sz="530" dirty="0"/>
          </a:p>
        </p:txBody>
      </p:sp>
      <p:sp>
        <p:nvSpPr>
          <p:cNvPr id="58" name="Text 56"/>
          <p:cNvSpPr/>
          <p:nvPr/>
        </p:nvSpPr>
        <p:spPr>
          <a:xfrm>
            <a:off x="10026396" y="2651760"/>
            <a:ext cx="9464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100.0%</a:t>
            </a:r>
            <a:endParaRPr lang="en-US" sz="530" dirty="0"/>
          </a:p>
        </p:txBody>
      </p:sp>
      <p:sp>
        <p:nvSpPr>
          <p:cNvPr id="59" name="Text 57"/>
          <p:cNvSpPr/>
          <p:nvPr/>
        </p:nvSpPr>
        <p:spPr>
          <a:xfrm>
            <a:off x="9079992" y="2788920"/>
            <a:ext cx="19110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</a:t>
            </a:r>
            <a:endParaRPr lang="en-US" sz="490" dirty="0"/>
          </a:p>
        </p:txBody>
      </p:sp>
      <p:sp>
        <p:nvSpPr>
          <p:cNvPr id="60" name="Shape 58"/>
          <p:cNvSpPr/>
          <p:nvPr/>
        </p:nvSpPr>
        <p:spPr>
          <a:xfrm>
            <a:off x="3794760" y="3291840"/>
            <a:ext cx="22402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794760" y="3291840"/>
            <a:ext cx="54864" cy="1261872"/>
          </a:xfrm>
          <a:prstGeom prst="rect">
            <a:avLst/>
          </a:prstGeom>
          <a:solidFill>
            <a:srgbClr val="22A66F"/>
          </a:solidFill>
          <a:ln w="8890">
            <a:solidFill>
              <a:srgbClr val="22A66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941064" y="3401568"/>
            <a:ext cx="1984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delivery timelin…</a:t>
            </a:r>
            <a:endParaRPr lang="en-US" sz="880" dirty="0"/>
          </a:p>
        </p:txBody>
      </p:sp>
      <p:sp>
        <p:nvSpPr>
          <p:cNvPr id="63" name="Text 61"/>
          <p:cNvSpPr/>
          <p:nvPr/>
        </p:nvSpPr>
        <p:spPr>
          <a:xfrm>
            <a:off x="3941064" y="367588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90.0%</a:t>
            </a:r>
            <a:endParaRPr lang="en-US" sz="1550" dirty="0"/>
          </a:p>
        </p:txBody>
      </p:sp>
      <p:sp>
        <p:nvSpPr>
          <p:cNvPr id="64" name="Text 62"/>
          <p:cNvSpPr/>
          <p:nvPr/>
        </p:nvSpPr>
        <p:spPr>
          <a:xfrm>
            <a:off x="3959352" y="3950208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560" dirty="0"/>
          </a:p>
        </p:txBody>
      </p:sp>
      <p:sp>
        <p:nvSpPr>
          <p:cNvPr id="65" name="Text 63"/>
          <p:cNvSpPr/>
          <p:nvPr/>
        </p:nvSpPr>
        <p:spPr>
          <a:xfrm>
            <a:off x="5193792" y="3675888"/>
            <a:ext cx="704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10.0%</a:t>
            </a:r>
            <a:endParaRPr lang="en-US" sz="520" dirty="0"/>
          </a:p>
          <a:p>
            <a:pPr algn="r" indent="0" marL="0">
              <a:buNone/>
            </a:pPr>
            <a:r>
              <a:rPr lang="en-US" sz="52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2.5%</a:t>
            </a:r>
            <a:endParaRPr lang="en-US" sz="520" dirty="0"/>
          </a:p>
        </p:txBody>
      </p:sp>
      <p:sp>
        <p:nvSpPr>
          <p:cNvPr id="66" name="Shape 64"/>
          <p:cNvSpPr/>
          <p:nvPr/>
        </p:nvSpPr>
        <p:spPr>
          <a:xfrm>
            <a:off x="3959352" y="4123944"/>
            <a:ext cx="1911096" cy="73152"/>
          </a:xfrm>
          <a:prstGeom prst="roundRect">
            <a:avLst>
              <a:gd name="adj" fmla="val 50000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959352" y="4123944"/>
            <a:ext cx="1719986" cy="73152"/>
          </a:xfrm>
          <a:prstGeom prst="roundRect">
            <a:avLst>
              <a:gd name="adj" fmla="val 50000"/>
            </a:avLst>
          </a:prstGeom>
          <a:solidFill>
            <a:srgbClr val="22A66F"/>
          </a:solidFill>
          <a:ln w="9525">
            <a:solidFill>
              <a:srgbClr val="22A66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959352" y="4279392"/>
            <a:ext cx="9464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90.0%</a:t>
            </a:r>
            <a:endParaRPr lang="en-US" sz="530" dirty="0"/>
          </a:p>
        </p:txBody>
      </p:sp>
      <p:sp>
        <p:nvSpPr>
          <p:cNvPr id="69" name="Text 67"/>
          <p:cNvSpPr/>
          <p:nvPr/>
        </p:nvSpPr>
        <p:spPr>
          <a:xfrm>
            <a:off x="4905756" y="4279392"/>
            <a:ext cx="9464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3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100.0%</a:t>
            </a:r>
            <a:endParaRPr lang="en-US" sz="530" dirty="0"/>
          </a:p>
        </p:txBody>
      </p:sp>
      <p:sp>
        <p:nvSpPr>
          <p:cNvPr id="70" name="Text 68"/>
          <p:cNvSpPr/>
          <p:nvPr/>
        </p:nvSpPr>
        <p:spPr>
          <a:xfrm>
            <a:off x="3959352" y="4416552"/>
            <a:ext cx="19110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is better</a:t>
            </a:r>
            <a:endParaRPr lang="en-US" sz="490" dirty="0"/>
          </a:p>
        </p:txBody>
      </p:sp>
      <p:sp>
        <p:nvSpPr>
          <p:cNvPr id="71" name="Shape 69"/>
          <p:cNvSpPr/>
          <p:nvPr/>
        </p:nvSpPr>
        <p:spPr>
          <a:xfrm>
            <a:off x="3794760" y="5742432"/>
            <a:ext cx="7726680" cy="384048"/>
          </a:xfrm>
          <a:prstGeom prst="roundRect">
            <a:avLst>
              <a:gd name="adj" fmla="val 14286"/>
            </a:avLst>
          </a:prstGeom>
          <a:solidFill>
            <a:srgbClr val="EAF1FF"/>
          </a:solidFill>
          <a:ln w="9525">
            <a:solidFill>
              <a:srgbClr val="D7E6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041648" y="5879592"/>
            <a:ext cx="7269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rule: prioritize the highest weighted-loss KPI first; use Actual / Target to validate the gap before assigning corrective action.</a:t>
            </a:r>
            <a:endParaRPr lang="en-US" sz="71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2801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Root Cause Evidence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56616" y="512064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first: result, target, achievement, weighted loss and validation need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8854135" y="22860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2026  |  SGH Offshore Branch  |  24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EF5"/>
          </a:solidFill>
          <a:ln w="8890">
            <a:solidFill>
              <a:srgbClr val="E8EE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6693408"/>
            <a:ext cx="228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— INTERNAL USE ONLY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61343" y="6693408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>
            <a:off x="411480" y="1051560"/>
            <a:ext cx="1593799" cy="384048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" y="1106424"/>
            <a:ext cx="1520647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2005279" y="1051560"/>
            <a:ext cx="1366114" cy="384048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41855" y="1106424"/>
            <a:ext cx="1292962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371393" y="1051560"/>
            <a:ext cx="1479956" cy="384048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7969" y="1106424"/>
            <a:ext cx="140680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4851349" y="1051560"/>
            <a:ext cx="1024585" cy="384048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87925" y="1106424"/>
            <a:ext cx="951433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5875934" y="1051560"/>
            <a:ext cx="1024585" cy="384048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12510" y="1106424"/>
            <a:ext cx="951433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6900520" y="1051560"/>
            <a:ext cx="910742" cy="384048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37096" y="1106424"/>
            <a:ext cx="83759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Ach.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7811262" y="1051560"/>
            <a:ext cx="796900" cy="384048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47838" y="1106424"/>
            <a:ext cx="723748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8608162" y="1051560"/>
            <a:ext cx="3187598" cy="384048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44738" y="1106424"/>
            <a:ext cx="3114446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/ operating issue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411480" y="1435608"/>
            <a:ext cx="1593799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" y="1490472"/>
            <a:ext cx="1520647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Ziad Sayed Hassan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2005279" y="1435608"/>
            <a:ext cx="1366114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41855" y="1490472"/>
            <a:ext cx="1292962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620" dirty="0"/>
          </a:p>
        </p:txBody>
      </p:sp>
      <p:sp>
        <p:nvSpPr>
          <p:cNvPr id="30" name="Shape 28"/>
          <p:cNvSpPr/>
          <p:nvPr/>
        </p:nvSpPr>
        <p:spPr>
          <a:xfrm>
            <a:off x="3371393" y="1435608"/>
            <a:ext cx="1479956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07969" y="1490472"/>
            <a:ext cx="140680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</a:t>
            </a:r>
            <a:endParaRPr lang="en-US" sz="620" dirty="0"/>
          </a:p>
        </p:txBody>
      </p:sp>
      <p:sp>
        <p:nvSpPr>
          <p:cNvPr id="32" name="Shape 30"/>
          <p:cNvSpPr/>
          <p:nvPr/>
        </p:nvSpPr>
        <p:spPr>
          <a:xfrm>
            <a:off x="4851349" y="1435608"/>
            <a:ext cx="1024585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87925" y="1490472"/>
            <a:ext cx="951433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9.0%</a:t>
            </a:r>
            <a:endParaRPr lang="en-US" sz="620" dirty="0"/>
          </a:p>
        </p:txBody>
      </p:sp>
      <p:sp>
        <p:nvSpPr>
          <p:cNvPr id="34" name="Shape 32"/>
          <p:cNvSpPr/>
          <p:nvPr/>
        </p:nvSpPr>
        <p:spPr>
          <a:xfrm>
            <a:off x="5875934" y="1435608"/>
            <a:ext cx="1024585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12510" y="1490472"/>
            <a:ext cx="951433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46.0%</a:t>
            </a:r>
            <a:endParaRPr lang="en-US" sz="620" dirty="0"/>
          </a:p>
        </p:txBody>
      </p:sp>
      <p:sp>
        <p:nvSpPr>
          <p:cNvPr id="36" name="Shape 34"/>
          <p:cNvSpPr/>
          <p:nvPr/>
        </p:nvSpPr>
        <p:spPr>
          <a:xfrm>
            <a:off x="6900520" y="1435608"/>
            <a:ext cx="910742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37096" y="1490472"/>
            <a:ext cx="83759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19.5%</a:t>
            </a:r>
            <a:endParaRPr lang="en-US" sz="620" dirty="0"/>
          </a:p>
        </p:txBody>
      </p:sp>
      <p:sp>
        <p:nvSpPr>
          <p:cNvPr id="38" name="Shape 36"/>
          <p:cNvSpPr/>
          <p:nvPr/>
        </p:nvSpPr>
        <p:spPr>
          <a:xfrm>
            <a:off x="7811262" y="1435608"/>
            <a:ext cx="79690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47838" y="1490472"/>
            <a:ext cx="723748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24.1%</a:t>
            </a:r>
            <a:endParaRPr lang="en-US" sz="620" dirty="0"/>
          </a:p>
        </p:txBody>
      </p:sp>
      <p:sp>
        <p:nvSpPr>
          <p:cNvPr id="40" name="Shape 38"/>
          <p:cNvSpPr/>
          <p:nvPr/>
        </p:nvSpPr>
        <p:spPr>
          <a:xfrm>
            <a:off x="8608162" y="1435608"/>
            <a:ext cx="3187598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44738" y="1490472"/>
            <a:ext cx="3114446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signal — operational cause must be validated before final CAP assignment.</a:t>
            </a:r>
            <a:endParaRPr lang="en-US" sz="620" dirty="0"/>
          </a:p>
        </p:txBody>
      </p:sp>
      <p:sp>
        <p:nvSpPr>
          <p:cNvPr id="42" name="Shape 40"/>
          <p:cNvSpPr/>
          <p:nvPr/>
        </p:nvSpPr>
        <p:spPr>
          <a:xfrm>
            <a:off x="411480" y="1828800"/>
            <a:ext cx="1593799" cy="393192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8056" y="1883664"/>
            <a:ext cx="1520647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Samya Ismail</a:t>
            </a:r>
            <a:endParaRPr lang="en-US" sz="620" dirty="0"/>
          </a:p>
        </p:txBody>
      </p:sp>
      <p:sp>
        <p:nvSpPr>
          <p:cNvPr id="44" name="Shape 42"/>
          <p:cNvSpPr/>
          <p:nvPr/>
        </p:nvSpPr>
        <p:spPr>
          <a:xfrm>
            <a:off x="2005279" y="1828800"/>
            <a:ext cx="1366114" cy="393192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41855" y="1883664"/>
            <a:ext cx="1292962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Specialist</a:t>
            </a:r>
            <a:endParaRPr lang="en-US" sz="620" dirty="0"/>
          </a:p>
        </p:txBody>
      </p:sp>
      <p:sp>
        <p:nvSpPr>
          <p:cNvPr id="46" name="Shape 44"/>
          <p:cNvSpPr/>
          <p:nvPr/>
        </p:nvSpPr>
        <p:spPr>
          <a:xfrm>
            <a:off x="3371393" y="1828800"/>
            <a:ext cx="1479956" cy="393192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7969" y="1883664"/>
            <a:ext cx="140680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</a:t>
            </a:r>
            <a:endParaRPr lang="en-US" sz="620" dirty="0"/>
          </a:p>
        </p:txBody>
      </p:sp>
      <p:sp>
        <p:nvSpPr>
          <p:cNvPr id="48" name="Shape 46"/>
          <p:cNvSpPr/>
          <p:nvPr/>
        </p:nvSpPr>
        <p:spPr>
          <a:xfrm>
            <a:off x="4851349" y="1828800"/>
            <a:ext cx="1024585" cy="393192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87925" y="1883664"/>
            <a:ext cx="951433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min</a:t>
            </a:r>
            <a:endParaRPr lang="en-US" sz="620" dirty="0"/>
          </a:p>
        </p:txBody>
      </p:sp>
      <p:sp>
        <p:nvSpPr>
          <p:cNvPr id="50" name="Shape 48"/>
          <p:cNvSpPr/>
          <p:nvPr/>
        </p:nvSpPr>
        <p:spPr>
          <a:xfrm>
            <a:off x="5875934" y="1828800"/>
            <a:ext cx="1024585" cy="393192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12510" y="1883664"/>
            <a:ext cx="951433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min</a:t>
            </a:r>
            <a:endParaRPr lang="en-US" sz="620" dirty="0"/>
          </a:p>
        </p:txBody>
      </p:sp>
      <p:sp>
        <p:nvSpPr>
          <p:cNvPr id="52" name="Shape 50"/>
          <p:cNvSpPr/>
          <p:nvPr/>
        </p:nvSpPr>
        <p:spPr>
          <a:xfrm>
            <a:off x="6900520" y="1828800"/>
            <a:ext cx="910742" cy="393192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37096" y="1883664"/>
            <a:ext cx="83759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40.0%</a:t>
            </a:r>
            <a:endParaRPr lang="en-US" sz="620" dirty="0"/>
          </a:p>
        </p:txBody>
      </p:sp>
      <p:sp>
        <p:nvSpPr>
          <p:cNvPr id="54" name="Shape 52"/>
          <p:cNvSpPr/>
          <p:nvPr/>
        </p:nvSpPr>
        <p:spPr>
          <a:xfrm>
            <a:off x="7811262" y="1828800"/>
            <a:ext cx="796900" cy="393192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47838" y="1883664"/>
            <a:ext cx="723748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24.0%</a:t>
            </a:r>
            <a:endParaRPr lang="en-US" sz="620" dirty="0"/>
          </a:p>
        </p:txBody>
      </p:sp>
      <p:sp>
        <p:nvSpPr>
          <p:cNvPr id="56" name="Shape 54"/>
          <p:cNvSpPr/>
          <p:nvPr/>
        </p:nvSpPr>
        <p:spPr>
          <a:xfrm>
            <a:off x="8608162" y="1828800"/>
            <a:ext cx="3187598" cy="393192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44738" y="1883664"/>
            <a:ext cx="3114446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signal — operational cause must be validated before final CAP assignment.</a:t>
            </a:r>
            <a:endParaRPr lang="en-US" sz="620" dirty="0"/>
          </a:p>
        </p:txBody>
      </p:sp>
      <p:sp>
        <p:nvSpPr>
          <p:cNvPr id="58" name="Shape 56"/>
          <p:cNvSpPr/>
          <p:nvPr/>
        </p:nvSpPr>
        <p:spPr>
          <a:xfrm>
            <a:off x="411480" y="2221992"/>
            <a:ext cx="1593799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8056" y="2276856"/>
            <a:ext cx="1520647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Mina Nabil</a:t>
            </a:r>
            <a:endParaRPr lang="en-US" sz="620" dirty="0"/>
          </a:p>
        </p:txBody>
      </p:sp>
      <p:sp>
        <p:nvSpPr>
          <p:cNvPr id="60" name="Shape 58"/>
          <p:cNvSpPr/>
          <p:nvPr/>
        </p:nvSpPr>
        <p:spPr>
          <a:xfrm>
            <a:off x="2005279" y="2221992"/>
            <a:ext cx="1366114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041855" y="2276856"/>
            <a:ext cx="1292962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Specialist</a:t>
            </a:r>
            <a:endParaRPr lang="en-US" sz="620" dirty="0"/>
          </a:p>
        </p:txBody>
      </p:sp>
      <p:sp>
        <p:nvSpPr>
          <p:cNvPr id="62" name="Shape 60"/>
          <p:cNvSpPr/>
          <p:nvPr/>
        </p:nvSpPr>
        <p:spPr>
          <a:xfrm>
            <a:off x="3371393" y="2221992"/>
            <a:ext cx="1479956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07969" y="2276856"/>
            <a:ext cx="140680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</a:t>
            </a:r>
            <a:endParaRPr lang="en-US" sz="620" dirty="0"/>
          </a:p>
        </p:txBody>
      </p:sp>
      <p:sp>
        <p:nvSpPr>
          <p:cNvPr id="64" name="Shape 62"/>
          <p:cNvSpPr/>
          <p:nvPr/>
        </p:nvSpPr>
        <p:spPr>
          <a:xfrm>
            <a:off x="4851349" y="2221992"/>
            <a:ext cx="1024585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87925" y="2276856"/>
            <a:ext cx="951433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min</a:t>
            </a:r>
            <a:endParaRPr lang="en-US" sz="620" dirty="0"/>
          </a:p>
        </p:txBody>
      </p:sp>
      <p:sp>
        <p:nvSpPr>
          <p:cNvPr id="66" name="Shape 64"/>
          <p:cNvSpPr/>
          <p:nvPr/>
        </p:nvSpPr>
        <p:spPr>
          <a:xfrm>
            <a:off x="5875934" y="2221992"/>
            <a:ext cx="1024585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912510" y="2276856"/>
            <a:ext cx="951433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min</a:t>
            </a:r>
            <a:endParaRPr lang="en-US" sz="620" dirty="0"/>
          </a:p>
        </p:txBody>
      </p:sp>
      <p:sp>
        <p:nvSpPr>
          <p:cNvPr id="68" name="Shape 66"/>
          <p:cNvSpPr/>
          <p:nvPr/>
        </p:nvSpPr>
        <p:spPr>
          <a:xfrm>
            <a:off x="6900520" y="2221992"/>
            <a:ext cx="910742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937096" y="2276856"/>
            <a:ext cx="83759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40.0%</a:t>
            </a:r>
            <a:endParaRPr lang="en-US" sz="620" dirty="0"/>
          </a:p>
        </p:txBody>
      </p:sp>
      <p:sp>
        <p:nvSpPr>
          <p:cNvPr id="70" name="Shape 68"/>
          <p:cNvSpPr/>
          <p:nvPr/>
        </p:nvSpPr>
        <p:spPr>
          <a:xfrm>
            <a:off x="7811262" y="2221992"/>
            <a:ext cx="79690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847838" y="2276856"/>
            <a:ext cx="723748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24.0%</a:t>
            </a:r>
            <a:endParaRPr lang="en-US" sz="620" dirty="0"/>
          </a:p>
        </p:txBody>
      </p:sp>
      <p:sp>
        <p:nvSpPr>
          <p:cNvPr id="72" name="Shape 70"/>
          <p:cNvSpPr/>
          <p:nvPr/>
        </p:nvSpPr>
        <p:spPr>
          <a:xfrm>
            <a:off x="8608162" y="2221992"/>
            <a:ext cx="3187598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644738" y="2276856"/>
            <a:ext cx="3114446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signal — operational cause must be validated before final CAP assignment.</a:t>
            </a:r>
            <a:endParaRPr lang="en-US" sz="620" dirty="0"/>
          </a:p>
        </p:txBody>
      </p:sp>
      <p:sp>
        <p:nvSpPr>
          <p:cNvPr id="74" name="Shape 72"/>
          <p:cNvSpPr/>
          <p:nvPr/>
        </p:nvSpPr>
        <p:spPr>
          <a:xfrm>
            <a:off x="411480" y="2615184"/>
            <a:ext cx="1593799" cy="393192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48056" y="2670048"/>
            <a:ext cx="1520647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Bahy Hamed Amer</a:t>
            </a:r>
            <a:endParaRPr lang="en-US" sz="620" dirty="0"/>
          </a:p>
        </p:txBody>
      </p:sp>
      <p:sp>
        <p:nvSpPr>
          <p:cNvPr id="76" name="Shape 74"/>
          <p:cNvSpPr/>
          <p:nvPr/>
        </p:nvSpPr>
        <p:spPr>
          <a:xfrm>
            <a:off x="2005279" y="2615184"/>
            <a:ext cx="1366114" cy="393192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041855" y="2670048"/>
            <a:ext cx="1292962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620" dirty="0"/>
          </a:p>
        </p:txBody>
      </p:sp>
      <p:sp>
        <p:nvSpPr>
          <p:cNvPr id="78" name="Shape 76"/>
          <p:cNvSpPr/>
          <p:nvPr/>
        </p:nvSpPr>
        <p:spPr>
          <a:xfrm>
            <a:off x="3371393" y="2615184"/>
            <a:ext cx="1479956" cy="393192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407969" y="2670048"/>
            <a:ext cx="140680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Leads</a:t>
            </a:r>
            <a:endParaRPr lang="en-US" sz="620" dirty="0"/>
          </a:p>
        </p:txBody>
      </p:sp>
      <p:sp>
        <p:nvSpPr>
          <p:cNvPr id="80" name="Shape 78"/>
          <p:cNvSpPr/>
          <p:nvPr/>
        </p:nvSpPr>
        <p:spPr>
          <a:xfrm>
            <a:off x="4851349" y="2615184"/>
            <a:ext cx="1024585" cy="393192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887925" y="2670048"/>
            <a:ext cx="951433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2,302</a:t>
            </a:r>
            <a:endParaRPr lang="en-US" sz="620" dirty="0"/>
          </a:p>
        </p:txBody>
      </p:sp>
      <p:sp>
        <p:nvSpPr>
          <p:cNvPr id="82" name="Shape 80"/>
          <p:cNvSpPr/>
          <p:nvPr/>
        </p:nvSpPr>
        <p:spPr>
          <a:xfrm>
            <a:off x="5875934" y="2615184"/>
            <a:ext cx="1024585" cy="393192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912510" y="2670048"/>
            <a:ext cx="951433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6,493</a:t>
            </a:r>
            <a:endParaRPr lang="en-US" sz="620" dirty="0"/>
          </a:p>
        </p:txBody>
      </p:sp>
      <p:sp>
        <p:nvSpPr>
          <p:cNvPr id="84" name="Shape 82"/>
          <p:cNvSpPr/>
          <p:nvPr/>
        </p:nvSpPr>
        <p:spPr>
          <a:xfrm>
            <a:off x="6900520" y="2615184"/>
            <a:ext cx="910742" cy="393192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937096" y="2670048"/>
            <a:ext cx="83759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35.5%</a:t>
            </a:r>
            <a:endParaRPr lang="en-US" sz="620" dirty="0"/>
          </a:p>
        </p:txBody>
      </p:sp>
      <p:sp>
        <p:nvSpPr>
          <p:cNvPr id="86" name="Shape 84"/>
          <p:cNvSpPr/>
          <p:nvPr/>
        </p:nvSpPr>
        <p:spPr>
          <a:xfrm>
            <a:off x="7811262" y="2615184"/>
            <a:ext cx="796900" cy="393192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847838" y="2670048"/>
            <a:ext cx="723748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19.4%</a:t>
            </a:r>
            <a:endParaRPr lang="en-US" sz="620" dirty="0"/>
          </a:p>
        </p:txBody>
      </p:sp>
      <p:sp>
        <p:nvSpPr>
          <p:cNvPr id="88" name="Shape 86"/>
          <p:cNvSpPr/>
          <p:nvPr/>
        </p:nvSpPr>
        <p:spPr>
          <a:xfrm>
            <a:off x="8608162" y="2615184"/>
            <a:ext cx="3187598" cy="393192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644738" y="2670048"/>
            <a:ext cx="3114446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signal — operational cause must be validated before final CAP assignment.</a:t>
            </a:r>
            <a:endParaRPr lang="en-US" sz="620" dirty="0"/>
          </a:p>
        </p:txBody>
      </p:sp>
      <p:sp>
        <p:nvSpPr>
          <p:cNvPr id="90" name="Shape 88"/>
          <p:cNvSpPr/>
          <p:nvPr/>
        </p:nvSpPr>
        <p:spPr>
          <a:xfrm>
            <a:off x="411480" y="3008376"/>
            <a:ext cx="1593799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48056" y="3063240"/>
            <a:ext cx="1520647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Bahy Hamed Amer</a:t>
            </a:r>
            <a:endParaRPr lang="en-US" sz="620" dirty="0"/>
          </a:p>
        </p:txBody>
      </p:sp>
      <p:sp>
        <p:nvSpPr>
          <p:cNvPr id="92" name="Shape 90"/>
          <p:cNvSpPr/>
          <p:nvPr/>
        </p:nvSpPr>
        <p:spPr>
          <a:xfrm>
            <a:off x="2005279" y="3008376"/>
            <a:ext cx="1366114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041855" y="3063240"/>
            <a:ext cx="1292962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620" dirty="0"/>
          </a:p>
        </p:txBody>
      </p:sp>
      <p:sp>
        <p:nvSpPr>
          <p:cNvPr id="94" name="Shape 92"/>
          <p:cNvSpPr/>
          <p:nvPr/>
        </p:nvSpPr>
        <p:spPr>
          <a:xfrm>
            <a:off x="3371393" y="3008376"/>
            <a:ext cx="1479956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407969" y="3063240"/>
            <a:ext cx="140680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</a:t>
            </a:r>
            <a:endParaRPr lang="en-US" sz="620" dirty="0"/>
          </a:p>
        </p:txBody>
      </p:sp>
      <p:sp>
        <p:nvSpPr>
          <p:cNvPr id="96" name="Shape 94"/>
          <p:cNvSpPr/>
          <p:nvPr/>
        </p:nvSpPr>
        <p:spPr>
          <a:xfrm>
            <a:off x="4851349" y="3008376"/>
            <a:ext cx="1024585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887925" y="3063240"/>
            <a:ext cx="951433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33.4%</a:t>
            </a:r>
            <a:endParaRPr lang="en-US" sz="620" dirty="0"/>
          </a:p>
        </p:txBody>
      </p:sp>
      <p:sp>
        <p:nvSpPr>
          <p:cNvPr id="98" name="Shape 96"/>
          <p:cNvSpPr/>
          <p:nvPr/>
        </p:nvSpPr>
        <p:spPr>
          <a:xfrm>
            <a:off x="5875934" y="3008376"/>
            <a:ext cx="1024585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912510" y="3063240"/>
            <a:ext cx="951433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80.5%</a:t>
            </a:r>
            <a:endParaRPr lang="en-US" sz="620" dirty="0"/>
          </a:p>
        </p:txBody>
      </p:sp>
      <p:sp>
        <p:nvSpPr>
          <p:cNvPr id="100" name="Shape 98"/>
          <p:cNvSpPr/>
          <p:nvPr/>
        </p:nvSpPr>
        <p:spPr>
          <a:xfrm>
            <a:off x="6900520" y="3008376"/>
            <a:ext cx="910742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937096" y="3063240"/>
            <a:ext cx="83759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41.5%</a:t>
            </a:r>
            <a:endParaRPr lang="en-US" sz="620" dirty="0"/>
          </a:p>
        </p:txBody>
      </p:sp>
      <p:sp>
        <p:nvSpPr>
          <p:cNvPr id="102" name="Shape 100"/>
          <p:cNvSpPr/>
          <p:nvPr/>
        </p:nvSpPr>
        <p:spPr>
          <a:xfrm>
            <a:off x="7811262" y="3008376"/>
            <a:ext cx="79690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847838" y="3063240"/>
            <a:ext cx="723748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17.6%</a:t>
            </a:r>
            <a:endParaRPr lang="en-US" sz="620" dirty="0"/>
          </a:p>
        </p:txBody>
      </p:sp>
      <p:sp>
        <p:nvSpPr>
          <p:cNvPr id="104" name="Shape 102"/>
          <p:cNvSpPr/>
          <p:nvPr/>
        </p:nvSpPr>
        <p:spPr>
          <a:xfrm>
            <a:off x="8608162" y="3008376"/>
            <a:ext cx="3187598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644738" y="3063240"/>
            <a:ext cx="3114446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signal — operational cause must be validated before final CAP assignment.</a:t>
            </a:r>
            <a:endParaRPr lang="en-US" sz="620" dirty="0"/>
          </a:p>
        </p:txBody>
      </p:sp>
      <p:sp>
        <p:nvSpPr>
          <p:cNvPr id="106" name="Shape 104"/>
          <p:cNvSpPr/>
          <p:nvPr/>
        </p:nvSpPr>
        <p:spPr>
          <a:xfrm>
            <a:off x="411480" y="3401568"/>
            <a:ext cx="1593799" cy="393192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48056" y="3456432"/>
            <a:ext cx="1520647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Abdelrahman Yousry</a:t>
            </a:r>
            <a:endParaRPr lang="en-US" sz="620" dirty="0"/>
          </a:p>
        </p:txBody>
      </p:sp>
      <p:sp>
        <p:nvSpPr>
          <p:cNvPr id="108" name="Shape 106"/>
          <p:cNvSpPr/>
          <p:nvPr/>
        </p:nvSpPr>
        <p:spPr>
          <a:xfrm>
            <a:off x="2005279" y="3401568"/>
            <a:ext cx="1366114" cy="393192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041855" y="3456432"/>
            <a:ext cx="1292962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Developer</a:t>
            </a:r>
            <a:endParaRPr lang="en-US" sz="620" dirty="0"/>
          </a:p>
        </p:txBody>
      </p:sp>
      <p:sp>
        <p:nvSpPr>
          <p:cNvPr id="110" name="Shape 108"/>
          <p:cNvSpPr/>
          <p:nvPr/>
        </p:nvSpPr>
        <p:spPr>
          <a:xfrm>
            <a:off x="3371393" y="3401568"/>
            <a:ext cx="1479956" cy="393192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407969" y="3456432"/>
            <a:ext cx="140680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uptime (%)</a:t>
            </a:r>
            <a:endParaRPr lang="en-US" sz="620" dirty="0"/>
          </a:p>
        </p:txBody>
      </p:sp>
      <p:sp>
        <p:nvSpPr>
          <p:cNvPr id="112" name="Shape 110"/>
          <p:cNvSpPr/>
          <p:nvPr/>
        </p:nvSpPr>
        <p:spPr>
          <a:xfrm>
            <a:off x="4851349" y="3401568"/>
            <a:ext cx="1024585" cy="393192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887925" y="3456432"/>
            <a:ext cx="951433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50.0%</a:t>
            </a:r>
            <a:endParaRPr lang="en-US" sz="620" dirty="0"/>
          </a:p>
        </p:txBody>
      </p:sp>
      <p:sp>
        <p:nvSpPr>
          <p:cNvPr id="114" name="Shape 112"/>
          <p:cNvSpPr/>
          <p:nvPr/>
        </p:nvSpPr>
        <p:spPr>
          <a:xfrm>
            <a:off x="5875934" y="3401568"/>
            <a:ext cx="1024585" cy="393192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912510" y="3456432"/>
            <a:ext cx="951433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100.0%</a:t>
            </a:r>
            <a:endParaRPr lang="en-US" sz="620" dirty="0"/>
          </a:p>
        </p:txBody>
      </p:sp>
      <p:sp>
        <p:nvSpPr>
          <p:cNvPr id="116" name="Shape 114"/>
          <p:cNvSpPr/>
          <p:nvPr/>
        </p:nvSpPr>
        <p:spPr>
          <a:xfrm>
            <a:off x="6900520" y="3401568"/>
            <a:ext cx="910742" cy="393192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937096" y="3456432"/>
            <a:ext cx="83759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50.0%</a:t>
            </a:r>
            <a:endParaRPr lang="en-US" sz="620" dirty="0"/>
          </a:p>
        </p:txBody>
      </p:sp>
      <p:sp>
        <p:nvSpPr>
          <p:cNvPr id="118" name="Shape 116"/>
          <p:cNvSpPr/>
          <p:nvPr/>
        </p:nvSpPr>
        <p:spPr>
          <a:xfrm>
            <a:off x="7811262" y="3401568"/>
            <a:ext cx="796900" cy="393192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847838" y="3456432"/>
            <a:ext cx="723748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12.5%</a:t>
            </a:r>
            <a:endParaRPr lang="en-US" sz="620" dirty="0"/>
          </a:p>
        </p:txBody>
      </p:sp>
      <p:sp>
        <p:nvSpPr>
          <p:cNvPr id="120" name="Shape 118"/>
          <p:cNvSpPr/>
          <p:nvPr/>
        </p:nvSpPr>
        <p:spPr>
          <a:xfrm>
            <a:off x="8608162" y="3401568"/>
            <a:ext cx="3187598" cy="393192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8644738" y="3456432"/>
            <a:ext cx="3114446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signal — operational cause must be validated before final CAP assignment.</a:t>
            </a:r>
            <a:endParaRPr lang="en-US" sz="620" dirty="0"/>
          </a:p>
        </p:txBody>
      </p:sp>
      <p:sp>
        <p:nvSpPr>
          <p:cNvPr id="122" name="Shape 120"/>
          <p:cNvSpPr/>
          <p:nvPr/>
        </p:nvSpPr>
        <p:spPr>
          <a:xfrm>
            <a:off x="411480" y="3794760"/>
            <a:ext cx="1593799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48056" y="3849624"/>
            <a:ext cx="1520647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Abdelrahman Yousry</a:t>
            </a:r>
            <a:endParaRPr lang="en-US" sz="620" dirty="0"/>
          </a:p>
        </p:txBody>
      </p:sp>
      <p:sp>
        <p:nvSpPr>
          <p:cNvPr id="124" name="Shape 122"/>
          <p:cNvSpPr/>
          <p:nvPr/>
        </p:nvSpPr>
        <p:spPr>
          <a:xfrm>
            <a:off x="2005279" y="3794760"/>
            <a:ext cx="1366114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2041855" y="3849624"/>
            <a:ext cx="1292962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Developer</a:t>
            </a:r>
            <a:endParaRPr lang="en-US" sz="620" dirty="0"/>
          </a:p>
        </p:txBody>
      </p:sp>
      <p:sp>
        <p:nvSpPr>
          <p:cNvPr id="126" name="Shape 124"/>
          <p:cNvSpPr/>
          <p:nvPr/>
        </p:nvSpPr>
        <p:spPr>
          <a:xfrm>
            <a:off x="3371393" y="3794760"/>
            <a:ext cx="1479956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3407969" y="3849624"/>
            <a:ext cx="140680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load speed</a:t>
            </a:r>
            <a:endParaRPr lang="en-US" sz="620" dirty="0"/>
          </a:p>
        </p:txBody>
      </p:sp>
      <p:sp>
        <p:nvSpPr>
          <p:cNvPr id="128" name="Shape 126"/>
          <p:cNvSpPr/>
          <p:nvPr/>
        </p:nvSpPr>
        <p:spPr>
          <a:xfrm>
            <a:off x="4851349" y="3794760"/>
            <a:ext cx="1024585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4887925" y="3849624"/>
            <a:ext cx="951433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sec</a:t>
            </a:r>
            <a:endParaRPr lang="en-US" sz="620" dirty="0"/>
          </a:p>
        </p:txBody>
      </p:sp>
      <p:sp>
        <p:nvSpPr>
          <p:cNvPr id="130" name="Shape 128"/>
          <p:cNvSpPr/>
          <p:nvPr/>
        </p:nvSpPr>
        <p:spPr>
          <a:xfrm>
            <a:off x="5875934" y="3794760"/>
            <a:ext cx="1024585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5912510" y="3849624"/>
            <a:ext cx="951433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sec</a:t>
            </a:r>
            <a:endParaRPr lang="en-US" sz="620" dirty="0"/>
          </a:p>
        </p:txBody>
      </p:sp>
      <p:sp>
        <p:nvSpPr>
          <p:cNvPr id="132" name="Shape 130"/>
          <p:cNvSpPr/>
          <p:nvPr/>
        </p:nvSpPr>
        <p:spPr>
          <a:xfrm>
            <a:off x="6900520" y="3794760"/>
            <a:ext cx="910742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937096" y="3849624"/>
            <a:ext cx="83759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50.0%</a:t>
            </a:r>
            <a:endParaRPr lang="en-US" sz="620" dirty="0"/>
          </a:p>
        </p:txBody>
      </p:sp>
      <p:sp>
        <p:nvSpPr>
          <p:cNvPr id="134" name="Shape 132"/>
          <p:cNvSpPr/>
          <p:nvPr/>
        </p:nvSpPr>
        <p:spPr>
          <a:xfrm>
            <a:off x="7811262" y="3794760"/>
            <a:ext cx="79690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7847838" y="3849624"/>
            <a:ext cx="723748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12.5%</a:t>
            </a:r>
            <a:endParaRPr lang="en-US" sz="620" dirty="0"/>
          </a:p>
        </p:txBody>
      </p:sp>
      <p:sp>
        <p:nvSpPr>
          <p:cNvPr id="136" name="Shape 134"/>
          <p:cNvSpPr/>
          <p:nvPr/>
        </p:nvSpPr>
        <p:spPr>
          <a:xfrm>
            <a:off x="8608162" y="3794760"/>
            <a:ext cx="3187598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8644738" y="3849624"/>
            <a:ext cx="3114446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signal — operational cause must be validated before final CAP assignment.</a:t>
            </a:r>
            <a:endParaRPr lang="en-US" sz="620" dirty="0"/>
          </a:p>
        </p:txBody>
      </p:sp>
      <p:sp>
        <p:nvSpPr>
          <p:cNvPr id="138" name="Shape 136"/>
          <p:cNvSpPr/>
          <p:nvPr/>
        </p:nvSpPr>
        <p:spPr>
          <a:xfrm>
            <a:off x="411480" y="4187952"/>
            <a:ext cx="1593799" cy="393192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448056" y="4242816"/>
            <a:ext cx="1520647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Ziad Sayed Hassan</a:t>
            </a:r>
            <a:endParaRPr lang="en-US" sz="620" dirty="0"/>
          </a:p>
        </p:txBody>
      </p:sp>
      <p:sp>
        <p:nvSpPr>
          <p:cNvPr id="140" name="Shape 138"/>
          <p:cNvSpPr/>
          <p:nvPr/>
        </p:nvSpPr>
        <p:spPr>
          <a:xfrm>
            <a:off x="2005279" y="4187952"/>
            <a:ext cx="1366114" cy="393192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2041855" y="4242816"/>
            <a:ext cx="1292962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620" dirty="0"/>
          </a:p>
        </p:txBody>
      </p:sp>
      <p:sp>
        <p:nvSpPr>
          <p:cNvPr id="142" name="Shape 140"/>
          <p:cNvSpPr/>
          <p:nvPr/>
        </p:nvSpPr>
        <p:spPr>
          <a:xfrm>
            <a:off x="3371393" y="4187952"/>
            <a:ext cx="1479956" cy="393192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3407969" y="4242816"/>
            <a:ext cx="140680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CPV</a:t>
            </a:r>
            <a:endParaRPr lang="en-US" sz="620" dirty="0"/>
          </a:p>
        </p:txBody>
      </p:sp>
      <p:sp>
        <p:nvSpPr>
          <p:cNvPr id="144" name="Shape 142"/>
          <p:cNvSpPr/>
          <p:nvPr/>
        </p:nvSpPr>
        <p:spPr>
          <a:xfrm>
            <a:off x="4851349" y="4187952"/>
            <a:ext cx="1024585" cy="393192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4887925" y="4242816"/>
            <a:ext cx="951433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822 AED</a:t>
            </a:r>
            <a:endParaRPr lang="en-US" sz="620" dirty="0"/>
          </a:p>
        </p:txBody>
      </p:sp>
      <p:sp>
        <p:nvSpPr>
          <p:cNvPr id="146" name="Shape 144"/>
          <p:cNvSpPr/>
          <p:nvPr/>
        </p:nvSpPr>
        <p:spPr>
          <a:xfrm>
            <a:off x="5875934" y="4187952"/>
            <a:ext cx="1024585" cy="393192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5912510" y="4242816"/>
            <a:ext cx="951433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214 AED</a:t>
            </a:r>
            <a:endParaRPr lang="en-US" sz="620" dirty="0"/>
          </a:p>
        </p:txBody>
      </p:sp>
      <p:sp>
        <p:nvSpPr>
          <p:cNvPr id="148" name="Shape 146"/>
          <p:cNvSpPr/>
          <p:nvPr/>
        </p:nvSpPr>
        <p:spPr>
          <a:xfrm>
            <a:off x="6900520" y="4187952"/>
            <a:ext cx="910742" cy="393192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6937096" y="4242816"/>
            <a:ext cx="83759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26.0%</a:t>
            </a:r>
            <a:endParaRPr lang="en-US" sz="620" dirty="0"/>
          </a:p>
        </p:txBody>
      </p:sp>
      <p:sp>
        <p:nvSpPr>
          <p:cNvPr id="150" name="Shape 148"/>
          <p:cNvSpPr/>
          <p:nvPr/>
        </p:nvSpPr>
        <p:spPr>
          <a:xfrm>
            <a:off x="7811262" y="4187952"/>
            <a:ext cx="796900" cy="393192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7847838" y="4242816"/>
            <a:ext cx="723748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7.4%</a:t>
            </a:r>
            <a:endParaRPr lang="en-US" sz="620" dirty="0"/>
          </a:p>
        </p:txBody>
      </p:sp>
      <p:sp>
        <p:nvSpPr>
          <p:cNvPr id="152" name="Shape 150"/>
          <p:cNvSpPr/>
          <p:nvPr/>
        </p:nvSpPr>
        <p:spPr>
          <a:xfrm>
            <a:off x="8608162" y="4187952"/>
            <a:ext cx="3187598" cy="393192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8644738" y="4242816"/>
            <a:ext cx="3114446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signal — operational cause must be validated before final CAP assignment.</a:t>
            </a:r>
            <a:endParaRPr lang="en-US" sz="620" dirty="0"/>
          </a:p>
        </p:txBody>
      </p:sp>
      <p:sp>
        <p:nvSpPr>
          <p:cNvPr id="154" name="Shape 152"/>
          <p:cNvSpPr/>
          <p:nvPr/>
        </p:nvSpPr>
        <p:spPr>
          <a:xfrm>
            <a:off x="411480" y="4581144"/>
            <a:ext cx="1593799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448056" y="4636008"/>
            <a:ext cx="1520647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Samya Ismail</a:t>
            </a:r>
            <a:endParaRPr lang="en-US" sz="620" dirty="0"/>
          </a:p>
        </p:txBody>
      </p:sp>
      <p:sp>
        <p:nvSpPr>
          <p:cNvPr id="156" name="Shape 154"/>
          <p:cNvSpPr/>
          <p:nvPr/>
        </p:nvSpPr>
        <p:spPr>
          <a:xfrm>
            <a:off x="2005279" y="4581144"/>
            <a:ext cx="1366114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2041855" y="4636008"/>
            <a:ext cx="1292962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Specialist</a:t>
            </a:r>
            <a:endParaRPr lang="en-US" sz="620" dirty="0"/>
          </a:p>
        </p:txBody>
      </p:sp>
      <p:sp>
        <p:nvSpPr>
          <p:cNvPr id="158" name="Shape 156"/>
          <p:cNvSpPr/>
          <p:nvPr/>
        </p:nvSpPr>
        <p:spPr>
          <a:xfrm>
            <a:off x="3371393" y="4581144"/>
            <a:ext cx="1479956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3407969" y="4636008"/>
            <a:ext cx="140680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Channels growth rate</a:t>
            </a:r>
            <a:endParaRPr lang="en-US" sz="620" dirty="0"/>
          </a:p>
        </p:txBody>
      </p:sp>
      <p:sp>
        <p:nvSpPr>
          <p:cNvPr id="160" name="Shape 158"/>
          <p:cNvSpPr/>
          <p:nvPr/>
        </p:nvSpPr>
        <p:spPr>
          <a:xfrm>
            <a:off x="4851349" y="4581144"/>
            <a:ext cx="1024585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4887925" y="4636008"/>
            <a:ext cx="951433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7.0%</a:t>
            </a:r>
            <a:endParaRPr lang="en-US" sz="620" dirty="0"/>
          </a:p>
        </p:txBody>
      </p:sp>
      <p:sp>
        <p:nvSpPr>
          <p:cNvPr id="162" name="Shape 160"/>
          <p:cNvSpPr/>
          <p:nvPr/>
        </p:nvSpPr>
        <p:spPr>
          <a:xfrm>
            <a:off x="5875934" y="4581144"/>
            <a:ext cx="1024585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5912510" y="4636008"/>
            <a:ext cx="951433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10.0%</a:t>
            </a:r>
            <a:endParaRPr lang="en-US" sz="620" dirty="0"/>
          </a:p>
        </p:txBody>
      </p:sp>
      <p:sp>
        <p:nvSpPr>
          <p:cNvPr id="164" name="Shape 162"/>
          <p:cNvSpPr/>
          <p:nvPr/>
        </p:nvSpPr>
        <p:spPr>
          <a:xfrm>
            <a:off x="6900520" y="4581144"/>
            <a:ext cx="910742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6937096" y="4636008"/>
            <a:ext cx="83759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70.0%</a:t>
            </a:r>
            <a:endParaRPr lang="en-US" sz="620" dirty="0"/>
          </a:p>
        </p:txBody>
      </p:sp>
      <p:sp>
        <p:nvSpPr>
          <p:cNvPr id="166" name="Shape 164"/>
          <p:cNvSpPr/>
          <p:nvPr/>
        </p:nvSpPr>
        <p:spPr>
          <a:xfrm>
            <a:off x="7811262" y="4581144"/>
            <a:ext cx="79690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7847838" y="4636008"/>
            <a:ext cx="723748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6.0%</a:t>
            </a:r>
            <a:endParaRPr lang="en-US" sz="620" dirty="0"/>
          </a:p>
        </p:txBody>
      </p:sp>
      <p:sp>
        <p:nvSpPr>
          <p:cNvPr id="168" name="Shape 166"/>
          <p:cNvSpPr/>
          <p:nvPr/>
        </p:nvSpPr>
        <p:spPr>
          <a:xfrm>
            <a:off x="8608162" y="4581144"/>
            <a:ext cx="3187598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8644738" y="4636008"/>
            <a:ext cx="3114446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signal — operational cause must be validated before final CAP assignment.</a:t>
            </a:r>
            <a:endParaRPr lang="en-US" sz="620" dirty="0"/>
          </a:p>
        </p:txBody>
      </p:sp>
      <p:sp>
        <p:nvSpPr>
          <p:cNvPr id="170" name="Shape 168"/>
          <p:cNvSpPr/>
          <p:nvPr/>
        </p:nvSpPr>
        <p:spPr>
          <a:xfrm>
            <a:off x="502920" y="5815584"/>
            <a:ext cx="11201400" cy="384048"/>
          </a:xfrm>
          <a:prstGeom prst="roundRect">
            <a:avLst>
              <a:gd name="adj" fmla="val 14286"/>
            </a:avLst>
          </a:prstGeom>
          <a:solidFill>
            <a:srgbClr val="FFF9E8"/>
          </a:solidFill>
          <a:ln w="9525">
            <a:solidFill>
              <a:srgbClr val="F0CE7A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749808" y="5952744"/>
            <a:ext cx="10698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Important: this slide separates evidence from assumption. The KPI identifies where to investigate; it does not invent an operational root cause.</a:t>
            </a:r>
            <a:endParaRPr lang="en-US" sz="77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2801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Corrective Action Tracker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56616" y="512064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Data-driven workstreams created from the highest weighted-loss gaps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8854135" y="22860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2026  |  SGH Offshore Branch  |  25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EF5"/>
          </a:solidFill>
          <a:ln w="8890">
            <a:solidFill>
              <a:srgbClr val="E8EE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6693408"/>
            <a:ext cx="228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— INTERNAL USE ONLY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61343" y="6693408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>
            <a:off x="411480" y="1188720"/>
            <a:ext cx="1024585" cy="438912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" y="1243584"/>
            <a:ext cx="951433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1436065" y="1188720"/>
            <a:ext cx="1707642" cy="438912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72641" y="1243584"/>
            <a:ext cx="163449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Workstream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3143707" y="1188720"/>
            <a:ext cx="1366114" cy="438912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0283" y="1243584"/>
            <a:ext cx="129296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4509821" y="1188720"/>
            <a:ext cx="2049170" cy="438912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46397" y="1243584"/>
            <a:ext cx="197601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6558991" y="1188720"/>
            <a:ext cx="3301441" cy="438912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95567" y="1243584"/>
            <a:ext cx="3228289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9860432" y="1188720"/>
            <a:ext cx="1935328" cy="438912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97008" y="1243584"/>
            <a:ext cx="186217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measure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411480" y="1627632"/>
            <a:ext cx="1024585" cy="731520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" y="1682496"/>
            <a:ext cx="951433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1436065" y="1627632"/>
            <a:ext cx="1707642" cy="731520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72641" y="1682496"/>
            <a:ext cx="163449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3143707" y="1627632"/>
            <a:ext cx="1366114" cy="731520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80283" y="1682496"/>
            <a:ext cx="1292962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needed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4509821" y="1627632"/>
            <a:ext cx="2049170" cy="731520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46397" y="1682496"/>
            <a:ext cx="1976018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Mina, Samya, Hossam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6558991" y="1627632"/>
            <a:ext cx="3301441" cy="731520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95567" y="1682496"/>
            <a:ext cx="3228289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workflow / staffing / handoff. Reduce response time and monitor affected employees weekly.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9860432" y="1627632"/>
            <a:ext cx="1935328" cy="731520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97008" y="1682496"/>
            <a:ext cx="1862176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 moves toward 30 min target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411480" y="2359152"/>
            <a:ext cx="1024585" cy="731520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" y="2414016"/>
            <a:ext cx="951433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1436065" y="2359152"/>
            <a:ext cx="1707642" cy="731520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72641" y="2414016"/>
            <a:ext cx="163449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3143707" y="2359152"/>
            <a:ext cx="1366114" cy="731520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80283" y="2414016"/>
            <a:ext cx="1292962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needed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4509821" y="2359152"/>
            <a:ext cx="2049170" cy="731520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46397" y="2414016"/>
            <a:ext cx="1976018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Bahy, Ziad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6558991" y="2359152"/>
            <a:ext cx="3301441" cy="731520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95567" y="2414016"/>
            <a:ext cx="3228289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CR workflow, targeting, offer, landing page and sales handoff.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9860432" y="2359152"/>
            <a:ext cx="1935328" cy="731520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97008" y="2414016"/>
            <a:ext cx="1862176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 gap decreases in next review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411480" y="3090672"/>
            <a:ext cx="1024585" cy="73152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8056" y="3145536"/>
            <a:ext cx="951433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1436065" y="3090672"/>
            <a:ext cx="1707642" cy="73152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72641" y="3145536"/>
            <a:ext cx="163449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Leads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3143707" y="3090672"/>
            <a:ext cx="1366114" cy="73152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180283" y="3145536"/>
            <a:ext cx="1292962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needed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4509821" y="3090672"/>
            <a:ext cx="2049170" cy="73152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46397" y="3145536"/>
            <a:ext cx="1976018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Bahy, Ziad, Ahmed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6558991" y="3090672"/>
            <a:ext cx="3301441" cy="73152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95567" y="3145536"/>
            <a:ext cx="3228289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lead-volume drivers and focused coaching for affected employees.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9860432" y="3090672"/>
            <a:ext cx="1935328" cy="73152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897008" y="3145536"/>
            <a:ext cx="1862176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achievement moves toward target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411480" y="3822192"/>
            <a:ext cx="1024585" cy="731520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8056" y="3877056"/>
            <a:ext cx="951433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1436065" y="3822192"/>
            <a:ext cx="1707642" cy="731520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472641" y="3877056"/>
            <a:ext cx="163449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Performance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3143707" y="3822192"/>
            <a:ext cx="1366114" cy="731520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180283" y="3877056"/>
            <a:ext cx="1292962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needed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4509821" y="3822192"/>
            <a:ext cx="2049170" cy="731520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46397" y="3877056"/>
            <a:ext cx="1976018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Abdelrahman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6558991" y="3822192"/>
            <a:ext cx="3301441" cy="731520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95567" y="3877056"/>
            <a:ext cx="3228289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uptime process and page-load speed ownership.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9860432" y="3822192"/>
            <a:ext cx="1935328" cy="731520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897008" y="3877056"/>
            <a:ext cx="1862176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Uptime approaches 100%; load speed approaches 3 sec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502920" y="5696712"/>
            <a:ext cx="11201400" cy="438912"/>
          </a:xfrm>
          <a:prstGeom prst="roundRect">
            <a:avLst>
              <a:gd name="adj" fmla="val 12500"/>
            </a:avLst>
          </a:prstGeom>
          <a:solidFill>
            <a:srgbClr val="102941"/>
          </a:solidFill>
          <a:ln w="9525">
            <a:solidFill>
              <a:srgbClr val="10294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49808" y="5870448"/>
            <a:ext cx="10698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needed before next review: confirm owner, due date and success evidence for every proposed workstream.</a:t>
            </a:r>
            <a:endParaRPr lang="en-US" sz="86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73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896112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91B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640080" y="124358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Summary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658368" y="19202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8DC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with cross-department priorities, next-review commitments and employee appendix.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7498080" y="969264"/>
            <a:ext cx="3611880" cy="4251960"/>
          </a:xfrm>
          <a:prstGeom prst="roundRect">
            <a:avLst>
              <a:gd name="adj" fmla="val 2025"/>
            </a:avLst>
          </a:prstGeom>
          <a:solidFill>
            <a:srgbClr val="123456"/>
          </a:solidFill>
          <a:ln w="9525">
            <a:solidFill>
              <a:srgbClr val="2A58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18120" y="131673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will review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18120" y="1810512"/>
            <a:ext cx="109728" cy="109728"/>
          </a:xfrm>
          <a:prstGeom prst="rect">
            <a:avLst/>
          </a:prstGeom>
          <a:solidFill>
            <a:srgbClr val="04958F"/>
          </a:solidFill>
          <a:ln w="12700">
            <a:solidFill>
              <a:srgbClr val="0495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173736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DCEA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Next-review scorecard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7818120" y="2468880"/>
            <a:ext cx="109728" cy="109728"/>
          </a:xfrm>
          <a:prstGeom prst="rect">
            <a:avLst/>
          </a:prstGeom>
          <a:solidFill>
            <a:srgbClr val="04958F"/>
          </a:solidFill>
          <a:ln w="12700">
            <a:solidFill>
              <a:srgbClr val="0495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239572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DCEA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/ due date decisions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7818120" y="3127248"/>
            <a:ext cx="109728" cy="109728"/>
          </a:xfrm>
          <a:prstGeom prst="rect">
            <a:avLst/>
          </a:prstGeom>
          <a:solidFill>
            <a:srgbClr val="04958F"/>
          </a:solidFill>
          <a:ln w="12700">
            <a:solidFill>
              <a:srgbClr val="0495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305409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DCEA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Combined employee appendix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8854135" y="32004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2026  |  SGH Offshore Branch  |  26</a:t>
            </a:r>
            <a:endParaRPr lang="en-US" sz="770" dirty="0"/>
          </a:p>
        </p:txBody>
      </p:sp>
      <p:sp>
        <p:nvSpPr>
          <p:cNvPr id="17" name="Text 15"/>
          <p:cNvSpPr/>
          <p:nvPr/>
        </p:nvSpPr>
        <p:spPr>
          <a:xfrm>
            <a:off x="640080" y="6272784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8F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— INTERNAL USE ONLY</a:t>
            </a:r>
            <a:endParaRPr lang="en-US" sz="620" dirty="0"/>
          </a:p>
        </p:txBody>
      </p:sp>
      <p:sp>
        <p:nvSpPr>
          <p:cNvPr id="18" name="Text 16"/>
          <p:cNvSpPr/>
          <p:nvPr/>
        </p:nvSpPr>
        <p:spPr>
          <a:xfrm>
            <a:off x="11478463" y="627278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8F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6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2801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Combined Management Summary / Next Review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56616" y="512064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be reviewed before the next Offshore performance cycle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8854135" y="22860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2026  |  SGH Offshore Branch  |  27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EF5"/>
          </a:solidFill>
          <a:ln w="8890">
            <a:solidFill>
              <a:srgbClr val="E8EE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6693408"/>
            <a:ext cx="228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— INTERNAL USE ONLY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61343" y="6693408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>
            <a:off x="502920" y="1170432"/>
            <a:ext cx="34290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53F49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170432"/>
            <a:ext cx="64008" cy="1078992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1316736"/>
            <a:ext cx="2651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RCM REJECTION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667512" y="156362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8.1% → ≤3%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667512" y="1883664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Pre-submission checklist and rejected case review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4297680" y="1170432"/>
            <a:ext cx="34290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53F49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1170432"/>
            <a:ext cx="64008" cy="1078992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62272" y="1316736"/>
            <a:ext cx="2651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RCM SUBMISSION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4462272" y="156362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75% → 90%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4462272" y="1883664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Aging case queue reviewed start / end of day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8092440" y="1170432"/>
            <a:ext cx="34290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53F49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92440" y="1170432"/>
            <a:ext cx="64008" cy="1078992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57032" y="1316736"/>
            <a:ext cx="2651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RESPONSE TIME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8257032" y="156362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min → 30 min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8257032" y="1883664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Leading driver loss reduced from 57.0%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502920" y="2743200"/>
            <a:ext cx="34290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53F49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2743200"/>
            <a:ext cx="64008" cy="1078992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" y="2889504"/>
            <a:ext cx="2651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OUTBOUND REACHABILITY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667512" y="31363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56.6% → 75%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667512" y="345643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attempt plan and callback discipline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4297680" y="2743200"/>
            <a:ext cx="34290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2A100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297680" y="2743200"/>
            <a:ext cx="64008" cy="1078992"/>
          </a:xfrm>
          <a:prstGeom prst="rect">
            <a:avLst/>
          </a:prstGeom>
          <a:solidFill>
            <a:srgbClr val="E2A100"/>
          </a:solidFill>
          <a:ln w="8890">
            <a:solidFill>
              <a:srgbClr val="E2A1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62272" y="2889504"/>
            <a:ext cx="2651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INBOUND BOOKING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4462272" y="31363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55.9% → 65%</a:t>
            </a:r>
            <a:endParaRPr lang="en-US" sz="1320" dirty="0"/>
          </a:p>
        </p:txBody>
      </p:sp>
      <p:sp>
        <p:nvSpPr>
          <p:cNvPr id="34" name="Text 32"/>
          <p:cNvSpPr/>
          <p:nvPr/>
        </p:nvSpPr>
        <p:spPr>
          <a:xfrm>
            <a:off x="4462272" y="345643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coaching while maintaining utilization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8092440" y="2743200"/>
            <a:ext cx="34290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2A100"/>
            </a:solidFill>
            <a:prstDash val="solid"/>
          </a:ln>
          <a:effectLst>
            <a:outerShdw sx="100000" sy="100000" kx="0" ky="0" algn="bl" rotWithShape="0" blurRad="12700" dist="50800" dir="2700000">
              <a:srgbClr val="B4C1D0">
                <a:alpha val="14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092440" y="2743200"/>
            <a:ext cx="64008" cy="1078992"/>
          </a:xfrm>
          <a:prstGeom prst="rect">
            <a:avLst/>
          </a:prstGeom>
          <a:solidFill>
            <a:srgbClr val="E2A100"/>
          </a:solidFill>
          <a:ln w="8890">
            <a:solidFill>
              <a:srgbClr val="E2A1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57032" y="2889504"/>
            <a:ext cx="2651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 / DUE DATES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8257032" y="31363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→ Confirmed</a:t>
            </a:r>
            <a:endParaRPr lang="en-US" sz="1320" dirty="0"/>
          </a:p>
        </p:txBody>
      </p:sp>
      <p:sp>
        <p:nvSpPr>
          <p:cNvPr id="39" name="Text 37"/>
          <p:cNvSpPr/>
          <p:nvPr/>
        </p:nvSpPr>
        <p:spPr>
          <a:xfrm>
            <a:off x="8257032" y="345643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proposed action has owner, due and success measure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502920" y="4846320"/>
            <a:ext cx="1120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management decision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502920" y="5157216"/>
            <a:ext cx="11201400" cy="36576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5340096"/>
            <a:ext cx="11201400" cy="640080"/>
          </a:xfrm>
          <a:prstGeom prst="roundRect">
            <a:avLst>
              <a:gd name="adj" fmla="val 8571"/>
            </a:avLst>
          </a:prstGeom>
          <a:solidFill>
            <a:srgbClr val="FFF7E7"/>
          </a:solidFill>
          <a:ln w="9525">
            <a:solidFill>
              <a:srgbClr val="F0C36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9808" y="5559552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RCM controls first, then Marketing Response Time / CR ownership, then Outbound reachability. Inbound should stay in maintenance mode with focused booking and attendance coaching.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2801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Combined Employee Appendix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56616" y="512064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One-page reference for employees requiring action or management follow-up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8854135" y="22860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2026  |  SGH Offshore Branch  |  28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EF5"/>
          </a:solidFill>
          <a:ln w="8890">
            <a:solidFill>
              <a:srgbClr val="E8EE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6693408"/>
            <a:ext cx="228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— INTERNAL USE ONLY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61343" y="6693408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>
            <a:off x="365760" y="1005840"/>
            <a:ext cx="1147572" cy="329184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1060704"/>
            <a:ext cx="10744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Area</a:t>
            </a:r>
            <a:endParaRPr lang="en-US" sz="630" dirty="0"/>
          </a:p>
        </p:txBody>
      </p:sp>
      <p:sp>
        <p:nvSpPr>
          <p:cNvPr id="12" name="Shape 10"/>
          <p:cNvSpPr/>
          <p:nvPr/>
        </p:nvSpPr>
        <p:spPr>
          <a:xfrm>
            <a:off x="1513332" y="1005840"/>
            <a:ext cx="2639416" cy="329184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49908" y="1060704"/>
            <a:ext cx="256626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</a:t>
            </a:r>
            <a:endParaRPr lang="en-US" sz="630" dirty="0"/>
          </a:p>
        </p:txBody>
      </p:sp>
      <p:sp>
        <p:nvSpPr>
          <p:cNvPr id="14" name="Shape 12"/>
          <p:cNvSpPr/>
          <p:nvPr/>
        </p:nvSpPr>
        <p:spPr>
          <a:xfrm>
            <a:off x="4152748" y="1005840"/>
            <a:ext cx="1950872" cy="329184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89324" y="1060704"/>
            <a:ext cx="18777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/ Grade</a:t>
            </a:r>
            <a:endParaRPr lang="en-US" sz="630" dirty="0"/>
          </a:p>
        </p:txBody>
      </p:sp>
      <p:sp>
        <p:nvSpPr>
          <p:cNvPr id="16" name="Shape 14"/>
          <p:cNvSpPr/>
          <p:nvPr/>
        </p:nvSpPr>
        <p:spPr>
          <a:xfrm>
            <a:off x="6103620" y="1005840"/>
            <a:ext cx="1032815" cy="329184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0196" y="1060704"/>
            <a:ext cx="959663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630" dirty="0"/>
          </a:p>
        </p:txBody>
      </p:sp>
      <p:sp>
        <p:nvSpPr>
          <p:cNvPr id="18" name="Shape 16"/>
          <p:cNvSpPr/>
          <p:nvPr/>
        </p:nvSpPr>
        <p:spPr>
          <a:xfrm>
            <a:off x="7136435" y="1005840"/>
            <a:ext cx="1032815" cy="329184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3011" y="1060704"/>
            <a:ext cx="959663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</a:t>
            </a:r>
            <a:endParaRPr lang="en-US" sz="630" dirty="0"/>
          </a:p>
        </p:txBody>
      </p:sp>
      <p:sp>
        <p:nvSpPr>
          <p:cNvPr id="20" name="Shape 18"/>
          <p:cNvSpPr/>
          <p:nvPr/>
        </p:nvSpPr>
        <p:spPr>
          <a:xfrm>
            <a:off x="8169250" y="1005840"/>
            <a:ext cx="2524658" cy="329184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05826" y="1060704"/>
            <a:ext cx="2451506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Gap</a:t>
            </a:r>
            <a:endParaRPr lang="en-US" sz="630" dirty="0"/>
          </a:p>
        </p:txBody>
      </p:sp>
      <p:sp>
        <p:nvSpPr>
          <p:cNvPr id="22" name="Shape 20"/>
          <p:cNvSpPr/>
          <p:nvPr/>
        </p:nvSpPr>
        <p:spPr>
          <a:xfrm>
            <a:off x="10693908" y="1005840"/>
            <a:ext cx="1147572" cy="329184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30484" y="1060704"/>
            <a:ext cx="10744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Status</a:t>
            </a:r>
            <a:endParaRPr lang="en-US" sz="630" dirty="0"/>
          </a:p>
        </p:txBody>
      </p:sp>
      <p:sp>
        <p:nvSpPr>
          <p:cNvPr id="24" name="Shape 22"/>
          <p:cNvSpPr/>
          <p:nvPr/>
        </p:nvSpPr>
        <p:spPr>
          <a:xfrm>
            <a:off x="365760" y="1335024"/>
            <a:ext cx="1147572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1389888"/>
            <a:ext cx="107442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RCM</a:t>
            </a:r>
            <a:endParaRPr lang="en-US" sz="590" dirty="0"/>
          </a:p>
        </p:txBody>
      </p:sp>
      <p:sp>
        <p:nvSpPr>
          <p:cNvPr id="26" name="Shape 24"/>
          <p:cNvSpPr/>
          <p:nvPr/>
        </p:nvSpPr>
        <p:spPr>
          <a:xfrm>
            <a:off x="1513332" y="1335024"/>
            <a:ext cx="2639416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49908" y="1389888"/>
            <a:ext cx="2566264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Salma Hussein El-Ramly</a:t>
            </a:r>
            <a:endParaRPr lang="en-US" sz="590" dirty="0"/>
          </a:p>
        </p:txBody>
      </p:sp>
      <p:sp>
        <p:nvSpPr>
          <p:cNvPr id="28" name="Shape 26"/>
          <p:cNvSpPr/>
          <p:nvPr/>
        </p:nvSpPr>
        <p:spPr>
          <a:xfrm>
            <a:off x="4152748" y="1335024"/>
            <a:ext cx="1950872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89324" y="1389888"/>
            <a:ext cx="187772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Unsatisfactory</a:t>
            </a:r>
            <a:endParaRPr lang="en-US" sz="590" dirty="0"/>
          </a:p>
        </p:txBody>
      </p:sp>
      <p:sp>
        <p:nvSpPr>
          <p:cNvPr id="30" name="Shape 28"/>
          <p:cNvSpPr/>
          <p:nvPr/>
        </p:nvSpPr>
        <p:spPr>
          <a:xfrm>
            <a:off x="6103620" y="1335024"/>
            <a:ext cx="1032815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40196" y="1389888"/>
            <a:ext cx="959663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53%</a:t>
            </a:r>
            <a:endParaRPr lang="en-US" sz="590" dirty="0"/>
          </a:p>
        </p:txBody>
      </p:sp>
      <p:sp>
        <p:nvSpPr>
          <p:cNvPr id="32" name="Shape 30"/>
          <p:cNvSpPr/>
          <p:nvPr/>
        </p:nvSpPr>
        <p:spPr>
          <a:xfrm>
            <a:off x="7136435" y="1335024"/>
            <a:ext cx="1032815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73011" y="1389888"/>
            <a:ext cx="959663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590" dirty="0"/>
          </a:p>
        </p:txBody>
      </p:sp>
      <p:sp>
        <p:nvSpPr>
          <p:cNvPr id="34" name="Shape 32"/>
          <p:cNvSpPr/>
          <p:nvPr/>
        </p:nvSpPr>
        <p:spPr>
          <a:xfrm>
            <a:off x="8169250" y="1335024"/>
            <a:ext cx="2524658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05826" y="1389888"/>
            <a:ext cx="2451506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Rejection 13.6% / Submission 65%</a:t>
            </a:r>
            <a:endParaRPr lang="en-US" sz="590" dirty="0"/>
          </a:p>
        </p:txBody>
      </p:sp>
      <p:sp>
        <p:nvSpPr>
          <p:cNvPr id="36" name="Shape 34"/>
          <p:cNvSpPr/>
          <p:nvPr/>
        </p:nvSpPr>
        <p:spPr>
          <a:xfrm>
            <a:off x="10693908" y="1335024"/>
            <a:ext cx="1147572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30484" y="1389888"/>
            <a:ext cx="107442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 defined</a:t>
            </a:r>
            <a:endParaRPr lang="en-US" sz="590" dirty="0"/>
          </a:p>
        </p:txBody>
      </p:sp>
      <p:sp>
        <p:nvSpPr>
          <p:cNvPr id="38" name="Shape 36"/>
          <p:cNvSpPr/>
          <p:nvPr/>
        </p:nvSpPr>
        <p:spPr>
          <a:xfrm>
            <a:off x="365760" y="1673352"/>
            <a:ext cx="1147572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" y="1728216"/>
            <a:ext cx="107442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RCM</a:t>
            </a:r>
            <a:endParaRPr lang="en-US" sz="590" dirty="0"/>
          </a:p>
        </p:txBody>
      </p:sp>
      <p:sp>
        <p:nvSpPr>
          <p:cNvPr id="40" name="Shape 38"/>
          <p:cNvSpPr/>
          <p:nvPr/>
        </p:nvSpPr>
        <p:spPr>
          <a:xfrm>
            <a:off x="1513332" y="1673352"/>
            <a:ext cx="2639416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549908" y="1728216"/>
            <a:ext cx="2566264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Omar Abdelhamid Konswa</a:t>
            </a:r>
            <a:endParaRPr lang="en-US" sz="590" dirty="0"/>
          </a:p>
        </p:txBody>
      </p:sp>
      <p:sp>
        <p:nvSpPr>
          <p:cNvPr id="42" name="Shape 40"/>
          <p:cNvSpPr/>
          <p:nvPr/>
        </p:nvSpPr>
        <p:spPr>
          <a:xfrm>
            <a:off x="4152748" y="1673352"/>
            <a:ext cx="1950872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89324" y="1728216"/>
            <a:ext cx="187772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Unsatisfactory</a:t>
            </a:r>
            <a:endParaRPr lang="en-US" sz="590" dirty="0"/>
          </a:p>
        </p:txBody>
      </p:sp>
      <p:sp>
        <p:nvSpPr>
          <p:cNvPr id="44" name="Shape 42"/>
          <p:cNvSpPr/>
          <p:nvPr/>
        </p:nvSpPr>
        <p:spPr>
          <a:xfrm>
            <a:off x="6103620" y="1673352"/>
            <a:ext cx="1032815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40196" y="1728216"/>
            <a:ext cx="959663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57%</a:t>
            </a:r>
            <a:endParaRPr lang="en-US" sz="590" dirty="0"/>
          </a:p>
        </p:txBody>
      </p:sp>
      <p:sp>
        <p:nvSpPr>
          <p:cNvPr id="46" name="Shape 44"/>
          <p:cNvSpPr/>
          <p:nvPr/>
        </p:nvSpPr>
        <p:spPr>
          <a:xfrm>
            <a:off x="7136435" y="1673352"/>
            <a:ext cx="1032815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73011" y="1728216"/>
            <a:ext cx="959663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590" dirty="0"/>
          </a:p>
        </p:txBody>
      </p:sp>
      <p:sp>
        <p:nvSpPr>
          <p:cNvPr id="48" name="Shape 46"/>
          <p:cNvSpPr/>
          <p:nvPr/>
        </p:nvSpPr>
        <p:spPr>
          <a:xfrm>
            <a:off x="8169250" y="1673352"/>
            <a:ext cx="2524658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05826" y="1728216"/>
            <a:ext cx="2451506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Rejection 9.6% / Submission 63%</a:t>
            </a:r>
            <a:endParaRPr lang="en-US" sz="590" dirty="0"/>
          </a:p>
        </p:txBody>
      </p:sp>
      <p:sp>
        <p:nvSpPr>
          <p:cNvPr id="50" name="Shape 48"/>
          <p:cNvSpPr/>
          <p:nvPr/>
        </p:nvSpPr>
        <p:spPr>
          <a:xfrm>
            <a:off x="10693908" y="1673352"/>
            <a:ext cx="1147572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730484" y="1728216"/>
            <a:ext cx="107442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 defined</a:t>
            </a:r>
            <a:endParaRPr lang="en-US" sz="590" dirty="0"/>
          </a:p>
        </p:txBody>
      </p:sp>
      <p:sp>
        <p:nvSpPr>
          <p:cNvPr id="52" name="Shape 50"/>
          <p:cNvSpPr/>
          <p:nvPr/>
        </p:nvSpPr>
        <p:spPr>
          <a:xfrm>
            <a:off x="365760" y="2011680"/>
            <a:ext cx="1147572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02336" y="2066544"/>
            <a:ext cx="107442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RCM</a:t>
            </a:r>
            <a:endParaRPr lang="en-US" sz="590" dirty="0"/>
          </a:p>
        </p:txBody>
      </p:sp>
      <p:sp>
        <p:nvSpPr>
          <p:cNvPr id="54" name="Shape 52"/>
          <p:cNvSpPr/>
          <p:nvPr/>
        </p:nvSpPr>
        <p:spPr>
          <a:xfrm>
            <a:off x="1513332" y="2011680"/>
            <a:ext cx="2639416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549908" y="2066544"/>
            <a:ext cx="2566264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Nouran Salah Anwar Mohamed Dekrori</a:t>
            </a:r>
            <a:endParaRPr lang="en-US" sz="590" dirty="0"/>
          </a:p>
        </p:txBody>
      </p:sp>
      <p:sp>
        <p:nvSpPr>
          <p:cNvPr id="56" name="Shape 54"/>
          <p:cNvSpPr/>
          <p:nvPr/>
        </p:nvSpPr>
        <p:spPr>
          <a:xfrm>
            <a:off x="4152748" y="2011680"/>
            <a:ext cx="1950872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89324" y="2066544"/>
            <a:ext cx="187772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Unsatisfactory</a:t>
            </a:r>
            <a:endParaRPr lang="en-US" sz="590" dirty="0"/>
          </a:p>
        </p:txBody>
      </p:sp>
      <p:sp>
        <p:nvSpPr>
          <p:cNvPr id="58" name="Shape 56"/>
          <p:cNvSpPr/>
          <p:nvPr/>
        </p:nvSpPr>
        <p:spPr>
          <a:xfrm>
            <a:off x="6103620" y="2011680"/>
            <a:ext cx="1032815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40196" y="2066544"/>
            <a:ext cx="959663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61%</a:t>
            </a:r>
            <a:endParaRPr lang="en-US" sz="590" dirty="0"/>
          </a:p>
        </p:txBody>
      </p:sp>
      <p:sp>
        <p:nvSpPr>
          <p:cNvPr id="60" name="Shape 58"/>
          <p:cNvSpPr/>
          <p:nvPr/>
        </p:nvSpPr>
        <p:spPr>
          <a:xfrm>
            <a:off x="7136435" y="2011680"/>
            <a:ext cx="1032815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73011" y="2066544"/>
            <a:ext cx="959663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590" dirty="0"/>
          </a:p>
        </p:txBody>
      </p:sp>
      <p:sp>
        <p:nvSpPr>
          <p:cNvPr id="62" name="Shape 60"/>
          <p:cNvSpPr/>
          <p:nvPr/>
        </p:nvSpPr>
        <p:spPr>
          <a:xfrm>
            <a:off x="8169250" y="2011680"/>
            <a:ext cx="2524658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205826" y="2066544"/>
            <a:ext cx="2451506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Rejection 9.7% / Submission 75%</a:t>
            </a:r>
            <a:endParaRPr lang="en-US" sz="590" dirty="0"/>
          </a:p>
        </p:txBody>
      </p:sp>
      <p:sp>
        <p:nvSpPr>
          <p:cNvPr id="64" name="Shape 62"/>
          <p:cNvSpPr/>
          <p:nvPr/>
        </p:nvSpPr>
        <p:spPr>
          <a:xfrm>
            <a:off x="10693908" y="2011680"/>
            <a:ext cx="1147572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730484" y="2066544"/>
            <a:ext cx="107442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 defined</a:t>
            </a:r>
            <a:endParaRPr lang="en-US" sz="590" dirty="0"/>
          </a:p>
        </p:txBody>
      </p:sp>
      <p:sp>
        <p:nvSpPr>
          <p:cNvPr id="66" name="Shape 64"/>
          <p:cNvSpPr/>
          <p:nvPr/>
        </p:nvSpPr>
        <p:spPr>
          <a:xfrm>
            <a:off x="365760" y="2350008"/>
            <a:ext cx="1147572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02336" y="2404872"/>
            <a:ext cx="107442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RCM</a:t>
            </a:r>
            <a:endParaRPr lang="en-US" sz="590" dirty="0"/>
          </a:p>
        </p:txBody>
      </p:sp>
      <p:sp>
        <p:nvSpPr>
          <p:cNvPr id="68" name="Shape 66"/>
          <p:cNvSpPr/>
          <p:nvPr/>
        </p:nvSpPr>
        <p:spPr>
          <a:xfrm>
            <a:off x="1513332" y="2350008"/>
            <a:ext cx="2639416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549908" y="2404872"/>
            <a:ext cx="2566264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Hadeer Gamal Asaad Rashed</a:t>
            </a:r>
            <a:endParaRPr lang="en-US" sz="590" dirty="0"/>
          </a:p>
        </p:txBody>
      </p:sp>
      <p:sp>
        <p:nvSpPr>
          <p:cNvPr id="70" name="Shape 68"/>
          <p:cNvSpPr/>
          <p:nvPr/>
        </p:nvSpPr>
        <p:spPr>
          <a:xfrm>
            <a:off x="4152748" y="2350008"/>
            <a:ext cx="1950872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189324" y="2404872"/>
            <a:ext cx="187772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Unsatisfactory</a:t>
            </a:r>
            <a:endParaRPr lang="en-US" sz="590" dirty="0"/>
          </a:p>
        </p:txBody>
      </p:sp>
      <p:sp>
        <p:nvSpPr>
          <p:cNvPr id="72" name="Shape 70"/>
          <p:cNvSpPr/>
          <p:nvPr/>
        </p:nvSpPr>
        <p:spPr>
          <a:xfrm>
            <a:off x="6103620" y="2350008"/>
            <a:ext cx="1032815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40196" y="2404872"/>
            <a:ext cx="959663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57%</a:t>
            </a:r>
            <a:endParaRPr lang="en-US" sz="590" dirty="0"/>
          </a:p>
        </p:txBody>
      </p:sp>
      <p:sp>
        <p:nvSpPr>
          <p:cNvPr id="74" name="Shape 72"/>
          <p:cNvSpPr/>
          <p:nvPr/>
        </p:nvSpPr>
        <p:spPr>
          <a:xfrm>
            <a:off x="7136435" y="2350008"/>
            <a:ext cx="1032815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173011" y="2404872"/>
            <a:ext cx="959663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590" dirty="0"/>
          </a:p>
        </p:txBody>
      </p:sp>
      <p:sp>
        <p:nvSpPr>
          <p:cNvPr id="76" name="Shape 74"/>
          <p:cNvSpPr/>
          <p:nvPr/>
        </p:nvSpPr>
        <p:spPr>
          <a:xfrm>
            <a:off x="8169250" y="2350008"/>
            <a:ext cx="2524658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205826" y="2404872"/>
            <a:ext cx="2451506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Rejection 6.6% / Submission 66%</a:t>
            </a:r>
            <a:endParaRPr lang="en-US" sz="590" dirty="0"/>
          </a:p>
        </p:txBody>
      </p:sp>
      <p:sp>
        <p:nvSpPr>
          <p:cNvPr id="78" name="Shape 76"/>
          <p:cNvSpPr/>
          <p:nvPr/>
        </p:nvSpPr>
        <p:spPr>
          <a:xfrm>
            <a:off x="10693908" y="2350008"/>
            <a:ext cx="1147572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730484" y="2404872"/>
            <a:ext cx="107442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 defined</a:t>
            </a:r>
            <a:endParaRPr lang="en-US" sz="590" dirty="0"/>
          </a:p>
        </p:txBody>
      </p:sp>
      <p:sp>
        <p:nvSpPr>
          <p:cNvPr id="80" name="Shape 78"/>
          <p:cNvSpPr/>
          <p:nvPr/>
        </p:nvSpPr>
        <p:spPr>
          <a:xfrm>
            <a:off x="365760" y="2688336"/>
            <a:ext cx="1147572" cy="338328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02336" y="2743200"/>
            <a:ext cx="107442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Outbound</a:t>
            </a:r>
            <a:endParaRPr lang="en-US" sz="590" dirty="0"/>
          </a:p>
        </p:txBody>
      </p:sp>
      <p:sp>
        <p:nvSpPr>
          <p:cNvPr id="82" name="Shape 80"/>
          <p:cNvSpPr/>
          <p:nvPr/>
        </p:nvSpPr>
        <p:spPr>
          <a:xfrm>
            <a:off x="1513332" y="2688336"/>
            <a:ext cx="2639416" cy="338328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549908" y="2743200"/>
            <a:ext cx="2566264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Aya Shaaban Abdelazim Mohamed</a:t>
            </a:r>
            <a:endParaRPr lang="en-US" sz="590" dirty="0"/>
          </a:p>
        </p:txBody>
      </p:sp>
      <p:sp>
        <p:nvSpPr>
          <p:cNvPr id="84" name="Shape 82"/>
          <p:cNvSpPr/>
          <p:nvPr/>
        </p:nvSpPr>
        <p:spPr>
          <a:xfrm>
            <a:off x="4152748" y="2688336"/>
            <a:ext cx="1950872" cy="338328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189324" y="2743200"/>
            <a:ext cx="187772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 Average</a:t>
            </a:r>
            <a:endParaRPr lang="en-US" sz="590" dirty="0"/>
          </a:p>
        </p:txBody>
      </p:sp>
      <p:sp>
        <p:nvSpPr>
          <p:cNvPr id="86" name="Shape 84"/>
          <p:cNvSpPr/>
          <p:nvPr/>
        </p:nvSpPr>
        <p:spPr>
          <a:xfrm>
            <a:off x="6103620" y="2688336"/>
            <a:ext cx="1032815" cy="338328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140196" y="2743200"/>
            <a:ext cx="959663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75.42%</a:t>
            </a:r>
            <a:endParaRPr lang="en-US" sz="590" dirty="0"/>
          </a:p>
        </p:txBody>
      </p:sp>
      <p:sp>
        <p:nvSpPr>
          <p:cNvPr id="88" name="Shape 86"/>
          <p:cNvSpPr/>
          <p:nvPr/>
        </p:nvSpPr>
        <p:spPr>
          <a:xfrm>
            <a:off x="7136435" y="2688336"/>
            <a:ext cx="1032815" cy="338328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173011" y="2743200"/>
            <a:ext cx="959663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590" dirty="0"/>
          </a:p>
        </p:txBody>
      </p:sp>
      <p:sp>
        <p:nvSpPr>
          <p:cNvPr id="90" name="Shape 88"/>
          <p:cNvSpPr/>
          <p:nvPr/>
        </p:nvSpPr>
        <p:spPr>
          <a:xfrm>
            <a:off x="8169250" y="2688336"/>
            <a:ext cx="2524658" cy="338328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205826" y="2743200"/>
            <a:ext cx="2451506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Reach 61.0% / Booking 13.6%</a:t>
            </a:r>
            <a:endParaRPr lang="en-US" sz="590" dirty="0"/>
          </a:p>
        </p:txBody>
      </p:sp>
      <p:sp>
        <p:nvSpPr>
          <p:cNvPr id="92" name="Shape 90"/>
          <p:cNvSpPr/>
          <p:nvPr/>
        </p:nvSpPr>
        <p:spPr>
          <a:xfrm>
            <a:off x="10693908" y="2688336"/>
            <a:ext cx="1147572" cy="338328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0730484" y="2743200"/>
            <a:ext cx="107442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 defined</a:t>
            </a:r>
            <a:endParaRPr lang="en-US" sz="590" dirty="0"/>
          </a:p>
        </p:txBody>
      </p:sp>
      <p:sp>
        <p:nvSpPr>
          <p:cNvPr id="94" name="Shape 92"/>
          <p:cNvSpPr/>
          <p:nvPr/>
        </p:nvSpPr>
        <p:spPr>
          <a:xfrm>
            <a:off x="365760" y="3026664"/>
            <a:ext cx="1147572" cy="338328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02336" y="3081528"/>
            <a:ext cx="107442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Outbound</a:t>
            </a:r>
            <a:endParaRPr lang="en-US" sz="590" dirty="0"/>
          </a:p>
        </p:txBody>
      </p:sp>
      <p:sp>
        <p:nvSpPr>
          <p:cNvPr id="96" name="Shape 94"/>
          <p:cNvSpPr/>
          <p:nvPr/>
        </p:nvSpPr>
        <p:spPr>
          <a:xfrm>
            <a:off x="1513332" y="3026664"/>
            <a:ext cx="2639416" cy="338328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549908" y="3081528"/>
            <a:ext cx="2566264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Salma Ali El-Sayed</a:t>
            </a:r>
            <a:endParaRPr lang="en-US" sz="590" dirty="0"/>
          </a:p>
        </p:txBody>
      </p:sp>
      <p:sp>
        <p:nvSpPr>
          <p:cNvPr id="98" name="Shape 96"/>
          <p:cNvSpPr/>
          <p:nvPr/>
        </p:nvSpPr>
        <p:spPr>
          <a:xfrm>
            <a:off x="4152748" y="3026664"/>
            <a:ext cx="1950872" cy="338328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189324" y="3081528"/>
            <a:ext cx="187772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 Average</a:t>
            </a:r>
            <a:endParaRPr lang="en-US" sz="590" dirty="0"/>
          </a:p>
        </p:txBody>
      </p:sp>
      <p:sp>
        <p:nvSpPr>
          <p:cNvPr id="100" name="Shape 98"/>
          <p:cNvSpPr/>
          <p:nvPr/>
        </p:nvSpPr>
        <p:spPr>
          <a:xfrm>
            <a:off x="6103620" y="3026664"/>
            <a:ext cx="1032815" cy="338328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140196" y="3081528"/>
            <a:ext cx="959663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73.09%</a:t>
            </a:r>
            <a:endParaRPr lang="en-US" sz="590" dirty="0"/>
          </a:p>
        </p:txBody>
      </p:sp>
      <p:sp>
        <p:nvSpPr>
          <p:cNvPr id="102" name="Shape 100"/>
          <p:cNvSpPr/>
          <p:nvPr/>
        </p:nvSpPr>
        <p:spPr>
          <a:xfrm>
            <a:off x="7136435" y="3026664"/>
            <a:ext cx="1032815" cy="338328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173011" y="3081528"/>
            <a:ext cx="959663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590" dirty="0"/>
          </a:p>
        </p:txBody>
      </p:sp>
      <p:sp>
        <p:nvSpPr>
          <p:cNvPr id="104" name="Shape 102"/>
          <p:cNvSpPr/>
          <p:nvPr/>
        </p:nvSpPr>
        <p:spPr>
          <a:xfrm>
            <a:off x="8169250" y="3026664"/>
            <a:ext cx="2524658" cy="338328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205826" y="3081528"/>
            <a:ext cx="2451506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Reach 54.6% / Booking 15.7%</a:t>
            </a:r>
            <a:endParaRPr lang="en-US" sz="590" dirty="0"/>
          </a:p>
        </p:txBody>
      </p:sp>
      <p:sp>
        <p:nvSpPr>
          <p:cNvPr id="106" name="Shape 104"/>
          <p:cNvSpPr/>
          <p:nvPr/>
        </p:nvSpPr>
        <p:spPr>
          <a:xfrm>
            <a:off x="10693908" y="3026664"/>
            <a:ext cx="1147572" cy="338328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0730484" y="3081528"/>
            <a:ext cx="107442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 defined</a:t>
            </a:r>
            <a:endParaRPr lang="en-US" sz="590" dirty="0"/>
          </a:p>
        </p:txBody>
      </p:sp>
      <p:sp>
        <p:nvSpPr>
          <p:cNvPr id="108" name="Shape 106"/>
          <p:cNvSpPr/>
          <p:nvPr/>
        </p:nvSpPr>
        <p:spPr>
          <a:xfrm>
            <a:off x="365760" y="3364992"/>
            <a:ext cx="1147572" cy="338328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02336" y="3419856"/>
            <a:ext cx="107442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Outbound</a:t>
            </a:r>
            <a:endParaRPr lang="en-US" sz="590" dirty="0"/>
          </a:p>
        </p:txBody>
      </p:sp>
      <p:sp>
        <p:nvSpPr>
          <p:cNvPr id="110" name="Shape 108"/>
          <p:cNvSpPr/>
          <p:nvPr/>
        </p:nvSpPr>
        <p:spPr>
          <a:xfrm>
            <a:off x="1513332" y="3364992"/>
            <a:ext cx="2639416" cy="338328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549908" y="3419856"/>
            <a:ext cx="2566264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Ammar Yasser Sayed</a:t>
            </a:r>
            <a:endParaRPr lang="en-US" sz="590" dirty="0"/>
          </a:p>
        </p:txBody>
      </p:sp>
      <p:sp>
        <p:nvSpPr>
          <p:cNvPr id="112" name="Shape 110"/>
          <p:cNvSpPr/>
          <p:nvPr/>
        </p:nvSpPr>
        <p:spPr>
          <a:xfrm>
            <a:off x="4152748" y="3364992"/>
            <a:ext cx="1950872" cy="338328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189324" y="3419856"/>
            <a:ext cx="187772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 Average</a:t>
            </a:r>
            <a:endParaRPr lang="en-US" sz="590" dirty="0"/>
          </a:p>
        </p:txBody>
      </p:sp>
      <p:sp>
        <p:nvSpPr>
          <p:cNvPr id="114" name="Shape 112"/>
          <p:cNvSpPr/>
          <p:nvPr/>
        </p:nvSpPr>
        <p:spPr>
          <a:xfrm>
            <a:off x="6103620" y="3364992"/>
            <a:ext cx="1032815" cy="338328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140196" y="3419856"/>
            <a:ext cx="959663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76.66%</a:t>
            </a:r>
            <a:endParaRPr lang="en-US" sz="590" dirty="0"/>
          </a:p>
        </p:txBody>
      </p:sp>
      <p:sp>
        <p:nvSpPr>
          <p:cNvPr id="116" name="Shape 114"/>
          <p:cNvSpPr/>
          <p:nvPr/>
        </p:nvSpPr>
        <p:spPr>
          <a:xfrm>
            <a:off x="7136435" y="3364992"/>
            <a:ext cx="1032815" cy="338328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7173011" y="3419856"/>
            <a:ext cx="959663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590" dirty="0"/>
          </a:p>
        </p:txBody>
      </p:sp>
      <p:sp>
        <p:nvSpPr>
          <p:cNvPr id="118" name="Shape 116"/>
          <p:cNvSpPr/>
          <p:nvPr/>
        </p:nvSpPr>
        <p:spPr>
          <a:xfrm>
            <a:off x="8169250" y="3364992"/>
            <a:ext cx="2524658" cy="338328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8205826" y="3419856"/>
            <a:ext cx="2451506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Reach 53.6% / Booking 15.0%</a:t>
            </a:r>
            <a:endParaRPr lang="en-US" sz="590" dirty="0"/>
          </a:p>
        </p:txBody>
      </p:sp>
      <p:sp>
        <p:nvSpPr>
          <p:cNvPr id="120" name="Shape 118"/>
          <p:cNvSpPr/>
          <p:nvPr/>
        </p:nvSpPr>
        <p:spPr>
          <a:xfrm>
            <a:off x="10693908" y="3364992"/>
            <a:ext cx="1147572" cy="338328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0730484" y="3419856"/>
            <a:ext cx="107442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 defined</a:t>
            </a:r>
            <a:endParaRPr lang="en-US" sz="590" dirty="0"/>
          </a:p>
        </p:txBody>
      </p:sp>
      <p:sp>
        <p:nvSpPr>
          <p:cNvPr id="122" name="Shape 120"/>
          <p:cNvSpPr/>
          <p:nvPr/>
        </p:nvSpPr>
        <p:spPr>
          <a:xfrm>
            <a:off x="365760" y="3703320"/>
            <a:ext cx="1147572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02336" y="3758184"/>
            <a:ext cx="107442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n-US" sz="590" dirty="0"/>
          </a:p>
        </p:txBody>
      </p:sp>
      <p:sp>
        <p:nvSpPr>
          <p:cNvPr id="124" name="Shape 122"/>
          <p:cNvSpPr/>
          <p:nvPr/>
        </p:nvSpPr>
        <p:spPr>
          <a:xfrm>
            <a:off x="1513332" y="3703320"/>
            <a:ext cx="2639416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549908" y="3758184"/>
            <a:ext cx="2566264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Bahy Hamed Amer</a:t>
            </a:r>
            <a:endParaRPr lang="en-US" sz="590" dirty="0"/>
          </a:p>
        </p:txBody>
      </p:sp>
      <p:sp>
        <p:nvSpPr>
          <p:cNvPr id="126" name="Shape 124"/>
          <p:cNvSpPr/>
          <p:nvPr/>
        </p:nvSpPr>
        <p:spPr>
          <a:xfrm>
            <a:off x="4152748" y="3703320"/>
            <a:ext cx="1950872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4189324" y="3758184"/>
            <a:ext cx="187772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590" dirty="0"/>
          </a:p>
        </p:txBody>
      </p:sp>
      <p:sp>
        <p:nvSpPr>
          <p:cNvPr id="128" name="Shape 126"/>
          <p:cNvSpPr/>
          <p:nvPr/>
        </p:nvSpPr>
        <p:spPr>
          <a:xfrm>
            <a:off x="6103620" y="3703320"/>
            <a:ext cx="1032815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140196" y="3758184"/>
            <a:ext cx="959663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43.8%</a:t>
            </a:r>
            <a:endParaRPr lang="en-US" sz="590" dirty="0"/>
          </a:p>
        </p:txBody>
      </p:sp>
      <p:sp>
        <p:nvSpPr>
          <p:cNvPr id="130" name="Shape 128"/>
          <p:cNvSpPr/>
          <p:nvPr/>
        </p:nvSpPr>
        <p:spPr>
          <a:xfrm>
            <a:off x="7136435" y="3703320"/>
            <a:ext cx="1032815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7173011" y="3758184"/>
            <a:ext cx="959663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-17.3%</a:t>
            </a:r>
            <a:endParaRPr lang="en-US" sz="590" dirty="0"/>
          </a:p>
        </p:txBody>
      </p:sp>
      <p:sp>
        <p:nvSpPr>
          <p:cNvPr id="132" name="Shape 130"/>
          <p:cNvSpPr/>
          <p:nvPr/>
        </p:nvSpPr>
        <p:spPr>
          <a:xfrm>
            <a:off x="8169250" y="3703320"/>
            <a:ext cx="2524658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205826" y="3758184"/>
            <a:ext cx="2451506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Leads | loss 19.4%</a:t>
            </a:r>
            <a:endParaRPr lang="en-US" sz="590" dirty="0"/>
          </a:p>
        </p:txBody>
      </p:sp>
      <p:sp>
        <p:nvSpPr>
          <p:cNvPr id="134" name="Shape 132"/>
          <p:cNvSpPr/>
          <p:nvPr/>
        </p:nvSpPr>
        <p:spPr>
          <a:xfrm>
            <a:off x="10693908" y="3703320"/>
            <a:ext cx="1147572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0730484" y="3758184"/>
            <a:ext cx="107442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needed</a:t>
            </a:r>
            <a:endParaRPr lang="en-US" sz="590" dirty="0"/>
          </a:p>
        </p:txBody>
      </p:sp>
      <p:sp>
        <p:nvSpPr>
          <p:cNvPr id="136" name="Shape 134"/>
          <p:cNvSpPr/>
          <p:nvPr/>
        </p:nvSpPr>
        <p:spPr>
          <a:xfrm>
            <a:off x="365760" y="4041648"/>
            <a:ext cx="1147572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02336" y="4096512"/>
            <a:ext cx="107442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n-US" sz="590" dirty="0"/>
          </a:p>
        </p:txBody>
      </p:sp>
      <p:sp>
        <p:nvSpPr>
          <p:cNvPr id="138" name="Shape 136"/>
          <p:cNvSpPr/>
          <p:nvPr/>
        </p:nvSpPr>
        <p:spPr>
          <a:xfrm>
            <a:off x="1513332" y="4041648"/>
            <a:ext cx="2639416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1549908" y="4096512"/>
            <a:ext cx="2566264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Ziad Sayed Hassan</a:t>
            </a:r>
            <a:endParaRPr lang="en-US" sz="590" dirty="0"/>
          </a:p>
        </p:txBody>
      </p:sp>
      <p:sp>
        <p:nvSpPr>
          <p:cNvPr id="140" name="Shape 138"/>
          <p:cNvSpPr/>
          <p:nvPr/>
        </p:nvSpPr>
        <p:spPr>
          <a:xfrm>
            <a:off x="4152748" y="4041648"/>
            <a:ext cx="1950872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4189324" y="4096512"/>
            <a:ext cx="187772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590" dirty="0"/>
          </a:p>
        </p:txBody>
      </p:sp>
      <p:sp>
        <p:nvSpPr>
          <p:cNvPr id="142" name="Shape 140"/>
          <p:cNvSpPr/>
          <p:nvPr/>
        </p:nvSpPr>
        <p:spPr>
          <a:xfrm>
            <a:off x="6103620" y="4041648"/>
            <a:ext cx="1032815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140196" y="4096512"/>
            <a:ext cx="959663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57.8%</a:t>
            </a:r>
            <a:endParaRPr lang="en-US" sz="590" dirty="0"/>
          </a:p>
        </p:txBody>
      </p:sp>
      <p:sp>
        <p:nvSpPr>
          <p:cNvPr id="144" name="Shape 142"/>
          <p:cNvSpPr/>
          <p:nvPr/>
        </p:nvSpPr>
        <p:spPr>
          <a:xfrm>
            <a:off x="7136435" y="4041648"/>
            <a:ext cx="1032815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7173011" y="4096512"/>
            <a:ext cx="959663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590" dirty="0"/>
          </a:p>
        </p:txBody>
      </p:sp>
      <p:sp>
        <p:nvSpPr>
          <p:cNvPr id="146" name="Shape 144"/>
          <p:cNvSpPr/>
          <p:nvPr/>
        </p:nvSpPr>
        <p:spPr>
          <a:xfrm>
            <a:off x="8169250" y="4041648"/>
            <a:ext cx="2524658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8205826" y="4096512"/>
            <a:ext cx="2451506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 | loss 24.1%</a:t>
            </a:r>
            <a:endParaRPr lang="en-US" sz="590" dirty="0"/>
          </a:p>
        </p:txBody>
      </p:sp>
      <p:sp>
        <p:nvSpPr>
          <p:cNvPr id="148" name="Shape 146"/>
          <p:cNvSpPr/>
          <p:nvPr/>
        </p:nvSpPr>
        <p:spPr>
          <a:xfrm>
            <a:off x="10693908" y="4041648"/>
            <a:ext cx="1147572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10730484" y="4096512"/>
            <a:ext cx="107442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needed</a:t>
            </a:r>
            <a:endParaRPr lang="en-US" sz="590" dirty="0"/>
          </a:p>
        </p:txBody>
      </p:sp>
      <p:sp>
        <p:nvSpPr>
          <p:cNvPr id="150" name="Shape 148"/>
          <p:cNvSpPr/>
          <p:nvPr/>
        </p:nvSpPr>
        <p:spPr>
          <a:xfrm>
            <a:off x="365760" y="4379976"/>
            <a:ext cx="1147572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402336" y="4434840"/>
            <a:ext cx="107442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n-US" sz="590" dirty="0"/>
          </a:p>
        </p:txBody>
      </p:sp>
      <p:sp>
        <p:nvSpPr>
          <p:cNvPr id="152" name="Shape 150"/>
          <p:cNvSpPr/>
          <p:nvPr/>
        </p:nvSpPr>
        <p:spPr>
          <a:xfrm>
            <a:off x="1513332" y="4379976"/>
            <a:ext cx="2639416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1549908" y="4434840"/>
            <a:ext cx="2566264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Samya Ismail</a:t>
            </a:r>
            <a:endParaRPr lang="en-US" sz="590" dirty="0"/>
          </a:p>
        </p:txBody>
      </p:sp>
      <p:sp>
        <p:nvSpPr>
          <p:cNvPr id="154" name="Shape 152"/>
          <p:cNvSpPr/>
          <p:nvPr/>
        </p:nvSpPr>
        <p:spPr>
          <a:xfrm>
            <a:off x="4152748" y="4379976"/>
            <a:ext cx="1950872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4189324" y="4434840"/>
            <a:ext cx="187772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Specialist</a:t>
            </a:r>
            <a:endParaRPr lang="en-US" sz="590" dirty="0"/>
          </a:p>
        </p:txBody>
      </p:sp>
      <p:sp>
        <p:nvSpPr>
          <p:cNvPr id="156" name="Shape 154"/>
          <p:cNvSpPr/>
          <p:nvPr/>
        </p:nvSpPr>
        <p:spPr>
          <a:xfrm>
            <a:off x="6103620" y="4379976"/>
            <a:ext cx="1032815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6140196" y="4434840"/>
            <a:ext cx="959663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66.6%</a:t>
            </a:r>
            <a:endParaRPr lang="en-US" sz="590" dirty="0"/>
          </a:p>
        </p:txBody>
      </p:sp>
      <p:sp>
        <p:nvSpPr>
          <p:cNvPr id="158" name="Shape 156"/>
          <p:cNvSpPr/>
          <p:nvPr/>
        </p:nvSpPr>
        <p:spPr>
          <a:xfrm>
            <a:off x="7136435" y="4379976"/>
            <a:ext cx="1032815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7173011" y="4434840"/>
            <a:ext cx="959663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+5.6%</a:t>
            </a:r>
            <a:endParaRPr lang="en-US" sz="590" dirty="0"/>
          </a:p>
        </p:txBody>
      </p:sp>
      <p:sp>
        <p:nvSpPr>
          <p:cNvPr id="160" name="Shape 158"/>
          <p:cNvSpPr/>
          <p:nvPr/>
        </p:nvSpPr>
        <p:spPr>
          <a:xfrm>
            <a:off x="8169250" y="4379976"/>
            <a:ext cx="2524658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8205826" y="4434840"/>
            <a:ext cx="2451506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 | loss 24.0%</a:t>
            </a:r>
            <a:endParaRPr lang="en-US" sz="590" dirty="0"/>
          </a:p>
        </p:txBody>
      </p:sp>
      <p:sp>
        <p:nvSpPr>
          <p:cNvPr id="162" name="Shape 160"/>
          <p:cNvSpPr/>
          <p:nvPr/>
        </p:nvSpPr>
        <p:spPr>
          <a:xfrm>
            <a:off x="10693908" y="4379976"/>
            <a:ext cx="1147572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10730484" y="4434840"/>
            <a:ext cx="107442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needed</a:t>
            </a:r>
            <a:endParaRPr lang="en-US" sz="590" dirty="0"/>
          </a:p>
        </p:txBody>
      </p:sp>
      <p:sp>
        <p:nvSpPr>
          <p:cNvPr id="164" name="Shape 162"/>
          <p:cNvSpPr/>
          <p:nvPr/>
        </p:nvSpPr>
        <p:spPr>
          <a:xfrm>
            <a:off x="365760" y="4718304"/>
            <a:ext cx="1147572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402336" y="4773168"/>
            <a:ext cx="107442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n-US" sz="590" dirty="0"/>
          </a:p>
        </p:txBody>
      </p:sp>
      <p:sp>
        <p:nvSpPr>
          <p:cNvPr id="166" name="Shape 164"/>
          <p:cNvSpPr/>
          <p:nvPr/>
        </p:nvSpPr>
        <p:spPr>
          <a:xfrm>
            <a:off x="1513332" y="4718304"/>
            <a:ext cx="2639416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1549908" y="4773168"/>
            <a:ext cx="2566264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Mina Nabil</a:t>
            </a:r>
            <a:endParaRPr lang="en-US" sz="590" dirty="0"/>
          </a:p>
        </p:txBody>
      </p:sp>
      <p:sp>
        <p:nvSpPr>
          <p:cNvPr id="168" name="Shape 166"/>
          <p:cNvSpPr/>
          <p:nvPr/>
        </p:nvSpPr>
        <p:spPr>
          <a:xfrm>
            <a:off x="4152748" y="4718304"/>
            <a:ext cx="1950872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4189324" y="4773168"/>
            <a:ext cx="187772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Specialist</a:t>
            </a:r>
            <a:endParaRPr lang="en-US" sz="590" dirty="0"/>
          </a:p>
        </p:txBody>
      </p:sp>
      <p:sp>
        <p:nvSpPr>
          <p:cNvPr id="170" name="Shape 168"/>
          <p:cNvSpPr/>
          <p:nvPr/>
        </p:nvSpPr>
        <p:spPr>
          <a:xfrm>
            <a:off x="6103620" y="4718304"/>
            <a:ext cx="1032815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6140196" y="4773168"/>
            <a:ext cx="959663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66.6%</a:t>
            </a:r>
            <a:endParaRPr lang="en-US" sz="590" dirty="0"/>
          </a:p>
        </p:txBody>
      </p:sp>
      <p:sp>
        <p:nvSpPr>
          <p:cNvPr id="172" name="Shape 170"/>
          <p:cNvSpPr/>
          <p:nvPr/>
        </p:nvSpPr>
        <p:spPr>
          <a:xfrm>
            <a:off x="7136435" y="4718304"/>
            <a:ext cx="1032815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7173011" y="4773168"/>
            <a:ext cx="959663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+5.6%</a:t>
            </a:r>
            <a:endParaRPr lang="en-US" sz="590" dirty="0"/>
          </a:p>
        </p:txBody>
      </p:sp>
      <p:sp>
        <p:nvSpPr>
          <p:cNvPr id="174" name="Shape 172"/>
          <p:cNvSpPr/>
          <p:nvPr/>
        </p:nvSpPr>
        <p:spPr>
          <a:xfrm>
            <a:off x="8169250" y="4718304"/>
            <a:ext cx="2524658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8205826" y="4773168"/>
            <a:ext cx="2451506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 | loss 24.0%</a:t>
            </a:r>
            <a:endParaRPr lang="en-US" sz="590" dirty="0"/>
          </a:p>
        </p:txBody>
      </p:sp>
      <p:sp>
        <p:nvSpPr>
          <p:cNvPr id="176" name="Shape 174"/>
          <p:cNvSpPr/>
          <p:nvPr/>
        </p:nvSpPr>
        <p:spPr>
          <a:xfrm>
            <a:off x="10693908" y="4718304"/>
            <a:ext cx="1147572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10730484" y="4773168"/>
            <a:ext cx="107442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needed</a:t>
            </a:r>
            <a:endParaRPr lang="en-US" sz="590" dirty="0"/>
          </a:p>
        </p:txBody>
      </p:sp>
      <p:sp>
        <p:nvSpPr>
          <p:cNvPr id="178" name="Shape 176"/>
          <p:cNvSpPr/>
          <p:nvPr/>
        </p:nvSpPr>
        <p:spPr>
          <a:xfrm>
            <a:off x="365760" y="5056632"/>
            <a:ext cx="1147572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402336" y="5111496"/>
            <a:ext cx="107442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n-US" sz="590" dirty="0"/>
          </a:p>
        </p:txBody>
      </p:sp>
      <p:sp>
        <p:nvSpPr>
          <p:cNvPr id="180" name="Shape 178"/>
          <p:cNvSpPr/>
          <p:nvPr/>
        </p:nvSpPr>
        <p:spPr>
          <a:xfrm>
            <a:off x="1513332" y="5056632"/>
            <a:ext cx="2639416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1549908" y="5111496"/>
            <a:ext cx="2566264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Abdelrahman Yousry</a:t>
            </a:r>
            <a:endParaRPr lang="en-US" sz="590" dirty="0"/>
          </a:p>
        </p:txBody>
      </p:sp>
      <p:sp>
        <p:nvSpPr>
          <p:cNvPr id="182" name="Shape 180"/>
          <p:cNvSpPr/>
          <p:nvPr/>
        </p:nvSpPr>
        <p:spPr>
          <a:xfrm>
            <a:off x="4152748" y="5056632"/>
            <a:ext cx="1950872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4189324" y="5111496"/>
            <a:ext cx="187772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Developer</a:t>
            </a:r>
            <a:endParaRPr lang="en-US" sz="590" dirty="0"/>
          </a:p>
        </p:txBody>
      </p:sp>
      <p:sp>
        <p:nvSpPr>
          <p:cNvPr id="184" name="Shape 182"/>
          <p:cNvSpPr/>
          <p:nvPr/>
        </p:nvSpPr>
        <p:spPr>
          <a:xfrm>
            <a:off x="6103620" y="5056632"/>
            <a:ext cx="1032815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6140196" y="5111496"/>
            <a:ext cx="959663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68.8%</a:t>
            </a:r>
            <a:endParaRPr lang="en-US" sz="590" dirty="0"/>
          </a:p>
        </p:txBody>
      </p:sp>
      <p:sp>
        <p:nvSpPr>
          <p:cNvPr id="186" name="Shape 184"/>
          <p:cNvSpPr/>
          <p:nvPr/>
        </p:nvSpPr>
        <p:spPr>
          <a:xfrm>
            <a:off x="7136435" y="5056632"/>
            <a:ext cx="1032815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7173011" y="5111496"/>
            <a:ext cx="959663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-10.0%</a:t>
            </a:r>
            <a:endParaRPr lang="en-US" sz="590" dirty="0"/>
          </a:p>
        </p:txBody>
      </p:sp>
      <p:sp>
        <p:nvSpPr>
          <p:cNvPr id="188" name="Shape 186"/>
          <p:cNvSpPr/>
          <p:nvPr/>
        </p:nvSpPr>
        <p:spPr>
          <a:xfrm>
            <a:off x="8169250" y="5056632"/>
            <a:ext cx="2524658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8205826" y="5111496"/>
            <a:ext cx="2451506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uptime (%) | loss 12.5%</a:t>
            </a:r>
            <a:endParaRPr lang="en-US" sz="590" dirty="0"/>
          </a:p>
        </p:txBody>
      </p:sp>
      <p:sp>
        <p:nvSpPr>
          <p:cNvPr id="190" name="Shape 188"/>
          <p:cNvSpPr/>
          <p:nvPr/>
        </p:nvSpPr>
        <p:spPr>
          <a:xfrm>
            <a:off x="10693908" y="5056632"/>
            <a:ext cx="1147572" cy="338328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10730484" y="5111496"/>
            <a:ext cx="107442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needed</a:t>
            </a:r>
            <a:endParaRPr lang="en-US" sz="5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SGH Offshore Branch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Combined Offshore Departments Performance Review | Jul 2026 | Formatted Sections Fixed</dc:title>
  <dc:subject>Combined Offshore Departments Performance Review</dc:subject>
  <dc:creator>OpenAI</dc:creator>
  <cp:lastModifiedBy>OpenAI</cp:lastModifiedBy>
  <cp:revision>1</cp:revision>
  <dcterms:created xsi:type="dcterms:W3CDTF">2026-08-20T10:43:28Z</dcterms:created>
  <dcterms:modified xsi:type="dcterms:W3CDTF">2026-08-20T10:43:28Z</dcterms:modified>
</cp:coreProperties>
</file>