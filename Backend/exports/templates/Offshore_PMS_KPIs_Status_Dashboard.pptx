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26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Offshore PMS KPIs Dashboard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12648" y="20391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9D1F4"/>
                </a:solidFill>
              </a:rPr>
              <a:t>Status of every Part / Position Type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" y="2542032"/>
            <a:ext cx="4937760" cy="0"/>
          </a:xfrm>
          <a:prstGeom prst="line">
            <a:avLst/>
          </a:prstGeom>
          <a:noFill/>
          <a:ln w="2794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2907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AA8BD"/>
                </a:solidFill>
              </a:rPr>
              <a:t>Built from the uploaded PMS data workbook and styled after the Executive Conclusion report.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0" y="1234440"/>
            <a:ext cx="2606040" cy="3383280"/>
          </a:xfrm>
          <a:prstGeom prst="rect">
            <a:avLst/>
          </a:prstGeom>
          <a:solidFill>
            <a:srgbClr val="17233A"/>
          </a:solidFill>
          <a:ln w="1651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98280" y="1691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098280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Total Positions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98280" y="2670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8BD"/>
                </a:solidFill>
              </a:rPr>
              <a:t>9 Departments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3246120"/>
            <a:ext cx="898902" cy="128016"/>
          </a:xfrm>
          <a:prstGeom prst="rect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97182" y="3246120"/>
            <a:ext cx="774915" cy="12801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772097" y="3246120"/>
            <a:ext cx="154983" cy="12801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07424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D1F4"/>
                </a:solidFill>
              </a:rPr>
              <a:t>91.5% measured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61722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AA8BD"/>
                </a:solidFill>
              </a:rPr>
              <a:t>Report scope: KPI readiness, manager-review queue, not-measured parts, and vacancy/hold status.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2926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Offshore PMS KPIs Analysis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4632" y="713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9D1F4"/>
                </a:solidFill>
              </a:rPr>
              <a:t>Executive Dashboard | Status of every Part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01952" cy="868680"/>
          </a:xfrm>
          <a:prstGeom prst="rect">
            <a:avLst/>
          </a:prstGeom>
          <a:solidFill>
            <a:srgbClr val="17233A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3075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17007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8FAFC"/>
                </a:solidFill>
              </a:rPr>
              <a:t>Total Parts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8BD"/>
                </a:solidFill>
              </a:rPr>
              <a:t>9 Departments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2523744" y="1188720"/>
            <a:ext cx="1901952" cy="868680"/>
          </a:xfrm>
          <a:prstGeom prst="rect">
            <a:avLst/>
          </a:prstGeom>
          <a:solidFill>
            <a:srgbClr val="17233A"/>
          </a:solidFill>
          <a:ln w="15240">
            <a:solidFill>
              <a:srgbClr val="35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78608" y="13075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5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49.2%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615184" y="17007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8FAFC"/>
                </a:solidFill>
              </a:rPr>
              <a:t>Completed &amp; Running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615184" y="192024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8BD"/>
                </a:solidFill>
              </a:rPr>
              <a:t>29 Parts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590288" y="1188720"/>
            <a:ext cx="1901952" cy="868680"/>
          </a:xfrm>
          <a:prstGeom prst="rect">
            <a:avLst/>
          </a:prstGeom>
          <a:solidFill>
            <a:srgbClr val="17233A"/>
          </a:solidFill>
          <a:ln w="1524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45152" y="13075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42.4%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681728" y="17007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8FAFC"/>
                </a:solidFill>
              </a:rPr>
              <a:t>Pending Manager Review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681728" y="192024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8BD"/>
                </a:solidFill>
              </a:rPr>
              <a:t>25 Parts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656832" y="1188720"/>
            <a:ext cx="1901952" cy="868680"/>
          </a:xfrm>
          <a:prstGeom prst="rect">
            <a:avLst/>
          </a:prstGeom>
          <a:solidFill>
            <a:srgbClr val="17233A"/>
          </a:solidFill>
          <a:ln w="1524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11696" y="13075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871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8.5%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748272" y="17007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8FAFC"/>
                </a:solidFill>
              </a:rPr>
              <a:t>Not Measured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748272" y="192024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8BD"/>
                </a:solidFill>
              </a:rPr>
              <a:t>5 Parts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8723376" y="1188720"/>
            <a:ext cx="1901952" cy="868680"/>
          </a:xfrm>
          <a:prstGeom prst="rect">
            <a:avLst/>
          </a:prstGeom>
          <a:solidFill>
            <a:srgbClr val="17233A"/>
          </a:solidFill>
          <a:ln w="1524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78240" y="130759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9D1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91.5%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814816" y="17007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8FAFC"/>
                </a:solidFill>
              </a:rPr>
              <a:t>Overall Progress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814816" y="192024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9AA8BD"/>
                </a:solidFill>
              </a:rPr>
              <a:t>Measured Rate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57200" y="2331720"/>
            <a:ext cx="4251960" cy="4069080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25237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DEPARTMENT COMPLETION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85800" y="2779776"/>
            <a:ext cx="379476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28163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Marketing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1508760" y="2834640"/>
            <a:ext cx="2011680" cy="164592"/>
          </a:xfrm>
          <a:prstGeom prst="rect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0" y="283006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14 / 14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4206240" y="28300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5D399"/>
                </a:solidFill>
              </a:rPr>
              <a:t>100%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530352" y="31729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RCM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1508760" y="3191256"/>
            <a:ext cx="2011680" cy="164592"/>
          </a:xfrm>
          <a:prstGeom prst="rect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0" y="318668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10 / 10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4206240" y="318668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5D399"/>
                </a:solidFill>
              </a:rPr>
              <a:t>100%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530352" y="35295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IT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1508760" y="3547872"/>
            <a:ext cx="2011680" cy="164592"/>
          </a:xfrm>
          <a:prstGeom prst="rect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0" y="35433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3 / 3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4206240" y="354330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5D399"/>
                </a:solidFill>
              </a:rPr>
              <a:t>100%</a:t>
            </a:r>
            <a:endParaRPr lang="en-US" sz="710" dirty="0"/>
          </a:p>
        </p:txBody>
      </p:sp>
      <p:sp>
        <p:nvSpPr>
          <p:cNvPr id="42" name="Text 40"/>
          <p:cNvSpPr/>
          <p:nvPr/>
        </p:nvSpPr>
        <p:spPr>
          <a:xfrm>
            <a:off x="530352" y="3886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Quality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1508760" y="3904488"/>
            <a:ext cx="2011680" cy="164592"/>
          </a:xfrm>
          <a:prstGeom prst="rect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0" y="389991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3 / 3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4206240" y="389991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5D399"/>
                </a:solidFill>
              </a:rPr>
              <a:t>100%</a:t>
            </a:r>
            <a:endParaRPr lang="en-US" sz="710" dirty="0"/>
          </a:p>
        </p:txBody>
      </p:sp>
      <p:sp>
        <p:nvSpPr>
          <p:cNvPr id="46" name="Text 44"/>
          <p:cNvSpPr/>
          <p:nvPr/>
        </p:nvSpPr>
        <p:spPr>
          <a:xfrm>
            <a:off x="530352" y="424281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Supply Chain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1508760" y="4261104"/>
            <a:ext cx="2011680" cy="164592"/>
          </a:xfrm>
          <a:prstGeom prst="rect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0" y="42565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1 / 1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4206240" y="425653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5D399"/>
                </a:solidFill>
              </a:rPr>
              <a:t>100%</a:t>
            </a:r>
            <a:endParaRPr lang="en-US" sz="710" dirty="0"/>
          </a:p>
        </p:txBody>
      </p:sp>
      <p:sp>
        <p:nvSpPr>
          <p:cNvPr id="50" name="Text 48"/>
          <p:cNvSpPr/>
          <p:nvPr/>
        </p:nvSpPr>
        <p:spPr>
          <a:xfrm>
            <a:off x="530352" y="45994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Human Resources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1508760" y="4617720"/>
            <a:ext cx="1856935" cy="164592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0" y="46131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12 / 13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4206240" y="461314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09D1F4"/>
                </a:solidFill>
              </a:rPr>
              <a:t>92%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530352" y="49560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Call Center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1508760" y="4974336"/>
            <a:ext cx="1724297" cy="164592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0" y="496976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6 / 7</a:t>
            </a:r>
            <a:endParaRPr lang="en-US" sz="760" dirty="0"/>
          </a:p>
        </p:txBody>
      </p:sp>
      <p:sp>
        <p:nvSpPr>
          <p:cNvPr id="57" name="Text 55"/>
          <p:cNvSpPr/>
          <p:nvPr/>
        </p:nvSpPr>
        <p:spPr>
          <a:xfrm>
            <a:off x="4206240" y="496976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09D1F4"/>
                </a:solidFill>
              </a:rPr>
              <a:t>86%</a:t>
            </a:r>
            <a:endParaRPr lang="en-US" sz="710" dirty="0"/>
          </a:p>
        </p:txBody>
      </p:sp>
      <p:sp>
        <p:nvSpPr>
          <p:cNvPr id="58" name="Text 56"/>
          <p:cNvSpPr/>
          <p:nvPr/>
        </p:nvSpPr>
        <p:spPr>
          <a:xfrm>
            <a:off x="530352" y="53126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Finance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1508760" y="5330952"/>
            <a:ext cx="1508760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0" y="53263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3 / 4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4206240" y="53263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BBF24"/>
                </a:solidFill>
              </a:rPr>
              <a:t>75%</a:t>
            </a:r>
            <a:endParaRPr lang="en-US" sz="710" dirty="0"/>
          </a:p>
        </p:txBody>
      </p:sp>
      <p:sp>
        <p:nvSpPr>
          <p:cNvPr id="62" name="Text 60"/>
          <p:cNvSpPr/>
          <p:nvPr/>
        </p:nvSpPr>
        <p:spPr>
          <a:xfrm>
            <a:off x="530352" y="56692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AA8BD"/>
                </a:solidFill>
              </a:rPr>
              <a:t>Offshore Admin &amp; Mgmt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1508760" y="5687568"/>
            <a:ext cx="1005840" cy="1645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57600" y="568299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8FAFC"/>
                </a:solidFill>
              </a:rPr>
              <a:t>2 / 4</a:t>
            </a:r>
            <a:endParaRPr lang="en-US" sz="760" dirty="0"/>
          </a:p>
        </p:txBody>
      </p:sp>
      <p:sp>
        <p:nvSpPr>
          <p:cNvPr id="65" name="Text 63"/>
          <p:cNvSpPr/>
          <p:nvPr/>
        </p:nvSpPr>
        <p:spPr>
          <a:xfrm>
            <a:off x="4206240" y="568299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87171"/>
                </a:solidFill>
              </a:rPr>
              <a:t>50%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4864608" y="2331720"/>
            <a:ext cx="2852928" cy="4069080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93208" y="25237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KPI STATUS BREAKDOWN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5093208" y="2779776"/>
            <a:ext cx="2395728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605272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Status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5440680" y="3337560"/>
            <a:ext cx="755077" cy="256032"/>
          </a:xfrm>
          <a:prstGeom prst="rect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195757" y="3337560"/>
            <a:ext cx="650929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846686" y="3337560"/>
            <a:ext cx="130186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321808" y="37307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9AA8BD"/>
                </a:solidFill>
              </a:rPr>
              <a:t>49.2% / 42.4% / 8.5%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5321808" y="4133088"/>
            <a:ext cx="73152" cy="73152"/>
          </a:xfrm>
          <a:prstGeom prst="ellipse">
            <a:avLst/>
          </a:prstGeom>
          <a:solidFill>
            <a:srgbClr val="35D399"/>
          </a:solidFill>
          <a:ln w="12700">
            <a:solidFill>
              <a:srgbClr val="35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468112" y="411480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29 Completed &amp; Running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5321808" y="432511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468112" y="4306824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25 Pending Manager Review</a:t>
            </a:r>
            <a:endParaRPr lang="en-US" sz="760" dirty="0"/>
          </a:p>
        </p:txBody>
      </p:sp>
      <p:sp>
        <p:nvSpPr>
          <p:cNvPr id="78" name="Shape 76"/>
          <p:cNvSpPr/>
          <p:nvPr/>
        </p:nvSpPr>
        <p:spPr>
          <a:xfrm>
            <a:off x="5321808" y="4517136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468112" y="4498848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5 Not Measured</a:t>
            </a:r>
            <a:endParaRPr lang="en-US" sz="760" dirty="0"/>
          </a:p>
        </p:txBody>
      </p:sp>
      <p:sp>
        <p:nvSpPr>
          <p:cNvPr id="80" name="Shape 78"/>
          <p:cNvSpPr/>
          <p:nvPr/>
        </p:nvSpPr>
        <p:spPr>
          <a:xfrm>
            <a:off x="7909560" y="2331720"/>
            <a:ext cx="3822192" cy="4069080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138160" y="2523744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POSITION STATUS</a:t>
            </a:r>
            <a:endParaRPr lang="en-US" sz="1020" dirty="0"/>
          </a:p>
        </p:txBody>
      </p:sp>
      <p:sp>
        <p:nvSpPr>
          <p:cNvPr id="82" name="Shape 80"/>
          <p:cNvSpPr/>
          <p:nvPr/>
        </p:nvSpPr>
        <p:spPr>
          <a:xfrm>
            <a:off x="8138160" y="2779776"/>
            <a:ext cx="3364992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8074152" y="2816352"/>
            <a:ext cx="3310128" cy="347472"/>
          </a:xfrm>
          <a:prstGeom prst="rect">
            <a:avLst/>
          </a:prstGeom>
          <a:solidFill>
            <a:srgbClr val="111C30"/>
          </a:solidFill>
          <a:ln w="1270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275320" y="29032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9D1F4"/>
                </a:solidFill>
              </a:rPr>
              <a:t>Current</a:t>
            </a:r>
            <a:endParaRPr lang="en-US" sz="880" dirty="0"/>
          </a:p>
        </p:txBody>
      </p:sp>
      <p:sp>
        <p:nvSpPr>
          <p:cNvPr id="85" name="Text 83"/>
          <p:cNvSpPr/>
          <p:nvPr/>
        </p:nvSpPr>
        <p:spPr>
          <a:xfrm>
            <a:off x="9537192" y="2834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42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10332720" y="291236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AA8BD"/>
                </a:solidFill>
              </a:rPr>
              <a:t>71.2% of total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8074152" y="3346704"/>
            <a:ext cx="3310128" cy="347472"/>
          </a:xfrm>
          <a:prstGeom prst="rect">
            <a:avLst/>
          </a:prstGeom>
          <a:solidFill>
            <a:srgbClr val="111C3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275320" y="34335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BBF24"/>
                </a:solidFill>
              </a:rPr>
              <a:t>Vacant</a:t>
            </a:r>
            <a:endParaRPr lang="en-US" sz="880" dirty="0"/>
          </a:p>
        </p:txBody>
      </p:sp>
      <p:sp>
        <p:nvSpPr>
          <p:cNvPr id="89" name="Text 87"/>
          <p:cNvSpPr/>
          <p:nvPr/>
        </p:nvSpPr>
        <p:spPr>
          <a:xfrm>
            <a:off x="9537192" y="3364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11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10332720" y="344271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AA8BD"/>
                </a:solidFill>
              </a:rPr>
              <a:t>18.6% of total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074152" y="3877056"/>
            <a:ext cx="3310128" cy="347472"/>
          </a:xfrm>
          <a:prstGeom prst="rect">
            <a:avLst/>
          </a:prstGeom>
          <a:solidFill>
            <a:srgbClr val="111C30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275320" y="3963924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A78BFA"/>
                </a:solidFill>
              </a:rPr>
              <a:t>Hold</a:t>
            </a:r>
            <a:endParaRPr lang="en-US" sz="880" dirty="0"/>
          </a:p>
        </p:txBody>
      </p:sp>
      <p:sp>
        <p:nvSpPr>
          <p:cNvPr id="93" name="Text 91"/>
          <p:cNvSpPr/>
          <p:nvPr/>
        </p:nvSpPr>
        <p:spPr>
          <a:xfrm>
            <a:off x="9537192" y="38953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6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10332720" y="397306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AA8BD"/>
                </a:solidFill>
              </a:rPr>
              <a:t>10.2% of total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065008" y="48006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KEY FINDINGS</a:t>
            </a:r>
            <a:endParaRPr lang="en-US" sz="1020" dirty="0"/>
          </a:p>
        </p:txBody>
      </p:sp>
      <p:sp>
        <p:nvSpPr>
          <p:cNvPr id="96" name="Shape 94"/>
          <p:cNvSpPr/>
          <p:nvPr/>
        </p:nvSpPr>
        <p:spPr>
          <a:xfrm>
            <a:off x="8065008" y="5056632"/>
            <a:ext cx="333756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8138160" y="523036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•  5 departments at 100% measured completion</a:t>
            </a:r>
            <a:endParaRPr lang="en-US" sz="760" dirty="0"/>
          </a:p>
        </p:txBody>
      </p:sp>
      <p:sp>
        <p:nvSpPr>
          <p:cNvPr id="98" name="Text 96"/>
          <p:cNvSpPr/>
          <p:nvPr/>
        </p:nvSpPr>
        <p:spPr>
          <a:xfrm>
            <a:off x="8138160" y="544982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•  Offshore Admin &amp; Mgmt lowest at 50%</a:t>
            </a:r>
            <a:endParaRPr lang="en-US" sz="760" dirty="0"/>
          </a:p>
        </p:txBody>
      </p:sp>
      <p:sp>
        <p:nvSpPr>
          <p:cNvPr id="99" name="Text 97"/>
          <p:cNvSpPr/>
          <p:nvPr/>
        </p:nvSpPr>
        <p:spPr>
          <a:xfrm>
            <a:off x="8138160" y="566928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•  25 parts awaiting manager review</a:t>
            </a:r>
            <a:endParaRPr lang="en-US" sz="760" dirty="0"/>
          </a:p>
        </p:txBody>
      </p:sp>
      <p:sp>
        <p:nvSpPr>
          <p:cNvPr id="100" name="Text 98"/>
          <p:cNvSpPr/>
          <p:nvPr/>
        </p:nvSpPr>
        <p:spPr>
          <a:xfrm>
            <a:off x="8138160" y="588873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•  5 parts not yet measured</a:t>
            </a:r>
            <a:endParaRPr lang="en-US" sz="760" dirty="0"/>
          </a:p>
        </p:txBody>
      </p:sp>
      <p:sp>
        <p:nvSpPr>
          <p:cNvPr id="101" name="Text 99"/>
          <p:cNvSpPr/>
          <p:nvPr/>
        </p:nvSpPr>
        <p:spPr>
          <a:xfrm>
            <a:off x="8138160" y="61081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9AA8BD"/>
                </a:solidFill>
              </a:rPr>
              <a:t>•  11 vacant parts under tracking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2926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Department Status Matrix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4632" y="713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9D1F4"/>
                </a:solidFill>
              </a:rPr>
              <a:t>Measured = Completed &amp; Running + Pending Manager Review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7269480" cy="5349240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DEPARTMENT PERFORMANCE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1591056"/>
            <a:ext cx="681228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691640"/>
            <a:ext cx="2078154" cy="32004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827962" y="1691640"/>
            <a:ext cx="1193833" cy="32004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/ Total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021796" y="1691640"/>
            <a:ext cx="795889" cy="32004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817685" y="1691640"/>
            <a:ext cx="795889" cy="32004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613574" y="1691640"/>
            <a:ext cx="1061185" cy="32004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674759" y="1691640"/>
            <a:ext cx="795889" cy="32004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49808" y="2011680"/>
            <a:ext cx="2078154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827962" y="2011680"/>
            <a:ext cx="1193833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14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021796" y="2011680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817685" y="2011680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613574" y="2011680"/>
            <a:ext cx="1061185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6674759" y="2011680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749808" y="2395728"/>
            <a:ext cx="2078154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2827962" y="2395728"/>
            <a:ext cx="1193833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4021796" y="2395728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4817685" y="2395728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5613574" y="2395728"/>
            <a:ext cx="1061185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6674759" y="2395728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749808" y="2779776"/>
            <a:ext cx="2078154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2827962" y="2779776"/>
            <a:ext cx="1193833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3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4021796" y="2779776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4817685" y="2779776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5613574" y="2779776"/>
            <a:ext cx="1061185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6674759" y="2779776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749808" y="3163824"/>
            <a:ext cx="2078154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2827962" y="3163824"/>
            <a:ext cx="1193833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3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4021796" y="3163824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4817685" y="3163824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5613574" y="3163824"/>
            <a:ext cx="1061185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6674759" y="3163824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749808" y="3547872"/>
            <a:ext cx="2078154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Chain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2827962" y="3547872"/>
            <a:ext cx="1193833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4021796" y="3547872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4817685" y="3547872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5613574" y="3547872"/>
            <a:ext cx="1061185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6674759" y="3547872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749808" y="3931920"/>
            <a:ext cx="2078154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2827962" y="3931920"/>
            <a:ext cx="1193833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13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4021796" y="3931920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4817685" y="3931920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5613574" y="3931920"/>
            <a:ext cx="1061185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6674759" y="3931920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749808" y="4315968"/>
            <a:ext cx="2078154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2827962" y="4315968"/>
            <a:ext cx="1193833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7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4021796" y="4315968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40" dirty="0"/>
          </a:p>
        </p:txBody>
      </p:sp>
      <p:sp>
        <p:nvSpPr>
          <p:cNvPr id="55" name="Text 53"/>
          <p:cNvSpPr/>
          <p:nvPr/>
        </p:nvSpPr>
        <p:spPr>
          <a:xfrm>
            <a:off x="4817685" y="4315968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56" name="Text 54"/>
          <p:cNvSpPr/>
          <p:nvPr/>
        </p:nvSpPr>
        <p:spPr>
          <a:xfrm>
            <a:off x="5613574" y="4315968"/>
            <a:ext cx="1061185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6674759" y="4315968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86%</a:t>
            </a:r>
            <a:endParaRPr lang="en-US" sz="1040" dirty="0"/>
          </a:p>
        </p:txBody>
      </p:sp>
      <p:sp>
        <p:nvSpPr>
          <p:cNvPr id="58" name="Text 56"/>
          <p:cNvSpPr/>
          <p:nvPr/>
        </p:nvSpPr>
        <p:spPr>
          <a:xfrm>
            <a:off x="749808" y="4700016"/>
            <a:ext cx="2078154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40" dirty="0"/>
          </a:p>
        </p:txBody>
      </p:sp>
      <p:sp>
        <p:nvSpPr>
          <p:cNvPr id="59" name="Text 57"/>
          <p:cNvSpPr/>
          <p:nvPr/>
        </p:nvSpPr>
        <p:spPr>
          <a:xfrm>
            <a:off x="2827962" y="4700016"/>
            <a:ext cx="1193833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040" dirty="0"/>
          </a:p>
        </p:txBody>
      </p:sp>
      <p:sp>
        <p:nvSpPr>
          <p:cNvPr id="60" name="Text 58"/>
          <p:cNvSpPr/>
          <p:nvPr/>
        </p:nvSpPr>
        <p:spPr>
          <a:xfrm>
            <a:off x="4021796" y="4700016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40" dirty="0"/>
          </a:p>
        </p:txBody>
      </p:sp>
      <p:sp>
        <p:nvSpPr>
          <p:cNvPr id="61" name="Text 59"/>
          <p:cNvSpPr/>
          <p:nvPr/>
        </p:nvSpPr>
        <p:spPr>
          <a:xfrm>
            <a:off x="4817685" y="4700016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5613574" y="4700016"/>
            <a:ext cx="1061185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40" dirty="0"/>
          </a:p>
        </p:txBody>
      </p:sp>
      <p:sp>
        <p:nvSpPr>
          <p:cNvPr id="63" name="Text 61"/>
          <p:cNvSpPr/>
          <p:nvPr/>
        </p:nvSpPr>
        <p:spPr>
          <a:xfrm>
            <a:off x="6674759" y="4700016"/>
            <a:ext cx="795889" cy="384048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1040" dirty="0"/>
          </a:p>
        </p:txBody>
      </p:sp>
      <p:sp>
        <p:nvSpPr>
          <p:cNvPr id="64" name="Text 62"/>
          <p:cNvSpPr/>
          <p:nvPr/>
        </p:nvSpPr>
        <p:spPr>
          <a:xfrm>
            <a:off x="749808" y="5084064"/>
            <a:ext cx="2078154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Admin &amp; Mgmt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2827962" y="5084064"/>
            <a:ext cx="1193833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040" dirty="0"/>
          </a:p>
        </p:txBody>
      </p:sp>
      <p:sp>
        <p:nvSpPr>
          <p:cNvPr id="66" name="Text 64"/>
          <p:cNvSpPr/>
          <p:nvPr/>
        </p:nvSpPr>
        <p:spPr>
          <a:xfrm>
            <a:off x="4021796" y="5084064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40" dirty="0"/>
          </a:p>
        </p:txBody>
      </p:sp>
      <p:sp>
        <p:nvSpPr>
          <p:cNvPr id="67" name="Text 65"/>
          <p:cNvSpPr/>
          <p:nvPr/>
        </p:nvSpPr>
        <p:spPr>
          <a:xfrm>
            <a:off x="4817685" y="5084064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40" dirty="0"/>
          </a:p>
        </p:txBody>
      </p:sp>
      <p:sp>
        <p:nvSpPr>
          <p:cNvPr id="68" name="Text 66"/>
          <p:cNvSpPr/>
          <p:nvPr/>
        </p:nvSpPr>
        <p:spPr>
          <a:xfrm>
            <a:off x="5613574" y="5084064"/>
            <a:ext cx="1061185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40" dirty="0"/>
          </a:p>
        </p:txBody>
      </p:sp>
      <p:sp>
        <p:nvSpPr>
          <p:cNvPr id="69" name="Text 67"/>
          <p:cNvSpPr/>
          <p:nvPr/>
        </p:nvSpPr>
        <p:spPr>
          <a:xfrm>
            <a:off x="6674759" y="5084064"/>
            <a:ext cx="795889" cy="384048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040" dirty="0"/>
          </a:p>
        </p:txBody>
      </p:sp>
      <p:sp>
        <p:nvSpPr>
          <p:cNvPr id="70" name="Shape 68"/>
          <p:cNvSpPr/>
          <p:nvPr/>
        </p:nvSpPr>
        <p:spPr>
          <a:xfrm>
            <a:off x="8028432" y="1143000"/>
            <a:ext cx="3611880" cy="5349240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257032" y="133502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PROGRESS SIGNALS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8257032" y="1591056"/>
            <a:ext cx="315468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339328" y="173736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5D399"/>
                </a:solidFill>
              </a:rPr>
              <a:t>100% Measured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8339328" y="2066544"/>
            <a:ext cx="2880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Marketing, RCM, IT, Quality, Supply Chain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339328" y="288036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</a:rPr>
              <a:t>Needs immediate follow-up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8339328" y="32278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Human Resources  •  1 not measured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339328" y="35387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Call Center  •  1 not measured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8339328" y="3849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Finance  •  1 not measured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339328" y="4160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</a:rPr>
              <a:t>Offshore Admin &amp; Mgmt  •  2 not measured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8339328" y="480060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</a:rPr>
              <a:t>Management queue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8339328" y="5148072"/>
            <a:ext cx="2834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25 parts are measured and waiting for manager recommendations/approval.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2926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Exception Register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4632" y="713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9D1F4"/>
                </a:solidFill>
              </a:rPr>
              <a:t>Parts requiring action by status bucket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5440680" cy="5349240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NOT MEASURED PARTS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1591056"/>
            <a:ext cx="498348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8952" y="1691640"/>
            <a:ext cx="4892040" cy="420624"/>
          </a:xfrm>
          <a:prstGeom prst="rect">
            <a:avLst/>
          </a:prstGeom>
          <a:solidFill>
            <a:srgbClr val="111C30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17647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87171"/>
                </a:solidFill>
              </a:rPr>
              <a:t>Call Center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2359152" y="1755648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8FAFC"/>
                </a:solidFill>
              </a:rPr>
              <a:t>Call center Head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074920" y="177393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9D1F4"/>
                </a:solidFill>
              </a:rPr>
              <a:t>Current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58952" y="2221992"/>
            <a:ext cx="4892040" cy="420624"/>
          </a:xfrm>
          <a:prstGeom prst="rect">
            <a:avLst/>
          </a:prstGeom>
          <a:solidFill>
            <a:srgbClr val="111C30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" y="229514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87171"/>
                </a:solidFill>
              </a:rPr>
              <a:t>Finance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2359152" y="2286000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8FAFC"/>
                </a:solidFill>
              </a:rPr>
              <a:t>Cost Controller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074920" y="23042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BBF24"/>
                </a:solidFill>
              </a:rPr>
              <a:t>Vacant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58952" y="2752344"/>
            <a:ext cx="4892040" cy="420624"/>
          </a:xfrm>
          <a:prstGeom prst="rect">
            <a:avLst/>
          </a:prstGeom>
          <a:solidFill>
            <a:srgbClr val="111C30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6968" y="282549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87171"/>
                </a:solidFill>
              </a:rPr>
              <a:t>Human Resources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2359152" y="2816352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8FAFC"/>
                </a:solidFill>
              </a:rPr>
              <a:t>OD Director - Consultant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A78BFA"/>
                </a:solidFill>
              </a:rPr>
              <a:t>Hold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58952" y="3282696"/>
            <a:ext cx="4892040" cy="420624"/>
          </a:xfrm>
          <a:prstGeom prst="rect">
            <a:avLst/>
          </a:prstGeom>
          <a:solidFill>
            <a:srgbClr val="111C30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33558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87171"/>
                </a:solidFill>
              </a:rPr>
              <a:t>Offshore Admin &amp; Mgmt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2359152" y="3346704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8FAFC"/>
                </a:solidFill>
              </a:rPr>
              <a:t>Cafeteria Man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5074920" y="33649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9D1F4"/>
                </a:solidFill>
              </a:rPr>
              <a:t>Current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758952" y="3813048"/>
            <a:ext cx="4892040" cy="420624"/>
          </a:xfrm>
          <a:prstGeom prst="rect">
            <a:avLst/>
          </a:prstGeom>
          <a:solidFill>
            <a:srgbClr val="111C30"/>
          </a:solidFill>
          <a:ln w="1016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6968" y="388620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F87171"/>
                </a:solidFill>
              </a:rPr>
              <a:t>Offshore Admin &amp; Mgmt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2359152" y="387705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8FAFC"/>
                </a:solidFill>
              </a:rPr>
              <a:t>Offshore Operation Manager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5074920" y="389534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9D1F4"/>
                </a:solidFill>
              </a:rPr>
              <a:t>Current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777240" y="53492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AA8BD"/>
                </a:solidFill>
              </a:rPr>
              <a:t>Recommended next step: assign owner and confirm measurement approach for each not-measured part.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1143000"/>
            <a:ext cx="5440680" cy="5349240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2240" y="1335024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MANAGER REVIEW QUEUE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492240" y="1591056"/>
            <a:ext cx="498348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28816" y="170078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AA8BD"/>
                </a:solidFill>
              </a:rPr>
              <a:t>Human Resources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83880" y="1700784"/>
            <a:ext cx="2011680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351008" y="1682496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10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28816" y="202996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AA8BD"/>
                </a:solidFill>
              </a:rPr>
              <a:t>RCM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83880" y="2029968"/>
            <a:ext cx="1408176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351008" y="201168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28816" y="235915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AA8BD"/>
                </a:solidFill>
              </a:rPr>
              <a:t>IT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183880" y="2359152"/>
            <a:ext cx="603504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351008" y="234086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28816" y="268833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AA8BD"/>
                </a:solidFill>
              </a:rPr>
              <a:t>Quality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83880" y="2688336"/>
            <a:ext cx="603504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351008" y="26700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28816" y="301752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AA8BD"/>
                </a:solidFill>
              </a:rPr>
              <a:t>Marketing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183880" y="3017520"/>
            <a:ext cx="201168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351008" y="299923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528816" y="334670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AA8BD"/>
                </a:solidFill>
              </a:rPr>
              <a:t>Supply Chain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183880" y="3346704"/>
            <a:ext cx="201168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351008" y="3328416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37960" y="532180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AA8BD"/>
                </a:solidFill>
              </a:rPr>
              <a:t>11 vacant parts are also being tracked. Prioritize vacant critical roles only if KPI ownership is blocked.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2926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Part Status 1/4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4632" y="713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9D1F4"/>
                </a:solidFill>
              </a:rPr>
              <a:t>Call Center + 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1201400" cy="5413248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PART / POSITION DETAIL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1591056"/>
            <a:ext cx="1074420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188439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2634199" y="1645920"/>
            <a:ext cx="4680585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/ Position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7314784" y="1645920"/>
            <a:ext cx="54708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Cnt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7861866" y="1645920"/>
            <a:ext cx="1094163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8956028" y="1645920"/>
            <a:ext cx="2492260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Status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749808" y="1920240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634199" y="1920240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Agent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314784" y="1920240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861866" y="1920240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956028" y="1920240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49808" y="2231136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634199" y="2231136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Team leader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314784" y="2231136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861866" y="2231136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956028" y="2231136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49808" y="2542032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634199" y="2542032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Trainer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314784" y="2542032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861866" y="2542032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956028" y="2542032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49808" y="2852928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634199" y="2852928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314784" y="2852928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7861866" y="2852928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956028" y="2852928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49808" y="3163824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634199" y="3163824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Call center Supervisor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314784" y="3163824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7861866" y="3163824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956028" y="3163824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749808" y="3474720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2634199" y="3474720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analyst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14784" y="3474720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7861866" y="3474720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8956028" y="3474720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749808" y="3785616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2634199" y="3785616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 Head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7314784" y="3785616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7861866" y="3785616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8956028" y="3785616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749808" y="4096512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2634199" y="4096512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Accountant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7314784" y="4096512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7861866" y="4096512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956028" y="4096512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749808" y="4407408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2634199" y="4407408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Accountant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7314784" y="4407408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7861866" y="4407408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8956028" y="4407408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749808" y="4718304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2634199" y="4718304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Accountant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314784" y="4718304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7861866" y="4718304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8956028" y="4718304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749808" y="5029200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920" dirty="0"/>
          </a:p>
        </p:txBody>
      </p:sp>
      <p:sp>
        <p:nvSpPr>
          <p:cNvPr id="66" name="Text 64"/>
          <p:cNvSpPr/>
          <p:nvPr/>
        </p:nvSpPr>
        <p:spPr>
          <a:xfrm>
            <a:off x="2634199" y="5029200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Controller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7314784" y="5029200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7861866" y="5029200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8956028" y="5029200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749808" y="6382512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9AA8BD"/>
                </a:solidFill>
              </a:rPr>
              <a:t>KPI Status color key: green = Completed &amp; Running, amber = Pending Manager Review, red = Not Measured.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2926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Part Status 2/4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4632" y="713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9D1F4"/>
                </a:solidFill>
              </a:rPr>
              <a:t>Human Resources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1201400" cy="5413248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PART / POSITION DETAIL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1591056"/>
            <a:ext cx="1074420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188439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2634199" y="1645920"/>
            <a:ext cx="4680585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/ Position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7314784" y="1645920"/>
            <a:ext cx="54708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Cnt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7861866" y="1645920"/>
            <a:ext cx="1094163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8956028" y="1645920"/>
            <a:ext cx="2492260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Status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749808" y="1920240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634199" y="1920240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Generalist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314784" y="1920240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861866" y="1920240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956028" y="1920240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49808" y="2231136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634199" y="2231136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Supervisor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314784" y="2231136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861866" y="2231136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956028" y="2231136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49808" y="2542032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634199" y="2542032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Center Lead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314784" y="2542032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861866" y="2542032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956028" y="2542032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49808" y="2852928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634199" y="2852928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Center Specialist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314784" y="2852928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7861866" y="2852928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956028" y="2852928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49808" y="3163824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2634199" y="3163824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Manager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314784" y="3163824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7861866" y="3163824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956028" y="3163824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749808" y="3474720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2634199" y="3474720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Specialist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14784" y="3474720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7861866" y="3474720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8956028" y="3474720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749808" y="3785616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2634199" y="3785616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Planning Specialist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7314784" y="3785616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7861866" y="3785616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8956028" y="3785616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749808" y="4096512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2634199" y="4096512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Talent Acquisition specialist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7314784" y="4096512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7861866" y="4096512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8956028" y="4096512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749808" y="4407408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2634199" y="4407408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Talent Acquisition specialist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7314784" y="4407408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7861866" y="4407408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8956028" y="4407408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749808" y="4718304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2634199" y="4718304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 Acquisition specialist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314784" y="4718304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7861866" y="4718304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8956028" y="4718304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749808" y="5029200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66" name="Text 64"/>
          <p:cNvSpPr/>
          <p:nvPr/>
        </p:nvSpPr>
        <p:spPr>
          <a:xfrm>
            <a:off x="2634199" y="5029200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&amp; Onboarding Specialist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7314784" y="5029200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7861866" y="5029200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8956028" y="5029200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749808" y="5340096"/>
            <a:ext cx="188439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71" name="Text 69"/>
          <p:cNvSpPr/>
          <p:nvPr/>
        </p:nvSpPr>
        <p:spPr>
          <a:xfrm>
            <a:off x="2634199" y="5340096"/>
            <a:ext cx="4680585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compensation &amp; performance plannin…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7314784" y="5340096"/>
            <a:ext cx="547081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7861866" y="5340096"/>
            <a:ext cx="1094163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20" dirty="0"/>
          </a:p>
        </p:txBody>
      </p:sp>
      <p:sp>
        <p:nvSpPr>
          <p:cNvPr id="74" name="Text 72"/>
          <p:cNvSpPr/>
          <p:nvPr/>
        </p:nvSpPr>
        <p:spPr>
          <a:xfrm>
            <a:off x="8956028" y="5340096"/>
            <a:ext cx="2492260" cy="310896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749808" y="5650992"/>
            <a:ext cx="188439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20" dirty="0"/>
          </a:p>
        </p:txBody>
      </p:sp>
      <p:sp>
        <p:nvSpPr>
          <p:cNvPr id="76" name="Text 74"/>
          <p:cNvSpPr/>
          <p:nvPr/>
        </p:nvSpPr>
        <p:spPr>
          <a:xfrm>
            <a:off x="2634199" y="5650992"/>
            <a:ext cx="4680585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Director - Consultant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7314784" y="5650992"/>
            <a:ext cx="547081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7861866" y="5650992"/>
            <a:ext cx="1094163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920" dirty="0"/>
          </a:p>
        </p:txBody>
      </p:sp>
      <p:sp>
        <p:nvSpPr>
          <p:cNvPr id="79" name="Text 77"/>
          <p:cNvSpPr/>
          <p:nvPr/>
        </p:nvSpPr>
        <p:spPr>
          <a:xfrm>
            <a:off x="8956028" y="5650992"/>
            <a:ext cx="2492260" cy="310896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749808" y="6382512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9AA8BD"/>
                </a:solidFill>
              </a:rPr>
              <a:t>KPI Status color key: green = Completed &amp; Running, amber = Pending Manager Review, red = Not Measured.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2926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Part Status 3/4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4632" y="713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9D1F4"/>
                </a:solidFill>
              </a:rPr>
              <a:t>IT + Marketing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1201400" cy="5413248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PART / POSITION DETAIL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1591056"/>
            <a:ext cx="1074420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188439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2634199" y="1645920"/>
            <a:ext cx="4680585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/ Position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7314784" y="1645920"/>
            <a:ext cx="54708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Cnt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861866" y="1645920"/>
            <a:ext cx="1094163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8956028" y="1645920"/>
            <a:ext cx="2492260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Status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749808" y="1920240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34199" y="1920240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Application Engineer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314784" y="1920240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861866" y="1920240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8956028" y="1920240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49808" y="2178424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2634199" y="2178424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Technical Support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14784" y="2178424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861866" y="2178424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956028" y="2178424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49808" y="2436607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634199" y="2436607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IT network adminstrator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314784" y="2436607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861866" y="2436607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8956028" y="2436607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749808" y="2694791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2634199" y="2694791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314784" y="2694791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861866" y="2694791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8956028" y="2694791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749808" y="2952974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2634199" y="2952974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7314784" y="2952974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7861866" y="2952974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8956028" y="2952974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749808" y="3211158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2634199" y="3211158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Buying &amp; SEO Manager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7314784" y="3211158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7861866" y="3211158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8956028" y="3211158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749808" y="3469341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2634199" y="3469341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Designer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7314784" y="3469341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7861866" y="3469341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956028" y="3469341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749808" y="3727525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2634199" y="3727525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Content Writer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7314784" y="3727525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7861866" y="3727525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956028" y="3727525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749808" y="3985708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2634199" y="3985708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Digital Analytics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7314784" y="3985708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7861866" y="3985708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8956028" y="3985708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749808" y="4243892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2634199" y="4243892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Graphic Designer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7314784" y="4243892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7861866" y="4243892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956028" y="4243892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749808" y="4502075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2634199" y="4502075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SEO Specialist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7314784" y="4502075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68" name="Text 66"/>
          <p:cNvSpPr/>
          <p:nvPr/>
        </p:nvSpPr>
        <p:spPr>
          <a:xfrm>
            <a:off x="7861866" y="4502075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956028" y="4502075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70" name="Text 68"/>
          <p:cNvSpPr/>
          <p:nvPr/>
        </p:nvSpPr>
        <p:spPr>
          <a:xfrm>
            <a:off x="749808" y="4760259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2634199" y="4760259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7314784" y="4760259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73" name="Text 71"/>
          <p:cNvSpPr/>
          <p:nvPr/>
        </p:nvSpPr>
        <p:spPr>
          <a:xfrm>
            <a:off x="7861866" y="4760259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74" name="Text 72"/>
          <p:cNvSpPr/>
          <p:nvPr/>
        </p:nvSpPr>
        <p:spPr>
          <a:xfrm>
            <a:off x="8956028" y="4760259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749808" y="5018442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2634199" y="5018442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840" dirty="0"/>
          </a:p>
        </p:txBody>
      </p:sp>
      <p:sp>
        <p:nvSpPr>
          <p:cNvPr id="77" name="Text 75"/>
          <p:cNvSpPr/>
          <p:nvPr/>
        </p:nvSpPr>
        <p:spPr>
          <a:xfrm>
            <a:off x="7314784" y="5018442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7861866" y="5018442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79" name="Text 77"/>
          <p:cNvSpPr/>
          <p:nvPr/>
        </p:nvSpPr>
        <p:spPr>
          <a:xfrm>
            <a:off x="8956028" y="5018442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80" name="Text 78"/>
          <p:cNvSpPr/>
          <p:nvPr/>
        </p:nvSpPr>
        <p:spPr>
          <a:xfrm>
            <a:off x="749808" y="5276626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2634199" y="5276626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Editor</a:t>
            </a:r>
            <a:endParaRPr lang="en-US" sz="840" dirty="0"/>
          </a:p>
        </p:txBody>
      </p:sp>
      <p:sp>
        <p:nvSpPr>
          <p:cNvPr id="82" name="Text 80"/>
          <p:cNvSpPr/>
          <p:nvPr/>
        </p:nvSpPr>
        <p:spPr>
          <a:xfrm>
            <a:off x="7314784" y="5276626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83" name="Text 81"/>
          <p:cNvSpPr/>
          <p:nvPr/>
        </p:nvSpPr>
        <p:spPr>
          <a:xfrm>
            <a:off x="7861866" y="5276626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840" dirty="0"/>
          </a:p>
        </p:txBody>
      </p:sp>
      <p:sp>
        <p:nvSpPr>
          <p:cNvPr id="84" name="Text 82"/>
          <p:cNvSpPr/>
          <p:nvPr/>
        </p:nvSpPr>
        <p:spPr>
          <a:xfrm>
            <a:off x="8956028" y="5276626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85" name="Text 83"/>
          <p:cNvSpPr/>
          <p:nvPr/>
        </p:nvSpPr>
        <p:spPr>
          <a:xfrm>
            <a:off x="749808" y="5534809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86" name="Text 84"/>
          <p:cNvSpPr/>
          <p:nvPr/>
        </p:nvSpPr>
        <p:spPr>
          <a:xfrm>
            <a:off x="2634199" y="5534809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media buyer</a:t>
            </a:r>
            <a:endParaRPr lang="en-US" sz="840" dirty="0"/>
          </a:p>
        </p:txBody>
      </p:sp>
      <p:sp>
        <p:nvSpPr>
          <p:cNvPr id="87" name="Text 85"/>
          <p:cNvSpPr/>
          <p:nvPr/>
        </p:nvSpPr>
        <p:spPr>
          <a:xfrm>
            <a:off x="7314784" y="5534809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88" name="Text 86"/>
          <p:cNvSpPr/>
          <p:nvPr/>
        </p:nvSpPr>
        <p:spPr>
          <a:xfrm>
            <a:off x="7861866" y="5534809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89" name="Text 87"/>
          <p:cNvSpPr/>
          <p:nvPr/>
        </p:nvSpPr>
        <p:spPr>
          <a:xfrm>
            <a:off x="8956028" y="5534809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90" name="Text 88"/>
          <p:cNvSpPr/>
          <p:nvPr/>
        </p:nvSpPr>
        <p:spPr>
          <a:xfrm>
            <a:off x="749808" y="5792993"/>
            <a:ext cx="188439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91" name="Text 89"/>
          <p:cNvSpPr/>
          <p:nvPr/>
        </p:nvSpPr>
        <p:spPr>
          <a:xfrm>
            <a:off x="2634199" y="5792993"/>
            <a:ext cx="4680585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840" dirty="0"/>
          </a:p>
        </p:txBody>
      </p:sp>
      <p:sp>
        <p:nvSpPr>
          <p:cNvPr id="92" name="Text 90"/>
          <p:cNvSpPr/>
          <p:nvPr/>
        </p:nvSpPr>
        <p:spPr>
          <a:xfrm>
            <a:off x="7314784" y="5792993"/>
            <a:ext cx="547081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93" name="Text 91"/>
          <p:cNvSpPr/>
          <p:nvPr/>
        </p:nvSpPr>
        <p:spPr>
          <a:xfrm>
            <a:off x="7861866" y="5792993"/>
            <a:ext cx="1094163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94" name="Text 92"/>
          <p:cNvSpPr/>
          <p:nvPr/>
        </p:nvSpPr>
        <p:spPr>
          <a:xfrm>
            <a:off x="8956028" y="5792993"/>
            <a:ext cx="2492260" cy="258184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95" name="Text 93"/>
          <p:cNvSpPr/>
          <p:nvPr/>
        </p:nvSpPr>
        <p:spPr>
          <a:xfrm>
            <a:off x="749808" y="6051176"/>
            <a:ext cx="188439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840" dirty="0"/>
          </a:p>
        </p:txBody>
      </p:sp>
      <p:sp>
        <p:nvSpPr>
          <p:cNvPr id="96" name="Text 94"/>
          <p:cNvSpPr/>
          <p:nvPr/>
        </p:nvSpPr>
        <p:spPr>
          <a:xfrm>
            <a:off x="2634199" y="6051176"/>
            <a:ext cx="4680585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  Marketing Manager</a:t>
            </a:r>
            <a:endParaRPr lang="en-US" sz="840" dirty="0"/>
          </a:p>
        </p:txBody>
      </p:sp>
      <p:sp>
        <p:nvSpPr>
          <p:cNvPr id="97" name="Text 95"/>
          <p:cNvSpPr/>
          <p:nvPr/>
        </p:nvSpPr>
        <p:spPr>
          <a:xfrm>
            <a:off x="7314784" y="6051176"/>
            <a:ext cx="547081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98" name="Text 96"/>
          <p:cNvSpPr/>
          <p:nvPr/>
        </p:nvSpPr>
        <p:spPr>
          <a:xfrm>
            <a:off x="7861866" y="6051176"/>
            <a:ext cx="1094163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99" name="Text 97"/>
          <p:cNvSpPr/>
          <p:nvPr/>
        </p:nvSpPr>
        <p:spPr>
          <a:xfrm>
            <a:off x="8956028" y="6051176"/>
            <a:ext cx="2492260" cy="258184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100" name="Text 98"/>
          <p:cNvSpPr/>
          <p:nvPr/>
        </p:nvSpPr>
        <p:spPr>
          <a:xfrm>
            <a:off x="749808" y="6382512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9AA8BD"/>
                </a:solidFill>
              </a:rPr>
              <a:t>KPI Status color key: green = Completed &amp; Running, amber = Pending Manager Review, red = Not Measured.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1695" cy="22860"/>
          </a:xfrm>
          <a:prstGeom prst="rect">
            <a:avLst/>
          </a:prstGeom>
          <a:solidFill>
            <a:srgbClr val="09D1F4"/>
          </a:solidFill>
          <a:ln w="12700">
            <a:solidFill>
              <a:srgbClr val="09D1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29260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Part Status 4/4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4632" y="713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9D1F4"/>
                </a:solidFill>
              </a:rPr>
              <a:t>Offshore Admin &amp; Mgmt + Quality + RCM + Supply Chain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1201400" cy="5413248"/>
          </a:xfrm>
          <a:prstGeom prst="rect">
            <a:avLst/>
          </a:prstGeom>
          <a:solidFill>
            <a:srgbClr val="17233A"/>
          </a:solidFill>
          <a:ln w="12700">
            <a:solidFill>
              <a:srgbClr val="17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9D1F4"/>
                </a:solidFill>
              </a:rPr>
              <a:t>PART / POSITION DETAIL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1591056"/>
            <a:ext cx="10744200" cy="0"/>
          </a:xfrm>
          <a:prstGeom prst="line">
            <a:avLst/>
          </a:prstGeom>
          <a:noFill/>
          <a:ln w="17780">
            <a:solidFill>
              <a:srgbClr val="09D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188439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2634199" y="1645920"/>
            <a:ext cx="4680585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/ Position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7314784" y="1645920"/>
            <a:ext cx="547081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Cnt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861866" y="1645920"/>
            <a:ext cx="1094163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8956028" y="1645920"/>
            <a:ext cx="2492260" cy="274320"/>
          </a:xfrm>
          <a:prstGeom prst="rect">
            <a:avLst/>
          </a:prstGeom>
          <a:solidFill>
            <a:srgbClr val="1F3B5A"/>
          </a:solidFill>
          <a:ln w="444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Status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749808" y="192024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Admin &amp; Mgmt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634199" y="192024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Administration supervisor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314784" y="192024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861866" y="192024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8956028" y="192024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49808" y="216408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Admin &amp; Mgmt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2634199" y="216408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PMO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14784" y="216408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861866" y="216408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956028" y="216408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49808" y="240792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Admin &amp; Mgmt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634199" y="240792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Cafeteria Man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314784" y="240792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861866" y="240792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8956028" y="240792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749808" y="265176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Admin &amp; Mgmt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2634199" y="265176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Offshore Operation Manager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314784" y="265176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861866" y="265176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8956028" y="265176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749808" y="289560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2634199" y="289560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Infection Control Consultant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7314784" y="289560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7861866" y="289560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8956028" y="289560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749808" y="313944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2634199" y="313944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Specialist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7314784" y="313944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7861866" y="313944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8956028" y="313944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749808" y="338328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2634199" y="338328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Quality Specialist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7314784" y="338328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7861866" y="338328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8956028" y="338328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749808" y="362712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2634199" y="362712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Pre-Authorization Specialist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7314784" y="362712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7861866" y="362712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8956028" y="362712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749808" y="387096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2634199" y="387096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Pre-Authorization Specialist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7314784" y="387096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7861866" y="387096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8956028" y="387096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749808" y="411480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2634199" y="411480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Pre-Authorization Supervisor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7314784" y="411480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7861866" y="411480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8956028" y="411480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5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&amp; Running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749808" y="435864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2634199" y="435864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submission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7314784" y="435864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68" name="Text 66"/>
          <p:cNvSpPr/>
          <p:nvPr/>
        </p:nvSpPr>
        <p:spPr>
          <a:xfrm>
            <a:off x="7861866" y="435864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8956028" y="435864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70" name="Text 68"/>
          <p:cNvSpPr/>
          <p:nvPr/>
        </p:nvSpPr>
        <p:spPr>
          <a:xfrm>
            <a:off x="749808" y="460248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2634199" y="460248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Claim Specialist</a:t>
            </a:r>
            <a:endParaRPr lang="en-US" sz="840" dirty="0"/>
          </a:p>
        </p:txBody>
      </p:sp>
      <p:sp>
        <p:nvSpPr>
          <p:cNvPr id="72" name="Text 70"/>
          <p:cNvSpPr/>
          <p:nvPr/>
        </p:nvSpPr>
        <p:spPr>
          <a:xfrm>
            <a:off x="7314784" y="460248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73" name="Text 71"/>
          <p:cNvSpPr/>
          <p:nvPr/>
        </p:nvSpPr>
        <p:spPr>
          <a:xfrm>
            <a:off x="7861866" y="460248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74" name="Text 72"/>
          <p:cNvSpPr/>
          <p:nvPr/>
        </p:nvSpPr>
        <p:spPr>
          <a:xfrm>
            <a:off x="8956028" y="460248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75" name="Text 73"/>
          <p:cNvSpPr/>
          <p:nvPr/>
        </p:nvSpPr>
        <p:spPr>
          <a:xfrm>
            <a:off x="749808" y="484632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2634199" y="484632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Coder</a:t>
            </a:r>
            <a:endParaRPr lang="en-US" sz="840" dirty="0"/>
          </a:p>
        </p:txBody>
      </p:sp>
      <p:sp>
        <p:nvSpPr>
          <p:cNvPr id="77" name="Text 75"/>
          <p:cNvSpPr/>
          <p:nvPr/>
        </p:nvSpPr>
        <p:spPr>
          <a:xfrm>
            <a:off x="7314784" y="484632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7861866" y="484632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79" name="Text 77"/>
          <p:cNvSpPr/>
          <p:nvPr/>
        </p:nvSpPr>
        <p:spPr>
          <a:xfrm>
            <a:off x="8956028" y="484632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80" name="Text 78"/>
          <p:cNvSpPr/>
          <p:nvPr/>
        </p:nvSpPr>
        <p:spPr>
          <a:xfrm>
            <a:off x="749808" y="509016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2634199" y="509016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and market research Supervisor</a:t>
            </a:r>
            <a:endParaRPr lang="en-US" sz="840" dirty="0"/>
          </a:p>
        </p:txBody>
      </p:sp>
      <p:sp>
        <p:nvSpPr>
          <p:cNvPr id="82" name="Text 80"/>
          <p:cNvSpPr/>
          <p:nvPr/>
        </p:nvSpPr>
        <p:spPr>
          <a:xfrm>
            <a:off x="7314784" y="509016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83" name="Text 81"/>
          <p:cNvSpPr/>
          <p:nvPr/>
        </p:nvSpPr>
        <p:spPr>
          <a:xfrm>
            <a:off x="7861866" y="509016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84" name="Text 82"/>
          <p:cNvSpPr/>
          <p:nvPr/>
        </p:nvSpPr>
        <p:spPr>
          <a:xfrm>
            <a:off x="8956028" y="509016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85" name="Text 83"/>
          <p:cNvSpPr/>
          <p:nvPr/>
        </p:nvSpPr>
        <p:spPr>
          <a:xfrm>
            <a:off x="749808" y="533400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86" name="Text 84"/>
          <p:cNvSpPr/>
          <p:nvPr/>
        </p:nvSpPr>
        <p:spPr>
          <a:xfrm>
            <a:off x="2634199" y="533400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Analyst</a:t>
            </a:r>
            <a:endParaRPr lang="en-US" sz="840" dirty="0"/>
          </a:p>
        </p:txBody>
      </p:sp>
      <p:sp>
        <p:nvSpPr>
          <p:cNvPr id="87" name="Text 85"/>
          <p:cNvSpPr/>
          <p:nvPr/>
        </p:nvSpPr>
        <p:spPr>
          <a:xfrm>
            <a:off x="7314784" y="533400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88" name="Text 86"/>
          <p:cNvSpPr/>
          <p:nvPr/>
        </p:nvSpPr>
        <p:spPr>
          <a:xfrm>
            <a:off x="7861866" y="533400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89" name="Text 87"/>
          <p:cNvSpPr/>
          <p:nvPr/>
        </p:nvSpPr>
        <p:spPr>
          <a:xfrm>
            <a:off x="8956028" y="533400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90" name="Text 88"/>
          <p:cNvSpPr/>
          <p:nvPr/>
        </p:nvSpPr>
        <p:spPr>
          <a:xfrm>
            <a:off x="749808" y="557784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91" name="Text 89"/>
          <p:cNvSpPr/>
          <p:nvPr/>
        </p:nvSpPr>
        <p:spPr>
          <a:xfrm>
            <a:off x="2634199" y="557784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 Manager</a:t>
            </a:r>
            <a:endParaRPr lang="en-US" sz="840" dirty="0"/>
          </a:p>
        </p:txBody>
      </p:sp>
      <p:sp>
        <p:nvSpPr>
          <p:cNvPr id="92" name="Text 90"/>
          <p:cNvSpPr/>
          <p:nvPr/>
        </p:nvSpPr>
        <p:spPr>
          <a:xfrm>
            <a:off x="7314784" y="557784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93" name="Text 91"/>
          <p:cNvSpPr/>
          <p:nvPr/>
        </p:nvSpPr>
        <p:spPr>
          <a:xfrm>
            <a:off x="7861866" y="557784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94" name="Text 92"/>
          <p:cNvSpPr/>
          <p:nvPr/>
        </p:nvSpPr>
        <p:spPr>
          <a:xfrm>
            <a:off x="8956028" y="557784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95" name="Text 93"/>
          <p:cNvSpPr/>
          <p:nvPr/>
        </p:nvSpPr>
        <p:spPr>
          <a:xfrm>
            <a:off x="749808" y="5821680"/>
            <a:ext cx="188439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RCM</a:t>
            </a:r>
            <a:endParaRPr lang="en-US" sz="840" dirty="0"/>
          </a:p>
        </p:txBody>
      </p:sp>
      <p:sp>
        <p:nvSpPr>
          <p:cNvPr id="96" name="Text 94"/>
          <p:cNvSpPr/>
          <p:nvPr/>
        </p:nvSpPr>
        <p:spPr>
          <a:xfrm>
            <a:off x="2634199" y="5821680"/>
            <a:ext cx="4680585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Resubmission Analyst</a:t>
            </a:r>
            <a:endParaRPr lang="en-US" sz="840" dirty="0"/>
          </a:p>
        </p:txBody>
      </p:sp>
      <p:sp>
        <p:nvSpPr>
          <p:cNvPr id="97" name="Text 95"/>
          <p:cNvSpPr/>
          <p:nvPr/>
        </p:nvSpPr>
        <p:spPr>
          <a:xfrm>
            <a:off x="7314784" y="5821680"/>
            <a:ext cx="547081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98" name="Text 96"/>
          <p:cNvSpPr/>
          <p:nvPr/>
        </p:nvSpPr>
        <p:spPr>
          <a:xfrm>
            <a:off x="7861866" y="5821680"/>
            <a:ext cx="1094163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Vacant</a:t>
            </a:r>
            <a:endParaRPr lang="en-US" sz="840" dirty="0"/>
          </a:p>
        </p:txBody>
      </p:sp>
      <p:sp>
        <p:nvSpPr>
          <p:cNvPr id="99" name="Text 97"/>
          <p:cNvSpPr/>
          <p:nvPr/>
        </p:nvSpPr>
        <p:spPr>
          <a:xfrm>
            <a:off x="8956028" y="5821680"/>
            <a:ext cx="2492260" cy="243840"/>
          </a:xfrm>
          <a:prstGeom prst="rect">
            <a:avLst/>
          </a:prstGeom>
          <a:solidFill>
            <a:srgbClr val="111C30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100" name="Text 98"/>
          <p:cNvSpPr/>
          <p:nvPr/>
        </p:nvSpPr>
        <p:spPr>
          <a:xfrm>
            <a:off x="749808" y="6065520"/>
            <a:ext cx="188439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Chain</a:t>
            </a:r>
            <a:endParaRPr lang="en-US" sz="840" dirty="0"/>
          </a:p>
        </p:txBody>
      </p:sp>
      <p:sp>
        <p:nvSpPr>
          <p:cNvPr id="101" name="Text 99"/>
          <p:cNvSpPr/>
          <p:nvPr/>
        </p:nvSpPr>
        <p:spPr>
          <a:xfrm>
            <a:off x="2634199" y="6065520"/>
            <a:ext cx="4680585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Lead</a:t>
            </a:r>
            <a:endParaRPr lang="en-US" sz="840" dirty="0"/>
          </a:p>
        </p:txBody>
      </p:sp>
      <p:sp>
        <p:nvSpPr>
          <p:cNvPr id="102" name="Text 100"/>
          <p:cNvSpPr/>
          <p:nvPr/>
        </p:nvSpPr>
        <p:spPr>
          <a:xfrm>
            <a:off x="7314784" y="6065520"/>
            <a:ext cx="547081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103" name="Text 101"/>
          <p:cNvSpPr/>
          <p:nvPr/>
        </p:nvSpPr>
        <p:spPr>
          <a:xfrm>
            <a:off x="7861866" y="6065520"/>
            <a:ext cx="1094163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9D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40" dirty="0"/>
          </a:p>
        </p:txBody>
      </p:sp>
      <p:sp>
        <p:nvSpPr>
          <p:cNvPr id="104" name="Text 102"/>
          <p:cNvSpPr/>
          <p:nvPr/>
        </p:nvSpPr>
        <p:spPr>
          <a:xfrm>
            <a:off x="8956028" y="6065520"/>
            <a:ext cx="2492260" cy="243840"/>
          </a:xfrm>
          <a:prstGeom prst="rect">
            <a:avLst/>
          </a:prstGeom>
          <a:solidFill>
            <a:srgbClr val="15223A"/>
          </a:solidFill>
          <a:ln w="3175">
            <a:solidFill>
              <a:srgbClr val="253755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Manager Review</a:t>
            </a:r>
            <a:endParaRPr lang="en-US" sz="840" dirty="0"/>
          </a:p>
        </p:txBody>
      </p:sp>
      <p:sp>
        <p:nvSpPr>
          <p:cNvPr id="105" name="Text 103"/>
          <p:cNvSpPr/>
          <p:nvPr/>
        </p:nvSpPr>
        <p:spPr>
          <a:xfrm>
            <a:off x="749808" y="6382512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9AA8BD"/>
                </a:solidFill>
              </a:rPr>
              <a:t>KPI Status color key: green = Completed &amp; Running, amber = Pending Manager Review, red = Not Measured.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1223</Words>
  <Application>Microsoft Office PowerPoint</Application>
  <PresentationFormat>Widescreen</PresentationFormat>
  <Paragraphs>520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Offshore PMS KPIs Dashboard</dc:title>
  <dc:subject>Offshore PMS KPIs Dashboard</dc:subject>
  <dc:creator>OpenAI</dc:creator>
  <cp:lastModifiedBy>Mostafa Zeinhom</cp:lastModifiedBy>
  <cp:revision>3</cp:revision>
  <dcterms:created xsi:type="dcterms:W3CDTF">2026-08-20T06:46:18Z</dcterms:created>
  <dcterms:modified xsi:type="dcterms:W3CDTF">2026-08-20T07:27:01Z</dcterms:modified>
</cp:coreProperties>
</file>