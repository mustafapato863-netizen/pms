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25e18372d44024" /><Relationship Type="http://schemas.openxmlformats.org/officeDocument/2006/relationships/extended-properties" Target="/docProps/app.xml" Id="Ra430a9fedca84de4" /><Relationship Type="http://schemas.openxmlformats.org/officeDocument/2006/relationships/officeDocument" Target="/ppt/presentation.xml" Id="R1f94bf54582f4d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4564c767842dc"/>
  </p:sldMasterIdLst>
  <p:notesMasterIdLst>
    <p:notesMasterId xmlns:r="http://schemas.openxmlformats.org/officeDocument/2006/relationships" r:id="R65fe45583771442b"/>
  </p:notesMasterIdLst>
  <p:sldIdLst>
    <p:sldId xmlns:r="http://schemas.openxmlformats.org/officeDocument/2006/relationships" id="256" r:id="R1dc8af393f204f11"/>
    <p:sldId xmlns:r="http://schemas.openxmlformats.org/officeDocument/2006/relationships" id="257" r:id="R4c4781cfadc449c5"/>
    <p:sldId xmlns:r="http://schemas.openxmlformats.org/officeDocument/2006/relationships" id="258" r:id="R19a349e6631343b0"/>
    <p:sldId xmlns:r="http://schemas.openxmlformats.org/officeDocument/2006/relationships" id="259" r:id="Rcbd5a8ac19604fe5"/>
    <p:sldId xmlns:r="http://schemas.openxmlformats.org/officeDocument/2006/relationships" id="260" r:id="Re7aceb5bb55645d1"/>
    <p:sldId xmlns:r="http://schemas.openxmlformats.org/officeDocument/2006/relationships" id="261" r:id="R1057a99e39a34ddd"/>
    <p:sldId xmlns:r="http://schemas.openxmlformats.org/officeDocument/2006/relationships" id="262" r:id="R88f59278d49e46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681a698634b17" /><Relationship Type="http://schemas.openxmlformats.org/officeDocument/2006/relationships/slideMaster" Target="/ppt/slideMasters/slideMaster1.xml" Id="Ra2d4564c767842dc" /><Relationship Type="http://schemas.openxmlformats.org/officeDocument/2006/relationships/notesMaster" Target="/ppt/notesMasters/notesMaster1.xml" Id="R65fe45583771442b" /><Relationship Type="http://schemas.openxmlformats.org/officeDocument/2006/relationships/presProps" Target="/ppt/presProps.xml" Id="R34143d7bfa5d495d" /><Relationship Type="http://schemas.openxmlformats.org/officeDocument/2006/relationships/viewProps" Target="/ppt/viewProps.xml" Id="Re215a782a389478a" /><Relationship Type="http://schemas.openxmlformats.org/officeDocument/2006/relationships/tableStyles" Target="/ppt/tableStyles.xml" Id="R626b85911cd249a5" /><Relationship Type="http://schemas.openxmlformats.org/officeDocument/2006/relationships/slide" Target="/ppt/slides/slide1.xml" Id="R1dc8af393f204f11" /><Relationship Type="http://schemas.openxmlformats.org/officeDocument/2006/relationships/slide" Target="/ppt/slides/slide2.xml" Id="R4c4781cfadc449c5" /><Relationship Type="http://schemas.openxmlformats.org/officeDocument/2006/relationships/slide" Target="/ppt/slides/slide3.xml" Id="R19a349e6631343b0" /><Relationship Type="http://schemas.openxmlformats.org/officeDocument/2006/relationships/slide" Target="/ppt/slides/slide4.xml" Id="Rcbd5a8ac19604fe5" /><Relationship Type="http://schemas.openxmlformats.org/officeDocument/2006/relationships/slide" Target="/ppt/slides/slide5.xml" Id="Re7aceb5bb55645d1" /><Relationship Type="http://schemas.openxmlformats.org/officeDocument/2006/relationships/slide" Target="/ppt/slides/slide6.xml" Id="R1057a99e39a34ddd" /><Relationship Type="http://schemas.openxmlformats.org/officeDocument/2006/relationships/slide" Target="/ppt/slides/slide7.xml" Id="R88f59278d49e46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d6741e5e5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24c27ba68947be" /><Relationship Type="http://schemas.openxmlformats.org/officeDocument/2006/relationships/notesMaster" Target="/ppt/notesMasters/notesMaster1.xml" Id="R0be49f7944c3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8ddcebed114ac5" /><Relationship Type="http://schemas.openxmlformats.org/officeDocument/2006/relationships/notesMaster" Target="/ppt/notesMasters/notesMaster1.xml" Id="R7839970ebc65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cdd63c7594f8a" /><Relationship Type="http://schemas.openxmlformats.org/officeDocument/2006/relationships/notesMaster" Target="/ppt/notesMasters/notesMaster1.xml" Id="R5e76a5ef5ac24b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0b1a6e3cd456d" /><Relationship Type="http://schemas.openxmlformats.org/officeDocument/2006/relationships/notesMaster" Target="/ppt/notesMasters/notesMaster1.xml" Id="R7446e294c7da42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6aeab83854d6b" /><Relationship Type="http://schemas.openxmlformats.org/officeDocument/2006/relationships/notesMaster" Target="/ppt/notesMasters/notesMaster1.xml" Id="Rac802f2ff0534b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1e1e131b35425c" /><Relationship Type="http://schemas.openxmlformats.org/officeDocument/2006/relationships/notesMaster" Target="/ppt/notesMasters/notesMaster1.xml" Id="R6242bb3014d147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8b9fadfe854539" /><Relationship Type="http://schemas.openxmlformats.org/officeDocument/2006/relationships/notesMaster" Target="/ppt/notesMasters/notesMaster1.xml" Id="Rb2ccd14070d0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2d31d71a6402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7bf7de97c46d6" /><Relationship Type="http://schemas.openxmlformats.org/officeDocument/2006/relationships/slideLayout" Target="/ppt/slideLayouts/slideLayout1.xml" Id="Rfbcc613682874f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cc613682874f0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89ecf43574540" /><Relationship Type="http://schemas.openxmlformats.org/officeDocument/2006/relationships/notesSlide" Target="/ppt/notesSlides/notesSlide1.xml" Id="R1ad1eb5b21c6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5ba30a8614c4e" /><Relationship Type="http://schemas.openxmlformats.org/officeDocument/2006/relationships/notesSlide" Target="/ppt/notesSlides/notesSlide2.xml" Id="R60d0cd20cf75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4d70bcd3b4eef" /><Relationship Type="http://schemas.openxmlformats.org/officeDocument/2006/relationships/notesSlide" Target="/ppt/notesSlides/notesSlide3.xml" Id="Reb3328b585114c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0d01b3b54b18" /><Relationship Type="http://schemas.openxmlformats.org/officeDocument/2006/relationships/notesSlide" Target="/ppt/notesSlides/notesSlide4.xml" Id="R98a7576d3ab949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44e1c92b348a6" /><Relationship Type="http://schemas.openxmlformats.org/officeDocument/2006/relationships/notesSlide" Target="/ppt/notesSlides/notesSlide5.xml" Id="R0b1623063d9c4c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7a8ba12a4b2a" /><Relationship Type="http://schemas.openxmlformats.org/officeDocument/2006/relationships/notesSlide" Target="/ppt/notesSlides/notesSlide6.xml" Id="Rc35416c7fd96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dd9af93254f9c" /><Relationship Type="http://schemas.openxmlformats.org/officeDocument/2006/relationships/notesSlide" Target="/ppt/notesSlides/notesSlide7.xml" Id="R7d1cd20c84a5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MONITOR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Team / position action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Marketing • team action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Reduce Response Time and review the affected employees with the largest gap.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No root-cause note captured.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July 2026 - due 21 Oct 2026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Done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PIP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Ammar Yasser sayed Ghareb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SGHD70157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Ammar is on an action plan to improve productivity, booking conversion, and attended rates through increased activity and call attempts. Performance is being monitored closely.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52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Attendance Rate: 50.0% / 65.0% Booking Rate: 18.0% / 30.0% Reachability: 55.0% / 75.0%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PIP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Ali El-Sayed Khalafallah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SGHD70110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Salma on anaction plan for July to increase the productivity and meet the targets and it will affect the booking,reachability,attended %, she is on an action plan for imporving…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52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Attendance Rate: 47.0% / 65.0% Booking Rate: 17.0% / 30.0% Reachability: 56.0% / 75.0%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Abdelrahman Adnan El Sayed Abdelnaby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Inbound • SGHD70159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Focused coaching sessions on conversion techniques Enforce call script with confirmation to reduce wrong bookings Side-by-side AHT coaching in office to improve call control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Booking CR% Attended CR% AHT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Manar Emad Mohamed El-Sayed Hassan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SGHD70099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Not Added Validation Rejection Reason Will Put From Next Month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Rate: 8.3% / 3.0%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TRAINING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Omar Abdelhamid Amin Elsayed konswa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SGHD70151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Access + Direct Contact With DR Whatsapp + Access To Reponsable Person In Ins Company + Tranning to decrease Errors %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Rate: 6.8% / 3.0% Submission Rate: 69.1% / 90.0%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MONITOR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Nouran Salah Anwar Mohamed Dekrori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SGHD70143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Access + Direct Contact With DR Whatsapp + Access To Reponsable Person In Ins Company + Tranning to decrease Errors %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0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Rate: 4.2% / 3.0% Initial Error Rate: 4.2% / 3.0% Submission Rate: 56.9% / 90.0%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MONITOR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Hussein Mohamed Ali El-Ramly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SGHD70134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Need Access To System Insurance + Direct Contact With DR Whatsapp + Access To Reponsable Person In Ins Company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Rate: 8.1% / 3.0% Submission Rate: 60.7% / 90.0%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02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PIP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Radwa Ahmed Mohamed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SGHD70090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Transferred to the Inbound Team and placed on a disciplinary action plan. Dr. Adham is monitoring performance, attendance, and shift adherence on a daily basis (Shifts utilization)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Attendance Rate: 48.0% / 65.0% Booking Rate: 18.0% / 30.0%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PIP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Mohamed Fakeh Mohamed Marghany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SGHD70087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Transferred to the Inbound Team and placed on a disciplinary action plan. Dr. Adham is monitoring performance, attendance, and shift adherence on a daily basis (Shifts utilization)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952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Attendance Rate: 50.0% / 65.0% Booking Rate: 20.0% / 30.0% Reachability: 54.0% / 75.0%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youssef mohamed ismail abdelfattah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Inbound • SGHD70165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Retention coaching sessions for improved call handling Script adherence training with confirmation protocols Side-by-side AHT coaching for escalation management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Booking Rate% AHT Attended CR%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June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Tawfik Ibrahim Tawfik Mahmoud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Sales • SGHD03641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Coatching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OP Census Ach: 52.7% / 100.0%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super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03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PIP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Hussein Mohamed Ali El-Ramly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SGHD70134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She declined compared to the previous month, decreasing from 80% to 66.3%. Dr. Hossam will conduct additional follow-up to help improve performance and accelerate the process.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Rate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TRAINING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Donald Thomas Anthoni Samy Anthony Samy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Coding • SGHD03493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Need Study more referenced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Rejection: 4.0% / 2.0%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TRAINING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Omar Abdelhamid Amin Elsayed konswa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SGHD70151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this is the first month for him Will Give Him Training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Delay Due to Insurance Company Feedback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Radwa Ahmed Mohamed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SGHD70090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Dr. Adham Sameh conducted a strict 1-on-1 performance review with agent Radwa Ahmed due to a critical drop in her - TEST_EDIToverall productivity to 48.9%. The operational data…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04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PIP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Nouran Salah Anwar Mohamed Dekrori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SGHD70143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She declined compared to the previous month, decreasing from 82.4% to 44.6%. Dr. Hossam will conduct additional follow-up to help improve performance and accelerate the process.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(Rejection&amp;Errors&amp;Submmition) ↑ (main issue)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Hussein Mohamed Ali El-Ramly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SGHD70134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Reminder and follow up daily for errors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↑ (main issue)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MONITOR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Hussein Mohamed Ali El-Ramly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SGHD70134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Reminder and follow up daily for errors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↑ (main issue)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PIP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Nouran Salah Anwar Mohamed Dekrori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SGHD70143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She declined compared to the previous month, decreasing from 82.4% to 44.6%. Dr. Hossam will conduct additional follow-up to help improve performance and accelerate the process.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↑ (main issue)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05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Nouran Salah Anwar Mohamed Dekrori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Pre-Approvals IP Offshore • SGHD70143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Reminder and follow up daily for errors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Rejection ↑ (main issue)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Aya Shaaban Abdelazim Mohamed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SGHD70085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1:1 Coaching To Up Utilization.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Ammar Yasser sayed Ghareb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SGHD70157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1:1 Coaching To Up Utilization.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Mohamed Fakeh Mohamed Marghany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SGHD70087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1:1 Coaching To Up Utilization.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06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9A3C22-AB93-4936-81A0-8A7D9F7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EMPLOYEE ACTION PLANS</a:t>
            </a:r>
            <a:endParaRPr sz="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34032E-B49D-487F-AE80-64D183F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Corrective action cards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7E1A13-5364-4DF8-8060-3C3BE85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850392"/>
            <a:ext cx="77724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Active records from PMS corrective-actions data • 27 actions • all periods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25DD95-1A9D-4820-9417-FC595A3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59F83-F2EE-4760-A842-97A726A6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2C3624-8C8F-4257-A5F8-03AFF24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6D8AB7-63B3-4BB4-8325-B6F5DA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Salma Ali El-Sayed Khalafallah</a:t>
            </a:r>
            <a:endParaRPr sz="13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FED443-29DF-4E90-99F3-D25B4D3B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SGHD70110</a:t>
            </a:r>
            <a:endParaRPr sz="84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6294DE-79FB-46A9-9BBE-9B6F4590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1:1 Coaching To Up Utilization.</a:t>
            </a:r>
            <a:endParaRPr sz="8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0939844-E93E-4601-A72E-A083646B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655EFA-E510-4770-B1CB-DE36D959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B741B9-A309-43F0-BE4E-F0A708E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3F8A10-D47C-4240-A568-5C3DDC81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7286E71-031A-4735-ADCE-C2E2741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480B1A-5FF3-4645-9029-DCE2F756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1FB8E7-9B3C-4AF2-B939-5D9091F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25880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5AB965A-B5BF-4149-9C8E-59B360BA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270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2700">
            <a:solidFill>
              <a:srgbClr val="FCE7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0C823A-C07F-4E50-BE15-45E4B363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1577340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BE123C"/>
                </a:solidFill>
              </a:rPr>
              <a:t>COACHING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246FDF-5B35-49A5-8498-7084551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527048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Abdelrahman Yasser Abdullah</a:t>
            </a:r>
            <a:endParaRPr sz="13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7F8CE12-0D6B-45B1-B097-F33A7BA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37944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SGHD70075</a:t>
            </a:r>
            <a:endParaRPr sz="8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8C8505-F1B7-4008-842C-140DA2A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30552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1:1 Coaching To Up Utilization.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3BF0EA-A77F-43EA-8769-41FCA2D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770632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55F728-D0FE-4A34-8108-0B7B3079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9504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3A2257-D070-48B4-87E4-2D5BB5F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EAA1248-E7A4-4346-A012-72ED6AC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3282696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8D90DB-FBC0-45FB-B54E-E2512C1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3282696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457FEA-4B08-477A-9672-A9820D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3282696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28214BC-0F5D-4F54-8540-37D6898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5507CE-DD9A-422B-96D7-0624448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0327176-8821-4033-A7C9-ECD42AB6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COACHING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0432A7A-3C0A-4296-A816-2C84B9B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Radwa Ahmed Mohamed</a:t>
            </a:r>
            <a:endParaRPr sz="13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278730B-CE9E-4882-A632-16E2C659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Outbound • SGHD70090</a:t>
            </a:r>
            <a:endParaRPr sz="8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4C89EC7-2671-48C3-92F3-A47F02B3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Productivity has stayed essentially flat over the action plan period — it moved less than half a point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F08B423-A84A-4D56-B689-7D52A28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23ACB4A-38DB-44B5-A852-9E541EB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Utilization Performance</a:t>
            </a:r>
            <a:endParaRPr sz="7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68B27F2-2935-43F5-8B6A-4DE76A9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BAF62B4-C5A5-422D-89B3-9FDB198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May 2026 - no due date</a:t>
            </a:r>
            <a:endParaRPr sz="77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EC94B98-D56B-46EB-B6A0-2A7D74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A0CF04F-1363-47B3-83BB-13D0B6D0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By System - Open</a:t>
            </a:r>
            <a:endParaRPr sz="72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C47DD34-C767-43AB-B09C-3E78A9F9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30752"/>
            <a:ext cx="5358384" cy="2267712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2E8F0"/>
            </a:solidFill>
            <a:prstDash val="solid"/>
          </a:ln>
          <a:effectLst xmlns:a="http://schemas.openxmlformats.org/drawingml/2006/main">
            <a:outerShdw blurRad="12700" dist="50800" dir="2700000" algn="bl" rotWithShape="0">
              <a:srgbClr val="CBD5E1">
                <a:alpha val="2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AD2A350-3661-4A43-B853-9DB777B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3192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2700">
            <a:solidFill>
              <a:srgbClr val="F3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79FBCAC-7F7D-4755-90AB-24B1850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3982212"/>
            <a:ext cx="71323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7C3AED"/>
                </a:solidFill>
              </a:rPr>
              <a:t>—</a:t>
            </a:r>
            <a:endParaRPr sz="8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00C599-D43F-4177-BE4A-E3166AA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93192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0F172A"/>
                </a:solidFill>
              </a:rPr>
              <a:t>No additional action</a:t>
            </a:r>
            <a:endParaRPr sz="132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517B1D8-CD4F-4111-B526-FE722D5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242816"/>
            <a:ext cx="49011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 b="1">
                <a:solidFill>
                  <a:srgbClr val="64748B"/>
                </a:solidFill>
              </a:rPr>
              <a:t>—</a:t>
            </a:r>
            <a:endParaRPr sz="8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8650202-F995-46B9-A80B-FE0C0FE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35424"/>
            <a:ext cx="49011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4155"/>
                </a:solidFill>
              </a:rPr>
              <a:t>No additional active corrective action is present on this page.</a:t>
            </a:r>
            <a:endParaRPr sz="8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0ED6DA2-1E65-4252-927F-743AA7F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175504"/>
            <a:ext cx="4901184" cy="420624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DBA74">
                <a:alpha val="9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765E63E-01A7-4C31-838D-2BA5397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94376"/>
            <a:ext cx="4663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C2410C"/>
                </a:solidFill>
              </a:rPr>
              <a:t>Root-cause note:</a:t>
            </a:r>
            <a:r>
              <a:rPr sz="770" b="1">
                <a:solidFill>
                  <a:srgbClr val="C2410C"/>
                </a:solidFill>
              </a:rPr>
              <a:t> No root-cause note captured.</a:t>
            </a:r>
            <a:endParaRPr sz="7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7B20BD2-20AF-4F6C-BFEE-4148490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▣</a:t>
            </a:r>
            <a:endParaRPr sz="8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6677594-5350-41D7-97C7-DDFA3BF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5687568"/>
            <a:ext cx="1645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64748B"/>
                </a:solidFill>
              </a:rPr>
              <a:t>—</a:t>
            </a:r>
            <a:endParaRPr sz="77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F6C264B-7683-4433-86FB-1A5EB0C5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687568"/>
            <a:ext cx="10972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</a:rPr>
              <a:t>♙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1655119-8E3B-4F83-8DA7-FF77F3B8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032" y="5687568"/>
            <a:ext cx="960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b="1">
                <a:solidFill>
                  <a:srgbClr val="64748B"/>
                </a:solidFill>
              </a:rPr>
              <a:t>—</a:t>
            </a:r>
            <a:endParaRPr sz="7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6E5465C-BBA9-4988-A311-92D30DE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</a:rPr>
              <a:t>SGH • HR Performance Follow-up</a:t>
            </a:r>
            <a:endParaRPr sz="7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06A246A9-9478-4D98-9307-029471A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</a:rPr>
              <a:t>07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9309347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2026-08-10T18:21:25.0290000Z</dcterms:created>
  <dcterms:modified xsi:type="dcterms:W3CDTF">2026-08-10T18:21:25.0290000Z</dcterms:modified>
</coreProperties>
</file>